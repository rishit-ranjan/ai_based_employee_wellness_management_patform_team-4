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Heading Now 71-78" charset="1" panose="00000000000000000000"/>
      <p:regular r:id="rId29"/>
    </p:embeddedFont>
    <p:embeddedFont>
      <p:font typeface="Agrandir Medium" charset="1" panose="00000600000000000000"/>
      <p:regular r:id="rId30"/>
    </p:embeddedFont>
    <p:embeddedFont>
      <p:font typeface="Agrandir" charset="1" panose="00000500000000000000"/>
      <p:regular r:id="rId31"/>
    </p:embeddedFont>
    <p:embeddedFont>
      <p:font typeface="TT Firs Neue Bold" charset="1" panose="02000803030000020004"/>
      <p:regular r:id="rId32"/>
    </p:embeddedFont>
    <p:embeddedFont>
      <p:font typeface="Heading Now 71-78 Bold" charset="1" panose="00000000000000000000"/>
      <p:regular r:id="rId33"/>
    </p:embeddedFont>
    <p:embeddedFont>
      <p:font typeface="Agrandir Bold" charset="1" panose="00000800000000000000"/>
      <p:regular r:id="rId34"/>
    </p:embeddedFont>
    <p:embeddedFont>
      <p:font typeface="TT Firs Neue" charset="1" panose="020005030300000200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18.png" Type="http://schemas.openxmlformats.org/officeDocument/2006/relationships/image"/><Relationship Id="rId15" Target="../media/image19.svg" Type="http://schemas.openxmlformats.org/officeDocument/2006/relationships/image"/><Relationship Id="rId16" Target="../media/image20.png" Type="http://schemas.openxmlformats.org/officeDocument/2006/relationships/image"/><Relationship Id="rId17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jpe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1.jpe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media/image43.png" Type="http://schemas.openxmlformats.org/officeDocument/2006/relationships/image"/><Relationship Id="rId17" Target="../media/image4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9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48.png" Type="http://schemas.openxmlformats.org/officeDocument/2006/relationships/image"/><Relationship Id="rId14" Target="../media/image49.svg" Type="http://schemas.openxmlformats.org/officeDocument/2006/relationships/image"/><Relationship Id="rId15" Target="../media/image16.png" Type="http://schemas.openxmlformats.org/officeDocument/2006/relationships/image"/><Relationship Id="rId16" Target="../media/image17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51.pn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0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2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57.png" Type="http://schemas.openxmlformats.org/officeDocument/2006/relationships/image"/><Relationship Id="rId12" Target="../media/image58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Relationship Id="rId8" Target="../media/image5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62.png" Type="http://schemas.openxmlformats.org/officeDocument/2006/relationships/image"/><Relationship Id="rId12" Target="../media/image63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64.png" Type="http://schemas.openxmlformats.org/officeDocument/2006/relationships/image"/><Relationship Id="rId16" Target="../media/image6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60.png" Type="http://schemas.openxmlformats.org/officeDocument/2006/relationships/image"/><Relationship Id="rId13" Target="../media/image6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6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8.png" Type="http://schemas.openxmlformats.org/officeDocument/2006/relationships/image"/><Relationship Id="rId5" Target="../media/image69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0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71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72.png" Type="http://schemas.openxmlformats.org/officeDocument/2006/relationships/image"/><Relationship Id="rId8" Target="../media/image7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png" Type="http://schemas.openxmlformats.org/officeDocument/2006/relationships/image"/><Relationship Id="rId11" Target="../media/image77.svg" Type="http://schemas.openxmlformats.org/officeDocument/2006/relationships/image"/><Relationship Id="rId12" Target="../media/image60.png" Type="http://schemas.openxmlformats.org/officeDocument/2006/relationships/image"/><Relationship Id="rId13" Target="../media/image61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78.png" Type="http://schemas.openxmlformats.org/officeDocument/2006/relationships/image"/><Relationship Id="rId17" Target="../media/image79.png" Type="http://schemas.openxmlformats.org/officeDocument/2006/relationships/image"/><Relationship Id="rId18" Target="../media/image8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4.png" Type="http://schemas.openxmlformats.org/officeDocument/2006/relationships/image"/><Relationship Id="rId9" Target="../media/image7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6.png" Type="http://schemas.openxmlformats.org/officeDocument/2006/relationships/image"/><Relationship Id="rId13" Target="../media/image77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79.png" Type="http://schemas.openxmlformats.org/officeDocument/2006/relationships/image"/><Relationship Id="rId17" Target="../media/image80.svg" Type="http://schemas.openxmlformats.org/officeDocument/2006/relationships/image"/><Relationship Id="rId18" Target="../media/image83.png" Type="http://schemas.openxmlformats.org/officeDocument/2006/relationships/image"/><Relationship Id="rId19" Target="../media/image8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81.png" Type="http://schemas.openxmlformats.org/officeDocument/2006/relationships/image"/><Relationship Id="rId7" Target="../media/image82.pn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86.png" Type="http://schemas.openxmlformats.org/officeDocument/2006/relationships/image"/><Relationship Id="rId12" Target="../media/image76.png" Type="http://schemas.openxmlformats.org/officeDocument/2006/relationships/image"/><Relationship Id="rId13" Target="../media/image77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87.png" Type="http://schemas.openxmlformats.org/officeDocument/2006/relationships/image"/><Relationship Id="rId17" Target="../media/image88.svg" Type="http://schemas.openxmlformats.org/officeDocument/2006/relationships/image"/><Relationship Id="rId18" Target="../media/image89.png" Type="http://schemas.openxmlformats.org/officeDocument/2006/relationships/image"/><Relationship Id="rId19" Target="../media/image9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5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60.png" Type="http://schemas.openxmlformats.org/officeDocument/2006/relationships/image"/><Relationship Id="rId8" Target="../media/image61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92.png" Type="http://schemas.openxmlformats.org/officeDocument/2006/relationships/image"/><Relationship Id="rId12" Target="../media/image76.png" Type="http://schemas.openxmlformats.org/officeDocument/2006/relationships/image"/><Relationship Id="rId13" Target="../media/image77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89.png" Type="http://schemas.openxmlformats.org/officeDocument/2006/relationships/image"/><Relationship Id="rId17" Target="../media/image90.svg" Type="http://schemas.openxmlformats.org/officeDocument/2006/relationships/image"/><Relationship Id="rId18" Target="../media/image9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1.png" Type="http://schemas.openxmlformats.org/officeDocument/2006/relationships/image"/><Relationship Id="rId7" Target="../media/image60.png" Type="http://schemas.openxmlformats.org/officeDocument/2006/relationships/image"/><Relationship Id="rId8" Target="../media/image61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6.png" Type="http://schemas.openxmlformats.org/officeDocument/2006/relationships/image"/><Relationship Id="rId11" Target="../media/image97.png" Type="http://schemas.openxmlformats.org/officeDocument/2006/relationships/image"/><Relationship Id="rId12" Target="../media/image9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4.png" Type="http://schemas.openxmlformats.org/officeDocument/2006/relationships/image"/><Relationship Id="rId7" Target="../media/image95.svg" Type="http://schemas.openxmlformats.org/officeDocument/2006/relationships/image"/><Relationship Id="rId8" Target="../media/image64.png" Type="http://schemas.openxmlformats.org/officeDocument/2006/relationships/image"/><Relationship Id="rId9" Target="../media/image6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9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4.png" Type="http://schemas.openxmlformats.org/officeDocument/2006/relationships/image"/><Relationship Id="rId8" Target="../media/image9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94328" y="-85486"/>
            <a:ext cx="4993672" cy="4993672"/>
          </a:xfrm>
          <a:custGeom>
            <a:avLst/>
            <a:gdLst/>
            <a:ahLst/>
            <a:cxnLst/>
            <a:rect r="r" b="b" t="t" l="l"/>
            <a:pathLst>
              <a:path h="4993672" w="4993672">
                <a:moveTo>
                  <a:pt x="0" y="0"/>
                </a:moveTo>
                <a:lnTo>
                  <a:pt x="4993672" y="0"/>
                </a:lnTo>
                <a:lnTo>
                  <a:pt x="4993672" y="4993672"/>
                </a:lnTo>
                <a:lnTo>
                  <a:pt x="0" y="499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78495" y="3532603"/>
            <a:ext cx="7253471" cy="7253471"/>
          </a:xfrm>
          <a:custGeom>
            <a:avLst/>
            <a:gdLst/>
            <a:ahLst/>
            <a:cxnLst/>
            <a:rect r="r" b="b" t="t" l="l"/>
            <a:pathLst>
              <a:path h="7253471" w="7253471">
                <a:moveTo>
                  <a:pt x="0" y="0"/>
                </a:moveTo>
                <a:lnTo>
                  <a:pt x="7253470" y="0"/>
                </a:lnTo>
                <a:lnTo>
                  <a:pt x="7253470" y="7253471"/>
                </a:lnTo>
                <a:lnTo>
                  <a:pt x="0" y="7253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731756" y="1293885"/>
            <a:ext cx="7125143" cy="7092965"/>
            <a:chOff x="0" y="0"/>
            <a:chExt cx="9500191" cy="945728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500191" cy="8151873"/>
              <a:chOff x="0" y="0"/>
              <a:chExt cx="6269228" cy="537946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12" y="76"/>
                <a:ext cx="6269216" cy="5379390"/>
              </a:xfrm>
              <a:custGeom>
                <a:avLst/>
                <a:gdLst/>
                <a:ahLst/>
                <a:cxnLst/>
                <a:rect r="r" b="b" t="t" l="l"/>
                <a:pathLst>
                  <a:path h="5379390" w="6269216">
                    <a:moveTo>
                      <a:pt x="5977116" y="5379390"/>
                    </a:moveTo>
                    <a:cubicBezTo>
                      <a:pt x="6137771" y="5379390"/>
                      <a:pt x="6269216" y="5247945"/>
                      <a:pt x="6269216" y="5087290"/>
                    </a:cubicBezTo>
                    <a:lnTo>
                      <a:pt x="6269216" y="237922"/>
                    </a:lnTo>
                    <a:cubicBezTo>
                      <a:pt x="6269216" y="77267"/>
                      <a:pt x="6140565" y="-27000"/>
                      <a:pt x="5983466" y="6147"/>
                    </a:cubicBezTo>
                    <a:lnTo>
                      <a:pt x="204966" y="1224966"/>
                    </a:lnTo>
                    <a:cubicBezTo>
                      <a:pt x="47740" y="1258113"/>
                      <a:pt x="-37350" y="1409243"/>
                      <a:pt x="15863" y="1560881"/>
                    </a:cubicBezTo>
                    <a:lnTo>
                      <a:pt x="1258431" y="5103673"/>
                    </a:lnTo>
                    <a:cubicBezTo>
                      <a:pt x="1311644" y="5255311"/>
                      <a:pt x="1486523" y="5379263"/>
                      <a:pt x="1647178" y="5379263"/>
                    </a:cubicBezTo>
                    <a:lnTo>
                      <a:pt x="5977116" y="5379390"/>
                    </a:lnTo>
                    <a:close/>
                  </a:path>
                </a:pathLst>
              </a:custGeom>
              <a:solidFill>
                <a:srgbClr val="95D5B2"/>
              </a:solid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637658" y="785529"/>
              <a:ext cx="7847033" cy="8671757"/>
            </a:xfrm>
            <a:custGeom>
              <a:avLst/>
              <a:gdLst/>
              <a:ahLst/>
              <a:cxnLst/>
              <a:rect r="r" b="b" t="t" l="l"/>
              <a:pathLst>
                <a:path h="8671757" w="7847033">
                  <a:moveTo>
                    <a:pt x="0" y="0"/>
                  </a:moveTo>
                  <a:lnTo>
                    <a:pt x="7847034" y="0"/>
                  </a:lnTo>
                  <a:lnTo>
                    <a:pt x="7847034" y="8671757"/>
                  </a:lnTo>
                  <a:lnTo>
                    <a:pt x="0" y="8671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7496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1503861">
            <a:off x="-530214" y="162283"/>
            <a:ext cx="2887484" cy="1086744"/>
          </a:xfrm>
          <a:custGeom>
            <a:avLst/>
            <a:gdLst/>
            <a:ahLst/>
            <a:cxnLst/>
            <a:rect r="r" b="b" t="t" l="l"/>
            <a:pathLst>
              <a:path h="1086744" w="2887484">
                <a:moveTo>
                  <a:pt x="0" y="0"/>
                </a:moveTo>
                <a:lnTo>
                  <a:pt x="2887485" y="0"/>
                </a:lnTo>
                <a:lnTo>
                  <a:pt x="2887485" y="1086745"/>
                </a:lnTo>
                <a:lnTo>
                  <a:pt x="0" y="1086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132074" y="6110601"/>
            <a:ext cx="7253471" cy="7253471"/>
          </a:xfrm>
          <a:custGeom>
            <a:avLst/>
            <a:gdLst/>
            <a:ahLst/>
            <a:cxnLst/>
            <a:rect r="r" b="b" t="t" l="l"/>
            <a:pathLst>
              <a:path h="7253471" w="7253471">
                <a:moveTo>
                  <a:pt x="0" y="0"/>
                </a:moveTo>
                <a:lnTo>
                  <a:pt x="7253471" y="0"/>
                </a:lnTo>
                <a:lnTo>
                  <a:pt x="7253471" y="7253471"/>
                </a:lnTo>
                <a:lnTo>
                  <a:pt x="0" y="7253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9551725"/>
            <a:ext cx="2128429" cy="735275"/>
          </a:xfrm>
          <a:custGeom>
            <a:avLst/>
            <a:gdLst/>
            <a:ahLst/>
            <a:cxnLst/>
            <a:rect r="r" b="b" t="t" l="l"/>
            <a:pathLst>
              <a:path h="735275" w="2128429">
                <a:moveTo>
                  <a:pt x="0" y="0"/>
                </a:moveTo>
                <a:lnTo>
                  <a:pt x="2128429" y="0"/>
                </a:lnTo>
                <a:lnTo>
                  <a:pt x="2128429" y="735275"/>
                </a:lnTo>
                <a:lnTo>
                  <a:pt x="0" y="7352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9270915" y="-482456"/>
            <a:ext cx="3439270" cy="1188111"/>
          </a:xfrm>
          <a:custGeom>
            <a:avLst/>
            <a:gdLst/>
            <a:ahLst/>
            <a:cxnLst/>
            <a:rect r="r" b="b" t="t" l="l"/>
            <a:pathLst>
              <a:path h="1188111" w="3439270">
                <a:moveTo>
                  <a:pt x="0" y="1188112"/>
                </a:moveTo>
                <a:lnTo>
                  <a:pt x="3439270" y="1188112"/>
                </a:lnTo>
                <a:lnTo>
                  <a:pt x="3439270" y="0"/>
                </a:lnTo>
                <a:lnTo>
                  <a:pt x="0" y="0"/>
                </a:lnTo>
                <a:lnTo>
                  <a:pt x="0" y="1188112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2147415">
            <a:off x="16670129" y="321090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70" y="555239"/>
                </a:lnTo>
                <a:lnTo>
                  <a:pt x="1607270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3794588">
            <a:off x="16517662" y="8685554"/>
            <a:ext cx="1853697" cy="954654"/>
          </a:xfrm>
          <a:custGeom>
            <a:avLst/>
            <a:gdLst/>
            <a:ahLst/>
            <a:cxnLst/>
            <a:rect r="r" b="b" t="t" l="l"/>
            <a:pathLst>
              <a:path h="954654" w="1853697">
                <a:moveTo>
                  <a:pt x="0" y="0"/>
                </a:moveTo>
                <a:lnTo>
                  <a:pt x="1853697" y="0"/>
                </a:lnTo>
                <a:lnTo>
                  <a:pt x="1853697" y="954654"/>
                </a:lnTo>
                <a:lnTo>
                  <a:pt x="0" y="9546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92754" y="912666"/>
            <a:ext cx="6945064" cy="363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Empl</a:t>
            </a:r>
            <a:r>
              <a:rPr lang="en-US" sz="6800" spc="-374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oyee Wellness Management Analytics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28429" y="4673616"/>
            <a:ext cx="6764504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S</a:t>
            </a:r>
            <a:r>
              <a:rPr lang="en-US" sz="2699" b="true">
                <a:solidFill>
                  <a:srgbClr val="00000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upport Employee’s Mental Health and Sentiment Remotely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46084" y="-3906"/>
            <a:ext cx="5859146" cy="106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Healthy</a:t>
            </a:r>
            <a:r>
              <a:rPr lang="en-US" sz="27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teams achieve better results.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94661" y="5929011"/>
            <a:ext cx="7242737" cy="3944399"/>
            <a:chOff x="0" y="0"/>
            <a:chExt cx="9656983" cy="5259199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656983" cy="5259199"/>
              <a:chOff x="0" y="0"/>
              <a:chExt cx="1907552" cy="103885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07552" cy="1038854"/>
              </a:xfrm>
              <a:custGeom>
                <a:avLst/>
                <a:gdLst/>
                <a:ahLst/>
                <a:cxnLst/>
                <a:rect r="r" b="b" t="t" l="l"/>
                <a:pathLst>
                  <a:path h="1038854" w="1907552">
                    <a:moveTo>
                      <a:pt x="106892" y="0"/>
                    </a:moveTo>
                    <a:lnTo>
                      <a:pt x="1800660" y="0"/>
                    </a:lnTo>
                    <a:cubicBezTo>
                      <a:pt x="1859695" y="0"/>
                      <a:pt x="1907552" y="47857"/>
                      <a:pt x="1907552" y="106892"/>
                    </a:cubicBezTo>
                    <a:lnTo>
                      <a:pt x="1907552" y="931962"/>
                    </a:lnTo>
                    <a:cubicBezTo>
                      <a:pt x="1907552" y="960311"/>
                      <a:pt x="1896290" y="987500"/>
                      <a:pt x="1876244" y="1007546"/>
                    </a:cubicBezTo>
                    <a:cubicBezTo>
                      <a:pt x="1856198" y="1027592"/>
                      <a:pt x="1829009" y="1038854"/>
                      <a:pt x="1800660" y="1038854"/>
                    </a:cubicBezTo>
                    <a:lnTo>
                      <a:pt x="106892" y="1038854"/>
                    </a:lnTo>
                    <a:cubicBezTo>
                      <a:pt x="78543" y="1038854"/>
                      <a:pt x="51354" y="1027592"/>
                      <a:pt x="31308" y="1007546"/>
                    </a:cubicBezTo>
                    <a:cubicBezTo>
                      <a:pt x="11262" y="987500"/>
                      <a:pt x="0" y="960311"/>
                      <a:pt x="0" y="931962"/>
                    </a:cubicBezTo>
                    <a:lnTo>
                      <a:pt x="0" y="106892"/>
                    </a:lnTo>
                    <a:cubicBezTo>
                      <a:pt x="0" y="78543"/>
                      <a:pt x="11262" y="51354"/>
                      <a:pt x="31308" y="31308"/>
                    </a:cubicBezTo>
                    <a:cubicBezTo>
                      <a:pt x="51354" y="11262"/>
                      <a:pt x="78543" y="0"/>
                      <a:pt x="1068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95D5B2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1907552" cy="1086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923240" y="366952"/>
              <a:ext cx="3351908" cy="54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P</a:t>
              </a:r>
              <a:r>
                <a:rPr lang="en-US" sz="2499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resented By: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246719" y="1072861"/>
              <a:ext cx="5260074" cy="3998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18"/>
                </a:lnSpc>
              </a:pPr>
              <a:r>
                <a:rPr lang="en-US" b="true" sz="2870" spc="103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Rishit Ranjan</a:t>
              </a:r>
            </a:p>
            <a:p>
              <a:pPr algn="ctr">
                <a:lnSpc>
                  <a:spcPts val="4018"/>
                </a:lnSpc>
              </a:pPr>
              <a:r>
                <a:rPr lang="en-US" b="true" sz="2870" spc="103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Ritheesh Reddy</a:t>
              </a:r>
            </a:p>
            <a:p>
              <a:pPr algn="ctr">
                <a:lnSpc>
                  <a:spcPts val="4018"/>
                </a:lnSpc>
              </a:pPr>
              <a:r>
                <a:rPr lang="en-US" b="true" sz="2870" spc="43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Sanjana Teggi</a:t>
              </a:r>
            </a:p>
            <a:p>
              <a:pPr algn="ctr">
                <a:lnSpc>
                  <a:spcPts val="4018"/>
                </a:lnSpc>
              </a:pPr>
              <a:r>
                <a:rPr lang="en-US" b="true" sz="2870" spc="103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Simran Hakim</a:t>
              </a:r>
            </a:p>
            <a:p>
              <a:pPr algn="ctr">
                <a:lnSpc>
                  <a:spcPts val="4018"/>
                </a:lnSpc>
              </a:pPr>
              <a:r>
                <a:rPr lang="en-US" b="true" sz="2870" spc="103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Shivendra Tripathi</a:t>
              </a:r>
            </a:p>
            <a:p>
              <a:pPr algn="ctr">
                <a:lnSpc>
                  <a:spcPts val="4018"/>
                </a:lnSpc>
              </a:pPr>
              <a:r>
                <a:rPr lang="en-US" b="true" sz="2870" spc="103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Sudip Madhu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4388" y="1022061"/>
              <a:ext cx="3890927" cy="1018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40"/>
                </a:lnSpc>
              </a:pPr>
              <a:r>
                <a:rPr lang="en-US" sz="4600" b="true">
                  <a:solidFill>
                    <a:srgbClr val="000000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Team 4</a:t>
              </a:r>
            </a:p>
          </p:txBody>
        </p:sp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57360" y="7383919"/>
            <a:ext cx="2824732" cy="24032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66035" y="-1317128"/>
            <a:ext cx="12692655" cy="12692655"/>
          </a:xfrm>
          <a:custGeom>
            <a:avLst/>
            <a:gdLst/>
            <a:ahLst/>
            <a:cxnLst/>
            <a:rect r="r" b="b" t="t" l="l"/>
            <a:pathLst>
              <a:path h="12692655" w="12692655">
                <a:moveTo>
                  <a:pt x="0" y="0"/>
                </a:moveTo>
                <a:lnTo>
                  <a:pt x="12692655" y="0"/>
                </a:lnTo>
                <a:lnTo>
                  <a:pt x="12692655" y="12692656"/>
                </a:lnTo>
                <a:lnTo>
                  <a:pt x="0" y="12692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5606" y="3004013"/>
            <a:ext cx="10768513" cy="6777595"/>
            <a:chOff x="0" y="0"/>
            <a:chExt cx="2836152" cy="1785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36152" cy="1785046"/>
            </a:xfrm>
            <a:custGeom>
              <a:avLst/>
              <a:gdLst/>
              <a:ahLst/>
              <a:cxnLst/>
              <a:rect r="r" b="b" t="t" l="l"/>
              <a:pathLst>
                <a:path h="1785046" w="2836152">
                  <a:moveTo>
                    <a:pt x="36666" y="0"/>
                  </a:moveTo>
                  <a:lnTo>
                    <a:pt x="2799486" y="0"/>
                  </a:lnTo>
                  <a:cubicBezTo>
                    <a:pt x="2819736" y="0"/>
                    <a:pt x="2836152" y="16416"/>
                    <a:pt x="2836152" y="36666"/>
                  </a:cubicBezTo>
                  <a:lnTo>
                    <a:pt x="2836152" y="1748380"/>
                  </a:lnTo>
                  <a:cubicBezTo>
                    <a:pt x="2836152" y="1758104"/>
                    <a:pt x="2832289" y="1767430"/>
                    <a:pt x="2825412" y="1774306"/>
                  </a:cubicBezTo>
                  <a:cubicBezTo>
                    <a:pt x="2818536" y="1781183"/>
                    <a:pt x="2809210" y="1785046"/>
                    <a:pt x="2799486" y="1785046"/>
                  </a:cubicBezTo>
                  <a:lnTo>
                    <a:pt x="36666" y="1785046"/>
                  </a:lnTo>
                  <a:cubicBezTo>
                    <a:pt x="26942" y="1785046"/>
                    <a:pt x="17615" y="1781183"/>
                    <a:pt x="10739" y="1774306"/>
                  </a:cubicBezTo>
                  <a:cubicBezTo>
                    <a:pt x="3863" y="1767430"/>
                    <a:pt x="0" y="1758104"/>
                    <a:pt x="0" y="1748380"/>
                  </a:cubicBezTo>
                  <a:lnTo>
                    <a:pt x="0" y="36666"/>
                  </a:lnTo>
                  <a:cubicBezTo>
                    <a:pt x="0" y="26942"/>
                    <a:pt x="3863" y="17615"/>
                    <a:pt x="10739" y="10739"/>
                  </a:cubicBezTo>
                  <a:cubicBezTo>
                    <a:pt x="17615" y="3863"/>
                    <a:pt x="26942" y="0"/>
                    <a:pt x="36666" y="0"/>
                  </a:cubicBezTo>
                  <a:close/>
                </a:path>
              </a:pathLst>
            </a:custGeom>
            <a:solidFill>
              <a:srgbClr val="FFFFFF"/>
            </a:solidFill>
            <a:ln w="190500" cap="rnd">
              <a:solidFill>
                <a:srgbClr val="34C47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836152" cy="1832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96805" y="2962220"/>
            <a:ext cx="6352223" cy="5712972"/>
            <a:chOff x="0" y="0"/>
            <a:chExt cx="1673013" cy="15046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3014" cy="1504651"/>
            </a:xfrm>
            <a:custGeom>
              <a:avLst/>
              <a:gdLst/>
              <a:ahLst/>
              <a:cxnLst/>
              <a:rect r="r" b="b" t="t" l="l"/>
              <a:pathLst>
                <a:path h="1504651" w="1673014">
                  <a:moveTo>
                    <a:pt x="42657" y="0"/>
                  </a:moveTo>
                  <a:lnTo>
                    <a:pt x="1630356" y="0"/>
                  </a:lnTo>
                  <a:cubicBezTo>
                    <a:pt x="1653915" y="0"/>
                    <a:pt x="1673014" y="19098"/>
                    <a:pt x="1673014" y="42657"/>
                  </a:cubicBezTo>
                  <a:lnTo>
                    <a:pt x="1673014" y="1461994"/>
                  </a:lnTo>
                  <a:cubicBezTo>
                    <a:pt x="1673014" y="1473307"/>
                    <a:pt x="1668519" y="1484157"/>
                    <a:pt x="1660520" y="1492157"/>
                  </a:cubicBezTo>
                  <a:cubicBezTo>
                    <a:pt x="1652520" y="1500157"/>
                    <a:pt x="1641670" y="1504651"/>
                    <a:pt x="1630356" y="1504651"/>
                  </a:cubicBezTo>
                  <a:lnTo>
                    <a:pt x="42657" y="1504651"/>
                  </a:lnTo>
                  <a:cubicBezTo>
                    <a:pt x="19098" y="1504651"/>
                    <a:pt x="0" y="1485553"/>
                    <a:pt x="0" y="1461994"/>
                  </a:cubicBezTo>
                  <a:lnTo>
                    <a:pt x="0" y="42657"/>
                  </a:lnTo>
                  <a:cubicBezTo>
                    <a:pt x="0" y="19098"/>
                    <a:pt x="19098" y="0"/>
                    <a:pt x="42657" y="0"/>
                  </a:cubicBezTo>
                  <a:close/>
                </a:path>
              </a:pathLst>
            </a:custGeom>
            <a:solidFill>
              <a:srgbClr val="95D5B2"/>
            </a:solidFill>
            <a:ln w="952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73013" cy="1552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2700000">
            <a:off x="11672838" y="3180046"/>
            <a:ext cx="849960" cy="849960"/>
          </a:xfrm>
          <a:custGeom>
            <a:avLst/>
            <a:gdLst/>
            <a:ahLst/>
            <a:cxnLst/>
            <a:rect r="r" b="b" t="t" l="l"/>
            <a:pathLst>
              <a:path h="849960" w="849960">
                <a:moveTo>
                  <a:pt x="0" y="0"/>
                </a:moveTo>
                <a:lnTo>
                  <a:pt x="849960" y="0"/>
                </a:lnTo>
                <a:lnTo>
                  <a:pt x="849960" y="849960"/>
                </a:lnTo>
                <a:lnTo>
                  <a:pt x="0" y="849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62902" y="2273703"/>
            <a:ext cx="510777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2334996">
            <a:off x="-754924" y="36248"/>
            <a:ext cx="2323356" cy="874427"/>
          </a:xfrm>
          <a:custGeom>
            <a:avLst/>
            <a:gdLst/>
            <a:ahLst/>
            <a:cxnLst/>
            <a:rect r="r" b="b" t="t" l="l"/>
            <a:pathLst>
              <a:path h="874427" w="2323356">
                <a:moveTo>
                  <a:pt x="0" y="0"/>
                </a:moveTo>
                <a:lnTo>
                  <a:pt x="2323356" y="0"/>
                </a:lnTo>
                <a:lnTo>
                  <a:pt x="2323356" y="874427"/>
                </a:lnTo>
                <a:lnTo>
                  <a:pt x="0" y="874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10683641">
            <a:off x="184540" y="9808646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795434" y="4395886"/>
            <a:ext cx="5754965" cy="4114800"/>
          </a:xfrm>
          <a:custGeom>
            <a:avLst/>
            <a:gdLst/>
            <a:ahLst/>
            <a:cxnLst/>
            <a:rect r="r" b="b" t="t" l="l"/>
            <a:pathLst>
              <a:path h="4114800" w="5754965">
                <a:moveTo>
                  <a:pt x="0" y="0"/>
                </a:moveTo>
                <a:lnTo>
                  <a:pt x="5754965" y="0"/>
                </a:lnTo>
                <a:lnTo>
                  <a:pt x="57549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3945558">
            <a:off x="16164205" y="9934955"/>
            <a:ext cx="3401729" cy="1280287"/>
          </a:xfrm>
          <a:custGeom>
            <a:avLst/>
            <a:gdLst/>
            <a:ahLst/>
            <a:cxnLst/>
            <a:rect r="r" b="b" t="t" l="l"/>
            <a:pathLst>
              <a:path h="1280287" w="3401729">
                <a:moveTo>
                  <a:pt x="0" y="0"/>
                </a:moveTo>
                <a:lnTo>
                  <a:pt x="3401729" y="0"/>
                </a:lnTo>
                <a:lnTo>
                  <a:pt x="3401729" y="1280287"/>
                </a:lnTo>
                <a:lnTo>
                  <a:pt x="0" y="1280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8704403" y="155654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62902" y="1103380"/>
            <a:ext cx="10540070" cy="10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Problem Statement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0825" y="3141910"/>
            <a:ext cx="8520107" cy="64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Current System’s Limitations and Issues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1768529">
            <a:off x="9732369" y="2377733"/>
            <a:ext cx="1454379" cy="1294397"/>
          </a:xfrm>
          <a:custGeom>
            <a:avLst/>
            <a:gdLst/>
            <a:ahLst/>
            <a:cxnLst/>
            <a:rect r="r" b="b" t="t" l="l"/>
            <a:pathLst>
              <a:path h="1294397" w="1454379">
                <a:moveTo>
                  <a:pt x="0" y="0"/>
                </a:moveTo>
                <a:lnTo>
                  <a:pt x="1454379" y="0"/>
                </a:lnTo>
                <a:lnTo>
                  <a:pt x="1454379" y="1294397"/>
                </a:lnTo>
                <a:lnTo>
                  <a:pt x="0" y="12943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97229" y="3199340"/>
            <a:ext cx="727786" cy="727786"/>
          </a:xfrm>
          <a:custGeom>
            <a:avLst/>
            <a:gdLst/>
            <a:ahLst/>
            <a:cxnLst/>
            <a:rect r="r" b="b" t="t" l="l"/>
            <a:pathLst>
              <a:path h="727786" w="727786">
                <a:moveTo>
                  <a:pt x="0" y="0"/>
                </a:moveTo>
                <a:lnTo>
                  <a:pt x="727786" y="0"/>
                </a:lnTo>
                <a:lnTo>
                  <a:pt x="727786" y="727785"/>
                </a:lnTo>
                <a:lnTo>
                  <a:pt x="0" y="7277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496805" y="184177"/>
            <a:ext cx="2154151" cy="2089527"/>
          </a:xfrm>
          <a:custGeom>
            <a:avLst/>
            <a:gdLst/>
            <a:ahLst/>
            <a:cxnLst/>
            <a:rect r="r" b="b" t="t" l="l"/>
            <a:pathLst>
              <a:path h="2089527" w="2154151">
                <a:moveTo>
                  <a:pt x="0" y="0"/>
                </a:moveTo>
                <a:lnTo>
                  <a:pt x="2154151" y="0"/>
                </a:lnTo>
                <a:lnTo>
                  <a:pt x="2154151" y="2089526"/>
                </a:lnTo>
                <a:lnTo>
                  <a:pt x="0" y="208952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5606" y="4106492"/>
            <a:ext cx="10381275" cy="545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7604" indent="-303802" lvl="1">
              <a:lnSpc>
                <a:spcPts val="3939"/>
              </a:lnSpc>
              <a:buFont typeface="Arial"/>
              <a:buChar char="•"/>
            </a:pPr>
            <a:r>
              <a:rPr lang="en-US" sz="281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Lack of a secure and centralized login and wellness management system.</a:t>
            </a:r>
          </a:p>
          <a:p>
            <a:pPr algn="l">
              <a:lnSpc>
                <a:spcPts val="3939"/>
              </a:lnSpc>
            </a:pPr>
          </a:p>
          <a:p>
            <a:pPr algn="l" marL="607604" indent="-303802" lvl="1">
              <a:lnSpc>
                <a:spcPts val="3939"/>
              </a:lnSpc>
              <a:buFont typeface="Arial"/>
              <a:buChar char="•"/>
            </a:pPr>
            <a:r>
              <a:rPr lang="en-US" sz="281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Difficulty in managing user/admin access and employee wellness records.</a:t>
            </a:r>
          </a:p>
          <a:p>
            <a:pPr algn="l">
              <a:lnSpc>
                <a:spcPts val="3939"/>
              </a:lnSpc>
            </a:pPr>
          </a:p>
          <a:p>
            <a:pPr algn="l" marL="607604" indent="-303802" lvl="1">
              <a:lnSpc>
                <a:spcPts val="3939"/>
              </a:lnSpc>
              <a:buFont typeface="Arial"/>
              <a:buChar char="•"/>
            </a:pPr>
            <a:r>
              <a:rPr lang="en-US" sz="281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Limited real-time analysis of workforce performance and health trends.</a:t>
            </a:r>
          </a:p>
          <a:p>
            <a:pPr algn="l">
              <a:lnSpc>
                <a:spcPts val="3939"/>
              </a:lnSpc>
            </a:pPr>
          </a:p>
          <a:p>
            <a:pPr algn="l" marL="607604" indent="-303802" lvl="1">
              <a:lnSpc>
                <a:spcPts val="3939"/>
              </a:lnSpc>
              <a:buFont typeface="Arial"/>
              <a:buChar char="•"/>
            </a:pPr>
            <a:r>
              <a:rPr lang="en-US" sz="281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Need for instant wellness guidance through an intelligent chatbot with natural language response.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26994" y="-3805314"/>
            <a:ext cx="9245076" cy="9245076"/>
          </a:xfrm>
          <a:custGeom>
            <a:avLst/>
            <a:gdLst/>
            <a:ahLst/>
            <a:cxnLst/>
            <a:rect r="r" b="b" t="t" l="l"/>
            <a:pathLst>
              <a:path h="9245076" w="9245076">
                <a:moveTo>
                  <a:pt x="0" y="0"/>
                </a:moveTo>
                <a:lnTo>
                  <a:pt x="9245076" y="0"/>
                </a:lnTo>
                <a:lnTo>
                  <a:pt x="9245076" y="9245077"/>
                </a:lnTo>
                <a:lnTo>
                  <a:pt x="0" y="9245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40362" y="5019427"/>
            <a:ext cx="9245076" cy="9245076"/>
          </a:xfrm>
          <a:custGeom>
            <a:avLst/>
            <a:gdLst/>
            <a:ahLst/>
            <a:cxnLst/>
            <a:rect r="r" b="b" t="t" l="l"/>
            <a:pathLst>
              <a:path h="9245076" w="9245076">
                <a:moveTo>
                  <a:pt x="0" y="0"/>
                </a:moveTo>
                <a:lnTo>
                  <a:pt x="9245076" y="0"/>
                </a:lnTo>
                <a:lnTo>
                  <a:pt x="9245076" y="9245076"/>
                </a:lnTo>
                <a:lnTo>
                  <a:pt x="0" y="9245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77183" y="7555221"/>
            <a:ext cx="4421635" cy="4421635"/>
          </a:xfrm>
          <a:custGeom>
            <a:avLst/>
            <a:gdLst/>
            <a:ahLst/>
            <a:cxnLst/>
            <a:rect r="r" b="b" t="t" l="l"/>
            <a:pathLst>
              <a:path h="4421635" w="4421635">
                <a:moveTo>
                  <a:pt x="0" y="0"/>
                </a:moveTo>
                <a:lnTo>
                  <a:pt x="4421634" y="0"/>
                </a:lnTo>
                <a:lnTo>
                  <a:pt x="4421634" y="4421634"/>
                </a:lnTo>
                <a:lnTo>
                  <a:pt x="0" y="4421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244249" y="3806298"/>
            <a:ext cx="10827274" cy="6404502"/>
            <a:chOff x="0" y="0"/>
            <a:chExt cx="2851628" cy="16867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51628" cy="1686783"/>
            </a:xfrm>
            <a:custGeom>
              <a:avLst/>
              <a:gdLst/>
              <a:ahLst/>
              <a:cxnLst/>
              <a:rect r="r" b="b" t="t" l="l"/>
              <a:pathLst>
                <a:path h="1686783" w="2851628">
                  <a:moveTo>
                    <a:pt x="36467" y="0"/>
                  </a:moveTo>
                  <a:lnTo>
                    <a:pt x="2815161" y="0"/>
                  </a:lnTo>
                  <a:cubicBezTo>
                    <a:pt x="2824832" y="0"/>
                    <a:pt x="2834108" y="3842"/>
                    <a:pt x="2840947" y="10681"/>
                  </a:cubicBezTo>
                  <a:cubicBezTo>
                    <a:pt x="2847786" y="17520"/>
                    <a:pt x="2851628" y="26795"/>
                    <a:pt x="2851628" y="36467"/>
                  </a:cubicBezTo>
                  <a:lnTo>
                    <a:pt x="2851628" y="1650316"/>
                  </a:lnTo>
                  <a:cubicBezTo>
                    <a:pt x="2851628" y="1659987"/>
                    <a:pt x="2847786" y="1669263"/>
                    <a:pt x="2840947" y="1676102"/>
                  </a:cubicBezTo>
                  <a:cubicBezTo>
                    <a:pt x="2834108" y="1682940"/>
                    <a:pt x="2824832" y="1686783"/>
                    <a:pt x="2815161" y="1686783"/>
                  </a:cubicBezTo>
                  <a:lnTo>
                    <a:pt x="36467" y="1686783"/>
                  </a:lnTo>
                  <a:cubicBezTo>
                    <a:pt x="26795" y="1686783"/>
                    <a:pt x="17520" y="1682940"/>
                    <a:pt x="10681" y="1676102"/>
                  </a:cubicBezTo>
                  <a:cubicBezTo>
                    <a:pt x="3842" y="1669263"/>
                    <a:pt x="0" y="1659987"/>
                    <a:pt x="0" y="1650316"/>
                  </a:cubicBezTo>
                  <a:lnTo>
                    <a:pt x="0" y="36467"/>
                  </a:lnTo>
                  <a:cubicBezTo>
                    <a:pt x="0" y="26795"/>
                    <a:pt x="3842" y="17520"/>
                    <a:pt x="10681" y="10681"/>
                  </a:cubicBezTo>
                  <a:cubicBezTo>
                    <a:pt x="17520" y="3842"/>
                    <a:pt x="26795" y="0"/>
                    <a:pt x="36467" y="0"/>
                  </a:cubicBezTo>
                  <a:close/>
                </a:path>
              </a:pathLst>
            </a:custGeom>
            <a:solidFill>
              <a:srgbClr val="FFFFFF"/>
            </a:solidFill>
            <a:ln w="171450" cap="rnd">
              <a:solidFill>
                <a:srgbClr val="34C473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851628" cy="1734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true" rot="9116767">
            <a:off x="-1096802" y="9439514"/>
            <a:ext cx="2819662" cy="1061218"/>
          </a:xfrm>
          <a:custGeom>
            <a:avLst/>
            <a:gdLst/>
            <a:ahLst/>
            <a:cxnLst/>
            <a:rect r="r" b="b" t="t" l="l"/>
            <a:pathLst>
              <a:path h="1061218" w="2819662">
                <a:moveTo>
                  <a:pt x="0" y="1061218"/>
                </a:moveTo>
                <a:lnTo>
                  <a:pt x="2819662" y="1061218"/>
                </a:lnTo>
                <a:lnTo>
                  <a:pt x="2819662" y="0"/>
                </a:lnTo>
                <a:lnTo>
                  <a:pt x="0" y="0"/>
                </a:lnTo>
                <a:lnTo>
                  <a:pt x="0" y="106121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313029" y="6731088"/>
            <a:ext cx="360158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814619" y="9641965"/>
            <a:ext cx="1646628" cy="568835"/>
          </a:xfrm>
          <a:custGeom>
            <a:avLst/>
            <a:gdLst/>
            <a:ahLst/>
            <a:cxnLst/>
            <a:rect r="r" b="b" t="t" l="l"/>
            <a:pathLst>
              <a:path h="568835" w="1646628">
                <a:moveTo>
                  <a:pt x="0" y="0"/>
                </a:moveTo>
                <a:lnTo>
                  <a:pt x="1646628" y="0"/>
                </a:lnTo>
                <a:lnTo>
                  <a:pt x="1646628" y="568835"/>
                </a:lnTo>
                <a:lnTo>
                  <a:pt x="0" y="5688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3029" y="5567768"/>
            <a:ext cx="6240013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Introduction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13029" y="166731"/>
            <a:ext cx="7091686" cy="3747831"/>
            <a:chOff x="0" y="0"/>
            <a:chExt cx="2139087" cy="11304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9086" cy="1130470"/>
            </a:xfrm>
            <a:custGeom>
              <a:avLst/>
              <a:gdLst/>
              <a:ahLst/>
              <a:cxnLst/>
              <a:rect r="r" b="b" t="t" l="l"/>
              <a:pathLst>
                <a:path h="1130470" w="2139086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1007769"/>
                  </a:lnTo>
                  <a:cubicBezTo>
                    <a:pt x="1" y="1075535"/>
                    <a:pt x="54936" y="1130470"/>
                    <a:pt x="122702" y="1130470"/>
                  </a:cubicBezTo>
                  <a:lnTo>
                    <a:pt x="2016383" y="1130470"/>
                  </a:lnTo>
                  <a:cubicBezTo>
                    <a:pt x="2084149" y="1130470"/>
                    <a:pt x="2139085" y="1075535"/>
                    <a:pt x="2139086" y="1007769"/>
                  </a:cubicBezTo>
                  <a:lnTo>
                    <a:pt x="2139086" y="122701"/>
                  </a:lnTo>
                  <a:cubicBezTo>
                    <a:pt x="2139085" y="54935"/>
                    <a:pt x="2084150" y="1"/>
                    <a:pt x="2016384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lnTo>
                    <a:pt x="0" y="0"/>
                  </a:lnTo>
                  <a:cubicBezTo>
                    <a:pt x="0" y="0"/>
                    <a:pt x="473267" y="77131"/>
                    <a:pt x="473267" y="77131"/>
                  </a:cubicBezTo>
                  <a:close/>
                </a:path>
              </a:pathLst>
            </a:custGeom>
            <a:solidFill>
              <a:srgbClr val="95D5B2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-2700000">
            <a:off x="572072" y="153574"/>
            <a:ext cx="967613" cy="967613"/>
          </a:xfrm>
          <a:custGeom>
            <a:avLst/>
            <a:gdLst/>
            <a:ahLst/>
            <a:cxnLst/>
            <a:rect r="r" b="b" t="t" l="l"/>
            <a:pathLst>
              <a:path h="967613" w="967613">
                <a:moveTo>
                  <a:pt x="0" y="0"/>
                </a:moveTo>
                <a:lnTo>
                  <a:pt x="967613" y="0"/>
                </a:lnTo>
                <a:lnTo>
                  <a:pt x="967613" y="967613"/>
                </a:lnTo>
                <a:lnTo>
                  <a:pt x="0" y="9676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041454" y="294905"/>
            <a:ext cx="3192957" cy="3587592"/>
          </a:xfrm>
          <a:custGeom>
            <a:avLst/>
            <a:gdLst/>
            <a:ahLst/>
            <a:cxnLst/>
            <a:rect r="r" b="b" t="t" l="l"/>
            <a:pathLst>
              <a:path h="3587592" w="3192957">
                <a:moveTo>
                  <a:pt x="0" y="0"/>
                </a:moveTo>
                <a:lnTo>
                  <a:pt x="3192957" y="0"/>
                </a:lnTo>
                <a:lnTo>
                  <a:pt x="3192957" y="3587593"/>
                </a:lnTo>
                <a:lnTo>
                  <a:pt x="0" y="35875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7291561" y="4884742"/>
            <a:ext cx="10732648" cy="522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8559" indent="-294279" lvl="1">
              <a:lnSpc>
                <a:spcPts val="3816"/>
              </a:lnSpc>
              <a:buFont typeface="Arial"/>
              <a:buChar char="•"/>
            </a:pPr>
            <a:r>
              <a:rPr lang="en-US" sz="2726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726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mployee wellness is essential for strong productivity and steady growth. The system helps manage health data and spot risks like stress while offering personal wellness tips.</a:t>
            </a:r>
          </a:p>
          <a:p>
            <a:pPr algn="l" marL="588559" indent="-294279" lvl="1">
              <a:lnSpc>
                <a:spcPts val="3816"/>
              </a:lnSpc>
              <a:buFont typeface="Arial"/>
              <a:buChar char="•"/>
            </a:pPr>
            <a:r>
              <a:rPr lang="en-US" sz="2726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Employee wellness plays a big role in performance and growth. This system handles health data, predicts risks, and gives each person wellness ideas that support their wellbeing.</a:t>
            </a:r>
          </a:p>
          <a:p>
            <a:pPr algn="l" marL="588559" indent="-294279" lvl="1">
              <a:lnSpc>
                <a:spcPts val="3816"/>
              </a:lnSpc>
              <a:buFont typeface="Arial"/>
              <a:buChar char="•"/>
            </a:pPr>
            <a:r>
              <a:rPr lang="en-US" sz="2726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Supporting employee wellness leads to better focus and stronger results. The system works with wellness data, identifies stress risks, and shares recommendations and the sentiment to help everyone stay healthy.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586574" y="4085508"/>
            <a:ext cx="781547" cy="781547"/>
          </a:xfrm>
          <a:custGeom>
            <a:avLst/>
            <a:gdLst/>
            <a:ahLst/>
            <a:cxnLst/>
            <a:rect r="r" b="b" t="t" l="l"/>
            <a:pathLst>
              <a:path h="781547" w="781547">
                <a:moveTo>
                  <a:pt x="0" y="0"/>
                </a:moveTo>
                <a:lnTo>
                  <a:pt x="781547" y="0"/>
                </a:lnTo>
                <a:lnTo>
                  <a:pt x="781547" y="781547"/>
                </a:lnTo>
                <a:lnTo>
                  <a:pt x="0" y="7815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414867" y="4169958"/>
            <a:ext cx="5501004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Knowing about the Project</a:t>
            </a:r>
          </a:p>
        </p:txBody>
      </p:sp>
      <p:sp>
        <p:nvSpPr>
          <p:cNvPr name="Freeform 19" id="19"/>
          <p:cNvSpPr/>
          <p:nvPr/>
        </p:nvSpPr>
        <p:spPr>
          <a:xfrm flipH="false" flipV="true" rot="-1503861">
            <a:off x="16666164" y="-146371"/>
            <a:ext cx="2556586" cy="962206"/>
          </a:xfrm>
          <a:custGeom>
            <a:avLst/>
            <a:gdLst/>
            <a:ahLst/>
            <a:cxnLst/>
            <a:rect r="r" b="b" t="t" l="l"/>
            <a:pathLst>
              <a:path h="962206" w="2556586">
                <a:moveTo>
                  <a:pt x="0" y="962206"/>
                </a:moveTo>
                <a:lnTo>
                  <a:pt x="2556586" y="962206"/>
                </a:lnTo>
                <a:lnTo>
                  <a:pt x="2556586" y="0"/>
                </a:lnTo>
                <a:lnTo>
                  <a:pt x="0" y="0"/>
                </a:lnTo>
                <a:lnTo>
                  <a:pt x="0" y="9622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0643787">
            <a:off x="10105288" y="-167136"/>
            <a:ext cx="2674975" cy="924082"/>
          </a:xfrm>
          <a:custGeom>
            <a:avLst/>
            <a:gdLst/>
            <a:ahLst/>
            <a:cxnLst/>
            <a:rect r="r" b="b" t="t" l="l"/>
            <a:pathLst>
              <a:path h="924082" w="2674975">
                <a:moveTo>
                  <a:pt x="0" y="0"/>
                </a:moveTo>
                <a:lnTo>
                  <a:pt x="2674974" y="0"/>
                </a:lnTo>
                <a:lnTo>
                  <a:pt x="2674974" y="924082"/>
                </a:lnTo>
                <a:lnTo>
                  <a:pt x="0" y="924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1768529">
            <a:off x="16576391" y="3151804"/>
            <a:ext cx="1482881" cy="1319764"/>
          </a:xfrm>
          <a:custGeom>
            <a:avLst/>
            <a:gdLst/>
            <a:ahLst/>
            <a:cxnLst/>
            <a:rect r="r" b="b" t="t" l="l"/>
            <a:pathLst>
              <a:path h="1319764" w="1482881">
                <a:moveTo>
                  <a:pt x="0" y="0"/>
                </a:moveTo>
                <a:lnTo>
                  <a:pt x="1482881" y="0"/>
                </a:lnTo>
                <a:lnTo>
                  <a:pt x="1482881" y="1319763"/>
                </a:lnTo>
                <a:lnTo>
                  <a:pt x="0" y="13197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7728" y="5347585"/>
            <a:ext cx="9245076" cy="9245076"/>
          </a:xfrm>
          <a:custGeom>
            <a:avLst/>
            <a:gdLst/>
            <a:ahLst/>
            <a:cxnLst/>
            <a:rect r="r" b="b" t="t" l="l"/>
            <a:pathLst>
              <a:path h="9245076" w="9245076">
                <a:moveTo>
                  <a:pt x="0" y="0"/>
                </a:moveTo>
                <a:lnTo>
                  <a:pt x="9245076" y="0"/>
                </a:lnTo>
                <a:lnTo>
                  <a:pt x="9245076" y="9245076"/>
                </a:lnTo>
                <a:lnTo>
                  <a:pt x="0" y="9245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8256" y="2786562"/>
            <a:ext cx="9815301" cy="7137382"/>
            <a:chOff x="0" y="0"/>
            <a:chExt cx="2585100" cy="18798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85100" cy="1879804"/>
            </a:xfrm>
            <a:custGeom>
              <a:avLst/>
              <a:gdLst/>
              <a:ahLst/>
              <a:cxnLst/>
              <a:rect r="r" b="b" t="t" l="l"/>
              <a:pathLst>
                <a:path h="1879804" w="2585100">
                  <a:moveTo>
                    <a:pt x="40227" y="0"/>
                  </a:moveTo>
                  <a:lnTo>
                    <a:pt x="2544873" y="0"/>
                  </a:lnTo>
                  <a:cubicBezTo>
                    <a:pt x="2555542" y="0"/>
                    <a:pt x="2565774" y="4238"/>
                    <a:pt x="2573318" y="11782"/>
                  </a:cubicBezTo>
                  <a:cubicBezTo>
                    <a:pt x="2580862" y="19326"/>
                    <a:pt x="2585100" y="29558"/>
                    <a:pt x="2585100" y="40227"/>
                  </a:cubicBezTo>
                  <a:lnTo>
                    <a:pt x="2585100" y="1839577"/>
                  </a:lnTo>
                  <a:cubicBezTo>
                    <a:pt x="2585100" y="1850246"/>
                    <a:pt x="2580862" y="1860478"/>
                    <a:pt x="2573318" y="1868022"/>
                  </a:cubicBezTo>
                  <a:cubicBezTo>
                    <a:pt x="2565774" y="1875566"/>
                    <a:pt x="2555542" y="1879804"/>
                    <a:pt x="2544873" y="1879804"/>
                  </a:cubicBezTo>
                  <a:lnTo>
                    <a:pt x="40227" y="1879804"/>
                  </a:lnTo>
                  <a:cubicBezTo>
                    <a:pt x="29558" y="1879804"/>
                    <a:pt x="19326" y="1875566"/>
                    <a:pt x="11782" y="1868022"/>
                  </a:cubicBezTo>
                  <a:cubicBezTo>
                    <a:pt x="4238" y="1860478"/>
                    <a:pt x="0" y="1850246"/>
                    <a:pt x="0" y="1839577"/>
                  </a:cubicBezTo>
                  <a:lnTo>
                    <a:pt x="0" y="40227"/>
                  </a:lnTo>
                  <a:cubicBezTo>
                    <a:pt x="0" y="29558"/>
                    <a:pt x="4238" y="19326"/>
                    <a:pt x="11782" y="11782"/>
                  </a:cubicBezTo>
                  <a:cubicBezTo>
                    <a:pt x="19326" y="4238"/>
                    <a:pt x="29558" y="0"/>
                    <a:pt x="40227" y="0"/>
                  </a:cubicBezTo>
                  <a:close/>
                </a:path>
              </a:pathLst>
            </a:custGeom>
            <a:solidFill>
              <a:srgbClr val="FFFFFF"/>
            </a:solidFill>
            <a:ln w="171450" cap="rnd">
              <a:solidFill>
                <a:srgbClr val="34C47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585100" cy="1927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443008" y="351628"/>
            <a:ext cx="9983986" cy="156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Project Objective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56073" y="3102753"/>
            <a:ext cx="781547" cy="781547"/>
          </a:xfrm>
          <a:custGeom>
            <a:avLst/>
            <a:gdLst/>
            <a:ahLst/>
            <a:cxnLst/>
            <a:rect r="r" b="b" t="t" l="l"/>
            <a:pathLst>
              <a:path h="781547" w="781547">
                <a:moveTo>
                  <a:pt x="0" y="0"/>
                </a:moveTo>
                <a:lnTo>
                  <a:pt x="781547" y="0"/>
                </a:lnTo>
                <a:lnTo>
                  <a:pt x="781547" y="781546"/>
                </a:lnTo>
                <a:lnTo>
                  <a:pt x="0" y="781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26994" y="-3805314"/>
            <a:ext cx="9245076" cy="9245076"/>
          </a:xfrm>
          <a:custGeom>
            <a:avLst/>
            <a:gdLst/>
            <a:ahLst/>
            <a:cxnLst/>
            <a:rect r="r" b="b" t="t" l="l"/>
            <a:pathLst>
              <a:path h="9245076" w="9245076">
                <a:moveTo>
                  <a:pt x="0" y="0"/>
                </a:moveTo>
                <a:lnTo>
                  <a:pt x="9245076" y="0"/>
                </a:lnTo>
                <a:lnTo>
                  <a:pt x="9245076" y="9245077"/>
                </a:lnTo>
                <a:lnTo>
                  <a:pt x="0" y="9245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643787">
            <a:off x="10105288" y="-167136"/>
            <a:ext cx="2674975" cy="924082"/>
          </a:xfrm>
          <a:custGeom>
            <a:avLst/>
            <a:gdLst/>
            <a:ahLst/>
            <a:cxnLst/>
            <a:rect r="r" b="b" t="t" l="l"/>
            <a:pathLst>
              <a:path h="924082" w="2674975">
                <a:moveTo>
                  <a:pt x="0" y="0"/>
                </a:moveTo>
                <a:lnTo>
                  <a:pt x="2674974" y="0"/>
                </a:lnTo>
                <a:lnTo>
                  <a:pt x="2674974" y="924082"/>
                </a:lnTo>
                <a:lnTo>
                  <a:pt x="0" y="924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60243" y="9685705"/>
            <a:ext cx="1646628" cy="568835"/>
          </a:xfrm>
          <a:custGeom>
            <a:avLst/>
            <a:gdLst/>
            <a:ahLst/>
            <a:cxnLst/>
            <a:rect r="r" b="b" t="t" l="l"/>
            <a:pathLst>
              <a:path h="568835" w="1646628">
                <a:moveTo>
                  <a:pt x="0" y="0"/>
                </a:moveTo>
                <a:lnTo>
                  <a:pt x="1646628" y="0"/>
                </a:lnTo>
                <a:lnTo>
                  <a:pt x="1646628" y="568835"/>
                </a:lnTo>
                <a:lnTo>
                  <a:pt x="0" y="5688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3027307">
            <a:off x="16507861" y="9489020"/>
            <a:ext cx="2556586" cy="962206"/>
          </a:xfrm>
          <a:custGeom>
            <a:avLst/>
            <a:gdLst/>
            <a:ahLst/>
            <a:cxnLst/>
            <a:rect r="r" b="b" t="t" l="l"/>
            <a:pathLst>
              <a:path h="962206" w="2556586">
                <a:moveTo>
                  <a:pt x="0" y="962206"/>
                </a:moveTo>
                <a:lnTo>
                  <a:pt x="2556586" y="962206"/>
                </a:lnTo>
                <a:lnTo>
                  <a:pt x="2556586" y="0"/>
                </a:lnTo>
                <a:lnTo>
                  <a:pt x="0" y="0"/>
                </a:lnTo>
                <a:lnTo>
                  <a:pt x="0" y="96220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8513133">
            <a:off x="-797667" y="101792"/>
            <a:ext cx="2819662" cy="1061218"/>
          </a:xfrm>
          <a:custGeom>
            <a:avLst/>
            <a:gdLst/>
            <a:ahLst/>
            <a:cxnLst/>
            <a:rect r="r" b="b" t="t" l="l"/>
            <a:pathLst>
              <a:path h="1061218" w="2819662">
                <a:moveTo>
                  <a:pt x="0" y="1061218"/>
                </a:moveTo>
                <a:lnTo>
                  <a:pt x="2819663" y="1061218"/>
                </a:lnTo>
                <a:lnTo>
                  <a:pt x="2819663" y="0"/>
                </a:lnTo>
                <a:lnTo>
                  <a:pt x="0" y="0"/>
                </a:lnTo>
                <a:lnTo>
                  <a:pt x="0" y="106121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90395" y="606665"/>
            <a:ext cx="1599712" cy="1599712"/>
          </a:xfrm>
          <a:custGeom>
            <a:avLst/>
            <a:gdLst/>
            <a:ahLst/>
            <a:cxnLst/>
            <a:rect r="r" b="b" t="t" l="l"/>
            <a:pathLst>
              <a:path h="1599712" w="1599712">
                <a:moveTo>
                  <a:pt x="0" y="0"/>
                </a:moveTo>
                <a:lnTo>
                  <a:pt x="1599711" y="0"/>
                </a:lnTo>
                <a:lnTo>
                  <a:pt x="1599711" y="1599712"/>
                </a:lnTo>
                <a:lnTo>
                  <a:pt x="0" y="15997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194923" y="3903349"/>
            <a:ext cx="6305741" cy="4193318"/>
          </a:xfrm>
          <a:custGeom>
            <a:avLst/>
            <a:gdLst/>
            <a:ahLst/>
            <a:cxnLst/>
            <a:rect r="r" b="b" t="t" l="l"/>
            <a:pathLst>
              <a:path h="4193318" w="6305741">
                <a:moveTo>
                  <a:pt x="0" y="0"/>
                </a:moveTo>
                <a:lnTo>
                  <a:pt x="6305741" y="0"/>
                </a:lnTo>
                <a:lnTo>
                  <a:pt x="6305741" y="4193318"/>
                </a:lnTo>
                <a:lnTo>
                  <a:pt x="0" y="419331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12164" y="4052321"/>
            <a:ext cx="9527484" cy="530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088" indent="-277044" lvl="1">
              <a:lnSpc>
                <a:spcPts val="4465"/>
              </a:lnSpc>
              <a:buAutoNum type="arabicPeriod" startAt="1"/>
            </a:pPr>
            <a:r>
              <a:rPr lang="en-US" sz="256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Personalized Employee Dashboards: Tracks vitals, sets goals, and delivers custom AI insights.</a:t>
            </a:r>
          </a:p>
          <a:p>
            <a:pPr algn="l" marL="554088" indent="-277044" lvl="1">
              <a:lnSpc>
                <a:spcPts val="4183"/>
              </a:lnSpc>
              <a:buAutoNum type="arabicPeriod" startAt="1"/>
            </a:pPr>
            <a:r>
              <a:rPr lang="en-US" sz="256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Proactive Admin Analytics: Enables predictive risk modeling, sentiment tracking, and key KPIs.</a:t>
            </a:r>
          </a:p>
          <a:p>
            <a:pPr algn="l" marL="554088" indent="-277044" lvl="1">
              <a:lnSpc>
                <a:spcPts val="4337"/>
              </a:lnSpc>
              <a:buAutoNum type="arabicPeriod" startAt="1"/>
            </a:pPr>
            <a:r>
              <a:rPr lang="en-US" sz="256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24/7 AI Wellness Assistant: Provides instant, contextual advice on diet, stress, and exercise.</a:t>
            </a:r>
          </a:p>
          <a:p>
            <a:pPr algn="l" marL="554088" indent="-277044" lvl="1">
              <a:lnSpc>
                <a:spcPts val="4337"/>
              </a:lnSpc>
              <a:buAutoNum type="arabicPeriod" startAt="1"/>
            </a:pPr>
            <a:r>
              <a:rPr lang="en-US" sz="256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Secure &amp; Scalable Infrastructure: Ensures da</a:t>
            </a:r>
            <a:r>
              <a:rPr lang="en-US" sz="256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ta privacy, role-based access, and centralized analytics.</a:t>
            </a:r>
          </a:p>
          <a:p>
            <a:pPr algn="l" marL="576351" indent="-288175" lvl="1">
              <a:lnSpc>
                <a:spcPts val="3790"/>
              </a:lnSpc>
              <a:buAutoNum type="arabicPeriod" startAt="1"/>
            </a:pPr>
            <a:r>
              <a:rPr lang="en-US" sz="266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Automated Admin &amp; Emergency Response: Streamlines claims, scheduling, and instant SOS alerts.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4396" y="3093793"/>
            <a:ext cx="5366266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Objectives of the Project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1768529">
            <a:off x="9360277" y="2287707"/>
            <a:ext cx="1450806" cy="1291217"/>
          </a:xfrm>
          <a:custGeom>
            <a:avLst/>
            <a:gdLst/>
            <a:ahLst/>
            <a:cxnLst/>
            <a:rect r="r" b="b" t="t" l="l"/>
            <a:pathLst>
              <a:path h="1291217" w="1450806">
                <a:moveTo>
                  <a:pt x="0" y="0"/>
                </a:moveTo>
                <a:lnTo>
                  <a:pt x="1450806" y="0"/>
                </a:lnTo>
                <a:lnTo>
                  <a:pt x="1450806" y="1291217"/>
                </a:lnTo>
                <a:lnTo>
                  <a:pt x="0" y="12912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58344" y="2231442"/>
            <a:ext cx="10284795" cy="10284795"/>
          </a:xfrm>
          <a:custGeom>
            <a:avLst/>
            <a:gdLst/>
            <a:ahLst/>
            <a:cxnLst/>
            <a:rect r="r" b="b" t="t" l="l"/>
            <a:pathLst>
              <a:path h="10284795" w="10284795">
                <a:moveTo>
                  <a:pt x="0" y="0"/>
                </a:moveTo>
                <a:lnTo>
                  <a:pt x="10284795" y="0"/>
                </a:lnTo>
                <a:lnTo>
                  <a:pt x="10284795" y="10284795"/>
                </a:lnTo>
                <a:lnTo>
                  <a:pt x="0" y="10284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91230" y="-2914734"/>
            <a:ext cx="7886867" cy="7886867"/>
          </a:xfrm>
          <a:custGeom>
            <a:avLst/>
            <a:gdLst/>
            <a:ahLst/>
            <a:cxnLst/>
            <a:rect r="r" b="b" t="t" l="l"/>
            <a:pathLst>
              <a:path h="7886867" w="7886867">
                <a:moveTo>
                  <a:pt x="0" y="0"/>
                </a:moveTo>
                <a:lnTo>
                  <a:pt x="7886868" y="0"/>
                </a:lnTo>
                <a:lnTo>
                  <a:pt x="7886868" y="7886868"/>
                </a:lnTo>
                <a:lnTo>
                  <a:pt x="0" y="7886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419473" y="1407409"/>
            <a:ext cx="476876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true" rot="-67722">
            <a:off x="12158566" y="9715985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69" y="555239"/>
                </a:lnTo>
                <a:lnTo>
                  <a:pt x="1607269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16840" y="2414885"/>
            <a:ext cx="8861631" cy="7735602"/>
            <a:chOff x="0" y="0"/>
            <a:chExt cx="2333928" cy="2037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3928" cy="2037360"/>
            </a:xfrm>
            <a:custGeom>
              <a:avLst/>
              <a:gdLst/>
              <a:ahLst/>
              <a:cxnLst/>
              <a:rect r="r" b="b" t="t" l="l"/>
              <a:pathLst>
                <a:path h="2037360" w="2333928">
                  <a:moveTo>
                    <a:pt x="44556" y="0"/>
                  </a:moveTo>
                  <a:lnTo>
                    <a:pt x="2289372" y="0"/>
                  </a:lnTo>
                  <a:cubicBezTo>
                    <a:pt x="2313979" y="0"/>
                    <a:pt x="2333928" y="19948"/>
                    <a:pt x="2333928" y="44556"/>
                  </a:cubicBezTo>
                  <a:lnTo>
                    <a:pt x="2333928" y="1992804"/>
                  </a:lnTo>
                  <a:cubicBezTo>
                    <a:pt x="2333928" y="2004621"/>
                    <a:pt x="2329233" y="2015954"/>
                    <a:pt x="2320877" y="2024310"/>
                  </a:cubicBezTo>
                  <a:cubicBezTo>
                    <a:pt x="2312521" y="2032666"/>
                    <a:pt x="2301189" y="2037360"/>
                    <a:pt x="2289372" y="2037360"/>
                  </a:cubicBezTo>
                  <a:lnTo>
                    <a:pt x="44556" y="2037360"/>
                  </a:lnTo>
                  <a:cubicBezTo>
                    <a:pt x="19948" y="2037360"/>
                    <a:pt x="0" y="2017412"/>
                    <a:pt x="0" y="1992804"/>
                  </a:cubicBezTo>
                  <a:lnTo>
                    <a:pt x="0" y="44556"/>
                  </a:lnTo>
                  <a:cubicBezTo>
                    <a:pt x="0" y="19948"/>
                    <a:pt x="19948" y="0"/>
                    <a:pt x="44556" y="0"/>
                  </a:cubicBezTo>
                  <a:close/>
                </a:path>
              </a:pathLst>
            </a:custGeom>
            <a:solidFill>
              <a:srgbClr val="FFFFFF"/>
            </a:solidFill>
            <a:ln w="171450" cap="rnd">
              <a:solidFill>
                <a:srgbClr val="34C473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33928" cy="2084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95281" y="3398055"/>
            <a:ext cx="8551734" cy="4812002"/>
            <a:chOff x="0" y="0"/>
            <a:chExt cx="1290972" cy="7264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0972" cy="726421"/>
            </a:xfrm>
            <a:custGeom>
              <a:avLst/>
              <a:gdLst/>
              <a:ahLst/>
              <a:cxnLst/>
              <a:rect r="r" b="b" t="t" l="l"/>
              <a:pathLst>
                <a:path h="726421" w="1290972">
                  <a:moveTo>
                    <a:pt x="0" y="0"/>
                  </a:moveTo>
                  <a:lnTo>
                    <a:pt x="1290972" y="0"/>
                  </a:lnTo>
                  <a:lnTo>
                    <a:pt x="1290972" y="726421"/>
                  </a:lnTo>
                  <a:lnTo>
                    <a:pt x="0" y="726421"/>
                  </a:lnTo>
                  <a:close/>
                </a:path>
              </a:pathLst>
            </a:custGeom>
            <a:blipFill>
              <a:blip r:embed="rId6"/>
              <a:stretch>
                <a:fillRect l="-1564" t="0" r="-1564" b="0"/>
              </a:stretch>
            </a:blipFill>
            <a:ln w="47625" cap="sq">
              <a:solidFill>
                <a:srgbClr val="34C473"/>
              </a:solidFill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true" rot="-10800000">
            <a:off x="16455665" y="103693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70" y="555238"/>
                </a:lnTo>
                <a:lnTo>
                  <a:pt x="1607270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411862" y="103693"/>
            <a:ext cx="3359286" cy="2419121"/>
          </a:xfrm>
          <a:custGeom>
            <a:avLst/>
            <a:gdLst/>
            <a:ahLst/>
            <a:cxnLst/>
            <a:rect r="r" b="b" t="t" l="l"/>
            <a:pathLst>
              <a:path h="2419121" w="3359286">
                <a:moveTo>
                  <a:pt x="0" y="0"/>
                </a:moveTo>
                <a:lnTo>
                  <a:pt x="3359286" y="0"/>
                </a:lnTo>
                <a:lnTo>
                  <a:pt x="3359286" y="2419120"/>
                </a:lnTo>
                <a:lnTo>
                  <a:pt x="0" y="2419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146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19473" y="409169"/>
            <a:ext cx="8782839" cy="86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8"/>
              </a:lnSpc>
            </a:pPr>
            <a:r>
              <a:rPr lang="en-US" sz="5488" spc="109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System Architecture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9111" y="2544943"/>
            <a:ext cx="698704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231F20"/>
                </a:solidFill>
                <a:latin typeface="Agrandir Bold"/>
                <a:ea typeface="Agrandir Bold"/>
                <a:cs typeface="Agrandir Bold"/>
                <a:sym typeface="Agrandir Bold"/>
              </a:rPr>
              <a:t> Explaining the structure and flow of the system.</a:t>
            </a:r>
          </a:p>
        </p:txBody>
      </p:sp>
      <p:sp>
        <p:nvSpPr>
          <p:cNvPr name="Freeform 15" id="15"/>
          <p:cNvSpPr/>
          <p:nvPr/>
        </p:nvSpPr>
        <p:spPr>
          <a:xfrm flipH="false" flipV="true" rot="3027307">
            <a:off x="16362230" y="9513332"/>
            <a:ext cx="2556586" cy="962206"/>
          </a:xfrm>
          <a:custGeom>
            <a:avLst/>
            <a:gdLst/>
            <a:ahLst/>
            <a:cxnLst/>
            <a:rect r="r" b="b" t="t" l="l"/>
            <a:pathLst>
              <a:path h="962206" w="2556586">
                <a:moveTo>
                  <a:pt x="0" y="962206"/>
                </a:moveTo>
                <a:lnTo>
                  <a:pt x="2556586" y="962206"/>
                </a:lnTo>
                <a:lnTo>
                  <a:pt x="2556586" y="0"/>
                </a:lnTo>
                <a:lnTo>
                  <a:pt x="0" y="0"/>
                </a:lnTo>
                <a:lnTo>
                  <a:pt x="0" y="96220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1684521">
            <a:off x="-1278293" y="-118841"/>
            <a:ext cx="2556586" cy="962206"/>
          </a:xfrm>
          <a:custGeom>
            <a:avLst/>
            <a:gdLst/>
            <a:ahLst/>
            <a:cxnLst/>
            <a:rect r="r" b="b" t="t" l="l"/>
            <a:pathLst>
              <a:path h="962206" w="2556586">
                <a:moveTo>
                  <a:pt x="0" y="962206"/>
                </a:moveTo>
                <a:lnTo>
                  <a:pt x="2556586" y="962206"/>
                </a:lnTo>
                <a:lnTo>
                  <a:pt x="2556586" y="0"/>
                </a:lnTo>
                <a:lnTo>
                  <a:pt x="0" y="0"/>
                </a:lnTo>
                <a:lnTo>
                  <a:pt x="0" y="96220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47452" y="3611744"/>
            <a:ext cx="8111504" cy="6296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6570" indent="-238285" lvl="1">
              <a:lnSpc>
                <a:spcPts val="3090"/>
              </a:lnSpc>
              <a:buFont typeface="Arial"/>
              <a:buChar char="•"/>
            </a:pPr>
            <a:r>
              <a:rPr lang="en-US" sz="2207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The</a:t>
            </a:r>
            <a:r>
              <a:rPr lang="en-US" sz="2207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 application is built on a modern, decoupled architecture, commonly known as a Backend for Frontend (BFF) pattern. </a:t>
            </a:r>
          </a:p>
          <a:p>
            <a:pPr algn="l">
              <a:lnSpc>
                <a:spcPts val="3090"/>
              </a:lnSpc>
            </a:pPr>
          </a:p>
          <a:p>
            <a:pPr algn="l" marL="476570" indent="-238285" lvl="1">
              <a:lnSpc>
                <a:spcPts val="3090"/>
              </a:lnSpc>
              <a:buFont typeface="Arial"/>
              <a:buChar char="•"/>
            </a:pPr>
            <a:r>
              <a:rPr lang="en-US" sz="2207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This means the React frontend is a distinct application that communicates with a dedicated Flask backend via a REST API</a:t>
            </a:r>
          </a:p>
          <a:p>
            <a:pPr algn="l">
              <a:lnSpc>
                <a:spcPts val="3618"/>
              </a:lnSpc>
            </a:pPr>
          </a:p>
          <a:p>
            <a:pPr algn="l" marL="476570" indent="-238285" lvl="1">
              <a:lnSpc>
                <a:spcPts val="3090"/>
              </a:lnSpc>
              <a:buFont typeface="Arial"/>
              <a:buChar char="•"/>
            </a:pPr>
            <a:r>
              <a:rPr lang="en-US" sz="2207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Microservice-Ready AI Integration: Isolates LLM interactions and machine learning model inference into modular background services to maintain high responsiveness and system efficiency.</a:t>
            </a:r>
          </a:p>
          <a:p>
            <a:pPr algn="l">
              <a:lnSpc>
                <a:spcPts val="3090"/>
              </a:lnSpc>
            </a:pPr>
          </a:p>
          <a:p>
            <a:pPr algn="l" marL="476570" indent="-238285" lvl="1">
              <a:lnSpc>
                <a:spcPts val="3090"/>
              </a:lnSpc>
              <a:buFont typeface="Arial"/>
              <a:buChar char="•"/>
            </a:pPr>
            <a:r>
              <a:rPr lang="en-US" sz="2207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Stateless Token Authentication: Utilizes secure JWT authorization across API requests, ensuring strict role-based access control and seamless horizontal scaling.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47452" y="2606984"/>
            <a:ext cx="781547" cy="781547"/>
          </a:xfrm>
          <a:custGeom>
            <a:avLst/>
            <a:gdLst/>
            <a:ahLst/>
            <a:cxnLst/>
            <a:rect r="r" b="b" t="t" l="l"/>
            <a:pathLst>
              <a:path h="781547" w="781547">
                <a:moveTo>
                  <a:pt x="0" y="0"/>
                </a:moveTo>
                <a:lnTo>
                  <a:pt x="781546" y="0"/>
                </a:lnTo>
                <a:lnTo>
                  <a:pt x="781546" y="781546"/>
                </a:lnTo>
                <a:lnTo>
                  <a:pt x="0" y="7815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1768529">
            <a:off x="8330448" y="1953485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6" y="0"/>
                </a:lnTo>
                <a:lnTo>
                  <a:pt x="1339516" y="1192169"/>
                </a:lnTo>
                <a:lnTo>
                  <a:pt x="0" y="11921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46379" y="53335"/>
            <a:ext cx="10284795" cy="10284795"/>
          </a:xfrm>
          <a:custGeom>
            <a:avLst/>
            <a:gdLst/>
            <a:ahLst/>
            <a:cxnLst/>
            <a:rect r="r" b="b" t="t" l="l"/>
            <a:pathLst>
              <a:path h="10284795" w="10284795">
                <a:moveTo>
                  <a:pt x="0" y="0"/>
                </a:moveTo>
                <a:lnTo>
                  <a:pt x="10284795" y="0"/>
                </a:lnTo>
                <a:lnTo>
                  <a:pt x="10284795" y="10284795"/>
                </a:lnTo>
                <a:lnTo>
                  <a:pt x="0" y="10284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91230" y="-2914734"/>
            <a:ext cx="7886867" cy="7886867"/>
          </a:xfrm>
          <a:custGeom>
            <a:avLst/>
            <a:gdLst/>
            <a:ahLst/>
            <a:cxnLst/>
            <a:rect r="r" b="b" t="t" l="l"/>
            <a:pathLst>
              <a:path h="7886867" w="7886867">
                <a:moveTo>
                  <a:pt x="0" y="0"/>
                </a:moveTo>
                <a:lnTo>
                  <a:pt x="7886868" y="0"/>
                </a:lnTo>
                <a:lnTo>
                  <a:pt x="7886868" y="7886868"/>
                </a:lnTo>
                <a:lnTo>
                  <a:pt x="0" y="7886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2397" y="2341521"/>
            <a:ext cx="10074346" cy="7344443"/>
            <a:chOff x="0" y="0"/>
            <a:chExt cx="2500640" cy="18230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00640" cy="1823027"/>
            </a:xfrm>
            <a:custGeom>
              <a:avLst/>
              <a:gdLst/>
              <a:ahLst/>
              <a:cxnLst/>
              <a:rect r="r" b="b" t="t" l="l"/>
              <a:pathLst>
                <a:path h="1823027" w="2500640">
                  <a:moveTo>
                    <a:pt x="26897" y="0"/>
                  </a:moveTo>
                  <a:lnTo>
                    <a:pt x="2473744" y="0"/>
                  </a:lnTo>
                  <a:cubicBezTo>
                    <a:pt x="2488598" y="0"/>
                    <a:pt x="2500640" y="12042"/>
                    <a:pt x="2500640" y="26897"/>
                  </a:cubicBezTo>
                  <a:lnTo>
                    <a:pt x="2500640" y="1796131"/>
                  </a:lnTo>
                  <a:cubicBezTo>
                    <a:pt x="2500640" y="1810985"/>
                    <a:pt x="2488598" y="1823027"/>
                    <a:pt x="2473744" y="1823027"/>
                  </a:cubicBezTo>
                  <a:lnTo>
                    <a:pt x="26897" y="1823027"/>
                  </a:lnTo>
                  <a:cubicBezTo>
                    <a:pt x="19763" y="1823027"/>
                    <a:pt x="12922" y="1820194"/>
                    <a:pt x="7878" y="1815150"/>
                  </a:cubicBezTo>
                  <a:cubicBezTo>
                    <a:pt x="2834" y="1810105"/>
                    <a:pt x="0" y="1803264"/>
                    <a:pt x="0" y="1796131"/>
                  </a:cubicBezTo>
                  <a:lnTo>
                    <a:pt x="0" y="26897"/>
                  </a:lnTo>
                  <a:cubicBezTo>
                    <a:pt x="0" y="12042"/>
                    <a:pt x="12042" y="0"/>
                    <a:pt x="26897" y="0"/>
                  </a:cubicBezTo>
                  <a:close/>
                </a:path>
              </a:pathLst>
            </a:custGeom>
            <a:solidFill>
              <a:srgbClr val="FFFFFF"/>
            </a:solidFill>
            <a:ln w="142875" cap="rnd">
              <a:solidFill>
                <a:srgbClr val="34C473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500640" cy="187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557734" y="1490058"/>
            <a:ext cx="476876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true" rot="0">
            <a:off x="13008382" y="9842516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9599459">
            <a:off x="-1796507" y="-51139"/>
            <a:ext cx="3179613" cy="1196691"/>
          </a:xfrm>
          <a:custGeom>
            <a:avLst/>
            <a:gdLst/>
            <a:ahLst/>
            <a:cxnLst/>
            <a:rect r="r" b="b" t="t" l="l"/>
            <a:pathLst>
              <a:path h="1196691" w="3179613">
                <a:moveTo>
                  <a:pt x="0" y="0"/>
                </a:moveTo>
                <a:lnTo>
                  <a:pt x="3179613" y="0"/>
                </a:lnTo>
                <a:lnTo>
                  <a:pt x="3179613" y="1196691"/>
                </a:lnTo>
                <a:lnTo>
                  <a:pt x="0" y="11966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-10800000">
            <a:off x="15810037" y="96281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69" y="555239"/>
                </a:lnTo>
                <a:lnTo>
                  <a:pt x="1607269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7772179">
            <a:off x="16364282" y="9563720"/>
            <a:ext cx="2956793" cy="1112829"/>
          </a:xfrm>
          <a:custGeom>
            <a:avLst/>
            <a:gdLst/>
            <a:ahLst/>
            <a:cxnLst/>
            <a:rect r="r" b="b" t="t" l="l"/>
            <a:pathLst>
              <a:path h="1112829" w="2956793">
                <a:moveTo>
                  <a:pt x="0" y="0"/>
                </a:moveTo>
                <a:lnTo>
                  <a:pt x="2956794" y="0"/>
                </a:lnTo>
                <a:lnTo>
                  <a:pt x="2956794" y="1112830"/>
                </a:lnTo>
                <a:lnTo>
                  <a:pt x="0" y="11128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30923" y="2472865"/>
            <a:ext cx="8401720" cy="110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2989" b="true">
                <a:solidFill>
                  <a:srgbClr val="231F20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 the system was developed and works step-by-step.</a:t>
            </a:r>
          </a:p>
        </p:txBody>
      </p:sp>
      <p:sp>
        <p:nvSpPr>
          <p:cNvPr name="Freeform 13" id="13"/>
          <p:cNvSpPr/>
          <p:nvPr/>
        </p:nvSpPr>
        <p:spPr>
          <a:xfrm flipH="false" flipV="true" rot="-10800000">
            <a:off x="754099" y="9842516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1768529">
            <a:off x="9554247" y="2010131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6" y="0"/>
                </a:lnTo>
                <a:lnTo>
                  <a:pt x="1339516" y="1192168"/>
                </a:lnTo>
                <a:lnTo>
                  <a:pt x="0" y="11921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44000" y="96281"/>
            <a:ext cx="1702379" cy="1702379"/>
          </a:xfrm>
          <a:custGeom>
            <a:avLst/>
            <a:gdLst/>
            <a:ahLst/>
            <a:cxnLst/>
            <a:rect r="r" b="b" t="t" l="l"/>
            <a:pathLst>
              <a:path h="1702379" w="1702379">
                <a:moveTo>
                  <a:pt x="0" y="0"/>
                </a:moveTo>
                <a:lnTo>
                  <a:pt x="1702379" y="0"/>
                </a:lnTo>
                <a:lnTo>
                  <a:pt x="1702379" y="1702380"/>
                </a:lnTo>
                <a:lnTo>
                  <a:pt x="0" y="1702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846379" y="3395145"/>
            <a:ext cx="7093395" cy="5246370"/>
            <a:chOff x="0" y="0"/>
            <a:chExt cx="1098953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8953" cy="812800"/>
            </a:xfrm>
            <a:custGeom>
              <a:avLst/>
              <a:gdLst/>
              <a:ahLst/>
              <a:cxnLst/>
              <a:rect r="r" b="b" t="t" l="l"/>
              <a:pathLst>
                <a:path h="812800" w="1098953">
                  <a:moveTo>
                    <a:pt x="0" y="0"/>
                  </a:moveTo>
                  <a:lnTo>
                    <a:pt x="1098953" y="0"/>
                  </a:lnTo>
                  <a:lnTo>
                    <a:pt x="109895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2"/>
              <a:stretch>
                <a:fillRect l="-2454" t="0" r="-2454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91878" y="231488"/>
            <a:ext cx="9608499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34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Methodology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4869" y="3701864"/>
            <a:ext cx="9431491" cy="569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5642" indent="-292821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The system was developed in a modular way, starting with secure user authentication and role-based access for employees and admins.</a:t>
            </a:r>
          </a:p>
          <a:p>
            <a:pPr algn="l">
              <a:lnSpc>
                <a:spcPts val="3797"/>
              </a:lnSpc>
            </a:pPr>
          </a:p>
          <a:p>
            <a:pPr algn="l" marL="585642" indent="-292821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After that, the frontend, backend, and database were connected to manage wellness records, analytics, and user interactions smoothly.</a:t>
            </a:r>
          </a:p>
          <a:p>
            <a:pPr algn="l">
              <a:lnSpc>
                <a:spcPts val="3797"/>
              </a:lnSpc>
            </a:pPr>
          </a:p>
          <a:p>
            <a:pPr algn="l" marL="585642" indent="-292821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Finally, AI-based features such as risk prediction, recommendations, sentiment analysis, performance analytics, and chatbot support were added to make the platform smarter and more useful.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01426" y="2492377"/>
            <a:ext cx="781547" cy="781547"/>
          </a:xfrm>
          <a:custGeom>
            <a:avLst/>
            <a:gdLst/>
            <a:ahLst/>
            <a:cxnLst/>
            <a:rect r="r" b="b" t="t" l="l"/>
            <a:pathLst>
              <a:path h="781547" w="781547">
                <a:moveTo>
                  <a:pt x="0" y="0"/>
                </a:moveTo>
                <a:lnTo>
                  <a:pt x="781547" y="0"/>
                </a:lnTo>
                <a:lnTo>
                  <a:pt x="781547" y="781547"/>
                </a:lnTo>
                <a:lnTo>
                  <a:pt x="0" y="78154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46379" y="53335"/>
            <a:ext cx="10284795" cy="10284795"/>
          </a:xfrm>
          <a:custGeom>
            <a:avLst/>
            <a:gdLst/>
            <a:ahLst/>
            <a:cxnLst/>
            <a:rect r="r" b="b" t="t" l="l"/>
            <a:pathLst>
              <a:path h="10284795" w="10284795">
                <a:moveTo>
                  <a:pt x="0" y="0"/>
                </a:moveTo>
                <a:lnTo>
                  <a:pt x="10284795" y="0"/>
                </a:lnTo>
                <a:lnTo>
                  <a:pt x="10284795" y="10284795"/>
                </a:lnTo>
                <a:lnTo>
                  <a:pt x="0" y="10284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25107" y="2174043"/>
            <a:ext cx="10899006" cy="7668473"/>
            <a:chOff x="0" y="0"/>
            <a:chExt cx="2705336" cy="19034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5336" cy="1903458"/>
            </a:xfrm>
            <a:custGeom>
              <a:avLst/>
              <a:gdLst/>
              <a:ahLst/>
              <a:cxnLst/>
              <a:rect r="r" b="b" t="t" l="l"/>
              <a:pathLst>
                <a:path h="1903458" w="2705336">
                  <a:moveTo>
                    <a:pt x="24862" y="0"/>
                  </a:moveTo>
                  <a:lnTo>
                    <a:pt x="2680475" y="0"/>
                  </a:lnTo>
                  <a:cubicBezTo>
                    <a:pt x="2694206" y="0"/>
                    <a:pt x="2705336" y="11131"/>
                    <a:pt x="2705336" y="24862"/>
                  </a:cubicBezTo>
                  <a:lnTo>
                    <a:pt x="2705336" y="1878596"/>
                  </a:lnTo>
                  <a:cubicBezTo>
                    <a:pt x="2705336" y="1885190"/>
                    <a:pt x="2702717" y="1891514"/>
                    <a:pt x="2698055" y="1896176"/>
                  </a:cubicBezTo>
                  <a:cubicBezTo>
                    <a:pt x="2693392" y="1900838"/>
                    <a:pt x="2687069" y="1903458"/>
                    <a:pt x="2680475" y="1903458"/>
                  </a:cubicBezTo>
                  <a:lnTo>
                    <a:pt x="24862" y="1903458"/>
                  </a:lnTo>
                  <a:cubicBezTo>
                    <a:pt x="11131" y="1903458"/>
                    <a:pt x="0" y="1892327"/>
                    <a:pt x="0" y="1878596"/>
                  </a:cubicBezTo>
                  <a:lnTo>
                    <a:pt x="0" y="24862"/>
                  </a:lnTo>
                  <a:cubicBezTo>
                    <a:pt x="0" y="11131"/>
                    <a:pt x="11131" y="0"/>
                    <a:pt x="24862" y="0"/>
                  </a:cubicBezTo>
                  <a:close/>
                </a:path>
              </a:pathLst>
            </a:custGeom>
            <a:solidFill>
              <a:srgbClr val="FFFFFF"/>
            </a:solidFill>
            <a:ln w="142875" cap="rnd">
              <a:solidFill>
                <a:srgbClr val="34C47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705336" cy="1951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37643" y="2404309"/>
            <a:ext cx="781547" cy="781547"/>
          </a:xfrm>
          <a:custGeom>
            <a:avLst/>
            <a:gdLst/>
            <a:ahLst/>
            <a:cxnLst/>
            <a:rect r="r" b="b" t="t" l="l"/>
            <a:pathLst>
              <a:path h="781547" w="781547">
                <a:moveTo>
                  <a:pt x="0" y="0"/>
                </a:moveTo>
                <a:lnTo>
                  <a:pt x="781547" y="0"/>
                </a:lnTo>
                <a:lnTo>
                  <a:pt x="781547" y="781546"/>
                </a:lnTo>
                <a:lnTo>
                  <a:pt x="0" y="781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772179">
            <a:off x="16364282" y="9563720"/>
            <a:ext cx="2956793" cy="1112829"/>
          </a:xfrm>
          <a:custGeom>
            <a:avLst/>
            <a:gdLst/>
            <a:ahLst/>
            <a:cxnLst/>
            <a:rect r="r" b="b" t="t" l="l"/>
            <a:pathLst>
              <a:path h="1112829" w="2956793">
                <a:moveTo>
                  <a:pt x="0" y="0"/>
                </a:moveTo>
                <a:lnTo>
                  <a:pt x="2956794" y="0"/>
                </a:lnTo>
                <a:lnTo>
                  <a:pt x="2956794" y="1112830"/>
                </a:lnTo>
                <a:lnTo>
                  <a:pt x="0" y="11128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10800000">
            <a:off x="8109752" y="53335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69" y="555239"/>
                </a:lnTo>
                <a:lnTo>
                  <a:pt x="1607269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531633" y="1876662"/>
            <a:ext cx="476876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true" rot="10662466">
            <a:off x="12499888" y="9736013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40548" y="3467362"/>
            <a:ext cx="4903971" cy="5081835"/>
          </a:xfrm>
          <a:custGeom>
            <a:avLst/>
            <a:gdLst/>
            <a:ahLst/>
            <a:cxnLst/>
            <a:rect r="r" b="b" t="t" l="l"/>
            <a:pathLst>
              <a:path h="5081835" w="4903971">
                <a:moveTo>
                  <a:pt x="0" y="0"/>
                </a:moveTo>
                <a:lnTo>
                  <a:pt x="4903971" y="0"/>
                </a:lnTo>
                <a:lnTo>
                  <a:pt x="4903971" y="5081835"/>
                </a:lnTo>
                <a:lnTo>
                  <a:pt x="0" y="50818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599459">
            <a:off x="-1796507" y="-51139"/>
            <a:ext cx="3179613" cy="1196691"/>
          </a:xfrm>
          <a:custGeom>
            <a:avLst/>
            <a:gdLst/>
            <a:ahLst/>
            <a:cxnLst/>
            <a:rect r="r" b="b" t="t" l="l"/>
            <a:pathLst>
              <a:path h="1196691" w="3179613">
                <a:moveTo>
                  <a:pt x="0" y="0"/>
                </a:moveTo>
                <a:lnTo>
                  <a:pt x="3179613" y="0"/>
                </a:lnTo>
                <a:lnTo>
                  <a:pt x="3179613" y="1196691"/>
                </a:lnTo>
                <a:lnTo>
                  <a:pt x="0" y="11966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-10800000">
            <a:off x="754099" y="9842516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489427" y="311548"/>
            <a:ext cx="2948941" cy="1843088"/>
          </a:xfrm>
          <a:custGeom>
            <a:avLst/>
            <a:gdLst/>
            <a:ahLst/>
            <a:cxnLst/>
            <a:rect r="r" b="b" t="t" l="l"/>
            <a:pathLst>
              <a:path h="1843088" w="2948941">
                <a:moveTo>
                  <a:pt x="0" y="0"/>
                </a:moveTo>
                <a:lnTo>
                  <a:pt x="2948941" y="0"/>
                </a:lnTo>
                <a:lnTo>
                  <a:pt x="2948941" y="1843089"/>
                </a:lnTo>
                <a:lnTo>
                  <a:pt x="0" y="18430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91878" y="515231"/>
            <a:ext cx="10513100" cy="117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0"/>
              </a:lnSpc>
            </a:pPr>
            <a:r>
              <a:rPr lang="en-US" sz="6100" spc="122" b="true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Software Specification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4793" y="3723027"/>
            <a:ext cx="9851586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Flask API with Python and NodeJs.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Database: MongoDB.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Authentication: JWT and bcrypt for secure login and password handling.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Tools/Libraries: React Router, Flask-CORS, PyMongo, and ML libraries for wellness analytics.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03227" y="2335643"/>
            <a:ext cx="8816266" cy="1347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0"/>
              </a:lnSpc>
            </a:pPr>
            <a:r>
              <a:rPr lang="en-US" sz="3578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Software Requirements to run on local machine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239136" y="-203514"/>
            <a:ext cx="10478271" cy="1047827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8D1D9">
                <a:alpha val="3882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56681" y="1678295"/>
            <a:ext cx="7002619" cy="6267344"/>
          </a:xfrm>
          <a:custGeom>
            <a:avLst/>
            <a:gdLst/>
            <a:ahLst/>
            <a:cxnLst/>
            <a:rect r="r" b="b" t="t" l="l"/>
            <a:pathLst>
              <a:path h="6267344" w="7002619">
                <a:moveTo>
                  <a:pt x="0" y="0"/>
                </a:moveTo>
                <a:lnTo>
                  <a:pt x="7002619" y="0"/>
                </a:lnTo>
                <a:lnTo>
                  <a:pt x="7002619" y="6267344"/>
                </a:lnTo>
                <a:lnTo>
                  <a:pt x="0" y="6267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8913975" y="323801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8913975" y="971951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794588">
            <a:off x="16147276" y="8451282"/>
            <a:ext cx="2224048" cy="1145385"/>
          </a:xfrm>
          <a:custGeom>
            <a:avLst/>
            <a:gdLst/>
            <a:ahLst/>
            <a:cxnLst/>
            <a:rect r="r" b="b" t="t" l="l"/>
            <a:pathLst>
              <a:path h="1145385" w="2224048">
                <a:moveTo>
                  <a:pt x="0" y="0"/>
                </a:moveTo>
                <a:lnTo>
                  <a:pt x="2224048" y="0"/>
                </a:lnTo>
                <a:lnTo>
                  <a:pt x="2224048" y="1145384"/>
                </a:lnTo>
                <a:lnTo>
                  <a:pt x="0" y="11453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45366" y="3991314"/>
            <a:ext cx="2282640" cy="2088615"/>
          </a:xfrm>
          <a:custGeom>
            <a:avLst/>
            <a:gdLst/>
            <a:ahLst/>
            <a:cxnLst/>
            <a:rect r="r" b="b" t="t" l="l"/>
            <a:pathLst>
              <a:path h="2088615" w="2282640">
                <a:moveTo>
                  <a:pt x="0" y="0"/>
                </a:moveTo>
                <a:lnTo>
                  <a:pt x="2282640" y="0"/>
                </a:lnTo>
                <a:lnTo>
                  <a:pt x="2282640" y="2088615"/>
                </a:lnTo>
                <a:lnTo>
                  <a:pt x="0" y="20886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2356875"/>
            <a:ext cx="9371242" cy="504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spc="184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Core</a:t>
            </a:r>
          </a:p>
          <a:p>
            <a:pPr algn="ctr">
              <a:lnSpc>
                <a:spcPts val="12880"/>
              </a:lnSpc>
            </a:pPr>
          </a:p>
          <a:p>
            <a:pPr algn="ctr">
              <a:lnSpc>
                <a:spcPts val="12880"/>
              </a:lnSpc>
            </a:pPr>
            <a:r>
              <a:rPr lang="en-US" b="true" sz="9200" spc="184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Modules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5035" y="-5609241"/>
            <a:ext cx="13275882" cy="13275882"/>
          </a:xfrm>
          <a:custGeom>
            <a:avLst/>
            <a:gdLst/>
            <a:ahLst/>
            <a:cxnLst/>
            <a:rect r="r" b="b" t="t" l="l"/>
            <a:pathLst>
              <a:path h="13275882" w="13275882">
                <a:moveTo>
                  <a:pt x="0" y="0"/>
                </a:moveTo>
                <a:lnTo>
                  <a:pt x="13275882" y="0"/>
                </a:lnTo>
                <a:lnTo>
                  <a:pt x="13275882" y="13275882"/>
                </a:lnTo>
                <a:lnTo>
                  <a:pt x="0" y="132758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905178" y="279819"/>
            <a:ext cx="9594125" cy="3917235"/>
            <a:chOff x="0" y="0"/>
            <a:chExt cx="2381441" cy="9723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81441" cy="972331"/>
            </a:xfrm>
            <a:custGeom>
              <a:avLst/>
              <a:gdLst/>
              <a:ahLst/>
              <a:cxnLst/>
              <a:rect r="r" b="b" t="t" l="l"/>
              <a:pathLst>
                <a:path h="972331" w="2381441">
                  <a:moveTo>
                    <a:pt x="28243" y="0"/>
                  </a:moveTo>
                  <a:lnTo>
                    <a:pt x="2353198" y="0"/>
                  </a:lnTo>
                  <a:cubicBezTo>
                    <a:pt x="2360688" y="0"/>
                    <a:pt x="2367872" y="2976"/>
                    <a:pt x="2373169" y="8272"/>
                  </a:cubicBezTo>
                  <a:cubicBezTo>
                    <a:pt x="2378465" y="13569"/>
                    <a:pt x="2381441" y="20753"/>
                    <a:pt x="2381441" y="28243"/>
                  </a:cubicBezTo>
                  <a:lnTo>
                    <a:pt x="2381441" y="944088"/>
                  </a:lnTo>
                  <a:cubicBezTo>
                    <a:pt x="2381441" y="959686"/>
                    <a:pt x="2368796" y="972331"/>
                    <a:pt x="2353198" y="972331"/>
                  </a:cubicBezTo>
                  <a:lnTo>
                    <a:pt x="28243" y="972331"/>
                  </a:lnTo>
                  <a:cubicBezTo>
                    <a:pt x="20753" y="972331"/>
                    <a:pt x="13569" y="969355"/>
                    <a:pt x="8272" y="964058"/>
                  </a:cubicBezTo>
                  <a:cubicBezTo>
                    <a:pt x="2976" y="958762"/>
                    <a:pt x="0" y="951578"/>
                    <a:pt x="0" y="944088"/>
                  </a:cubicBezTo>
                  <a:lnTo>
                    <a:pt x="0" y="28243"/>
                  </a:lnTo>
                  <a:cubicBezTo>
                    <a:pt x="0" y="20753"/>
                    <a:pt x="2976" y="13569"/>
                    <a:pt x="8272" y="8272"/>
                  </a:cubicBezTo>
                  <a:cubicBezTo>
                    <a:pt x="13569" y="2976"/>
                    <a:pt x="20753" y="0"/>
                    <a:pt x="28243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81441" cy="1019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558" y="3882163"/>
            <a:ext cx="5300263" cy="6404837"/>
            <a:chOff x="0" y="0"/>
            <a:chExt cx="925195" cy="11180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5195" cy="1118006"/>
            </a:xfrm>
            <a:custGeom>
              <a:avLst/>
              <a:gdLst/>
              <a:ahLst/>
              <a:cxnLst/>
              <a:rect r="r" b="b" t="t" l="l"/>
              <a:pathLst>
                <a:path h="1118006" w="925195">
                  <a:moveTo>
                    <a:pt x="51123" y="0"/>
                  </a:moveTo>
                  <a:lnTo>
                    <a:pt x="874072" y="0"/>
                  </a:lnTo>
                  <a:cubicBezTo>
                    <a:pt x="902306" y="0"/>
                    <a:pt x="925195" y="22889"/>
                    <a:pt x="925195" y="51123"/>
                  </a:cubicBezTo>
                  <a:lnTo>
                    <a:pt x="925195" y="1066882"/>
                  </a:lnTo>
                  <a:cubicBezTo>
                    <a:pt x="925195" y="1095117"/>
                    <a:pt x="902306" y="1118006"/>
                    <a:pt x="874072" y="1118006"/>
                  </a:cubicBezTo>
                  <a:lnTo>
                    <a:pt x="51123" y="1118006"/>
                  </a:lnTo>
                  <a:cubicBezTo>
                    <a:pt x="37565" y="1118006"/>
                    <a:pt x="24561" y="1112619"/>
                    <a:pt x="14974" y="1103032"/>
                  </a:cubicBezTo>
                  <a:cubicBezTo>
                    <a:pt x="5386" y="1093444"/>
                    <a:pt x="0" y="1080441"/>
                    <a:pt x="0" y="1066882"/>
                  </a:cubicBezTo>
                  <a:lnTo>
                    <a:pt x="0" y="51123"/>
                  </a:lnTo>
                  <a:cubicBezTo>
                    <a:pt x="0" y="37565"/>
                    <a:pt x="5386" y="24561"/>
                    <a:pt x="14974" y="14974"/>
                  </a:cubicBezTo>
                  <a:cubicBezTo>
                    <a:pt x="24561" y="5386"/>
                    <a:pt x="37565" y="0"/>
                    <a:pt x="5112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95" r="0" b="-295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true" rot="2474606">
            <a:off x="-1221736" y="-367855"/>
            <a:ext cx="2758590" cy="1038233"/>
          </a:xfrm>
          <a:custGeom>
            <a:avLst/>
            <a:gdLst/>
            <a:ahLst/>
            <a:cxnLst/>
            <a:rect r="r" b="b" t="t" l="l"/>
            <a:pathLst>
              <a:path h="1038233" w="2758590">
                <a:moveTo>
                  <a:pt x="0" y="1038233"/>
                </a:moveTo>
                <a:lnTo>
                  <a:pt x="2758589" y="1038233"/>
                </a:lnTo>
                <a:lnTo>
                  <a:pt x="2758589" y="0"/>
                </a:lnTo>
                <a:lnTo>
                  <a:pt x="0" y="0"/>
                </a:lnTo>
                <a:lnTo>
                  <a:pt x="0" y="103823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651183" y="3584779"/>
            <a:ext cx="459607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5866255" y="973176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37289" y="5236023"/>
            <a:ext cx="7682283" cy="7682283"/>
          </a:xfrm>
          <a:custGeom>
            <a:avLst/>
            <a:gdLst/>
            <a:ahLst/>
            <a:cxnLst/>
            <a:rect r="r" b="b" t="t" l="l"/>
            <a:pathLst>
              <a:path h="7682283" w="7682283">
                <a:moveTo>
                  <a:pt x="0" y="0"/>
                </a:moveTo>
                <a:lnTo>
                  <a:pt x="7682284" y="0"/>
                </a:lnTo>
                <a:lnTo>
                  <a:pt x="7682284" y="7682283"/>
                </a:lnTo>
                <a:lnTo>
                  <a:pt x="0" y="7682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7886606">
            <a:off x="16487583" y="9382258"/>
            <a:ext cx="2023440" cy="699007"/>
          </a:xfrm>
          <a:custGeom>
            <a:avLst/>
            <a:gdLst/>
            <a:ahLst/>
            <a:cxnLst/>
            <a:rect r="r" b="b" t="t" l="l"/>
            <a:pathLst>
              <a:path h="699007" w="2023440">
                <a:moveTo>
                  <a:pt x="0" y="699007"/>
                </a:moveTo>
                <a:lnTo>
                  <a:pt x="2023441" y="699007"/>
                </a:lnTo>
                <a:lnTo>
                  <a:pt x="2023441" y="0"/>
                </a:lnTo>
                <a:lnTo>
                  <a:pt x="0" y="0"/>
                </a:lnTo>
                <a:lnTo>
                  <a:pt x="0" y="699007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937228" y="4292304"/>
            <a:ext cx="5507204" cy="6023271"/>
            <a:chOff x="0" y="0"/>
            <a:chExt cx="921416" cy="10077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1416" cy="1007759"/>
            </a:xfrm>
            <a:custGeom>
              <a:avLst/>
              <a:gdLst/>
              <a:ahLst/>
              <a:cxnLst/>
              <a:rect r="r" b="b" t="t" l="l"/>
              <a:pathLst>
                <a:path h="1007759" w="921416">
                  <a:moveTo>
                    <a:pt x="19681" y="0"/>
                  </a:moveTo>
                  <a:lnTo>
                    <a:pt x="901735" y="0"/>
                  </a:lnTo>
                  <a:cubicBezTo>
                    <a:pt x="912604" y="0"/>
                    <a:pt x="921416" y="8811"/>
                    <a:pt x="921416" y="19681"/>
                  </a:cubicBezTo>
                  <a:lnTo>
                    <a:pt x="921416" y="988078"/>
                  </a:lnTo>
                  <a:cubicBezTo>
                    <a:pt x="921416" y="998948"/>
                    <a:pt x="912604" y="1007759"/>
                    <a:pt x="901735" y="1007759"/>
                  </a:cubicBezTo>
                  <a:lnTo>
                    <a:pt x="19681" y="1007759"/>
                  </a:lnTo>
                  <a:cubicBezTo>
                    <a:pt x="8811" y="1007759"/>
                    <a:pt x="0" y="998948"/>
                    <a:pt x="0" y="988078"/>
                  </a:cubicBezTo>
                  <a:lnTo>
                    <a:pt x="0" y="19681"/>
                  </a:lnTo>
                  <a:cubicBezTo>
                    <a:pt x="0" y="8811"/>
                    <a:pt x="8811" y="0"/>
                    <a:pt x="19681" y="0"/>
                  </a:cubicBezTo>
                  <a:close/>
                </a:path>
              </a:pathLst>
            </a:custGeom>
            <a:blipFill>
              <a:blip r:embed="rId9"/>
              <a:stretch>
                <a:fillRect l="-8197" t="0" r="-8197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8032302" y="364866"/>
            <a:ext cx="551308" cy="551308"/>
          </a:xfrm>
          <a:custGeom>
            <a:avLst/>
            <a:gdLst/>
            <a:ahLst/>
            <a:cxnLst/>
            <a:rect r="r" b="b" t="t" l="l"/>
            <a:pathLst>
              <a:path h="551308" w="551308">
                <a:moveTo>
                  <a:pt x="0" y="0"/>
                </a:moveTo>
                <a:lnTo>
                  <a:pt x="551308" y="0"/>
                </a:lnTo>
                <a:lnTo>
                  <a:pt x="551308" y="551309"/>
                </a:lnTo>
                <a:lnTo>
                  <a:pt x="0" y="5513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768529">
            <a:off x="16662280" y="6336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6" y="0"/>
                </a:lnTo>
                <a:lnTo>
                  <a:pt x="1339516" y="1192169"/>
                </a:lnTo>
                <a:lnTo>
                  <a:pt x="0" y="11921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590067" y="5420106"/>
            <a:ext cx="3160834" cy="1770067"/>
          </a:xfrm>
          <a:custGeom>
            <a:avLst/>
            <a:gdLst/>
            <a:ahLst/>
            <a:cxnLst/>
            <a:rect r="r" b="b" t="t" l="l"/>
            <a:pathLst>
              <a:path h="1770067" w="3160834">
                <a:moveTo>
                  <a:pt x="0" y="0"/>
                </a:moveTo>
                <a:lnTo>
                  <a:pt x="3160834" y="0"/>
                </a:lnTo>
                <a:lnTo>
                  <a:pt x="3160834" y="1770067"/>
                </a:lnTo>
                <a:lnTo>
                  <a:pt x="0" y="17700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570835" y="5773805"/>
            <a:ext cx="1824693" cy="2085363"/>
          </a:xfrm>
          <a:custGeom>
            <a:avLst/>
            <a:gdLst/>
            <a:ahLst/>
            <a:cxnLst/>
            <a:rect r="r" b="b" t="t" l="l"/>
            <a:pathLst>
              <a:path h="2085363" w="1824693">
                <a:moveTo>
                  <a:pt x="0" y="0"/>
                </a:moveTo>
                <a:lnTo>
                  <a:pt x="1824693" y="0"/>
                </a:lnTo>
                <a:lnTo>
                  <a:pt x="1824693" y="2085364"/>
                </a:lnTo>
                <a:lnTo>
                  <a:pt x="0" y="208536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032302" y="953234"/>
            <a:ext cx="9467002" cy="319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778" indent="-277889" lvl="1">
              <a:lnSpc>
                <a:spcPts val="3603"/>
              </a:lnSpc>
              <a:buFont typeface="Arial"/>
              <a:buChar char="•"/>
            </a:pPr>
            <a:r>
              <a:rPr lang="en-US" sz="257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User l</a:t>
            </a:r>
            <a:r>
              <a:rPr lang="en-US" sz="257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ogin with email and password.</a:t>
            </a:r>
          </a:p>
          <a:p>
            <a:pPr algn="l" marL="555778" indent="-277889" lvl="1">
              <a:lnSpc>
                <a:spcPts val="3603"/>
              </a:lnSpc>
              <a:buFont typeface="Arial"/>
              <a:buChar char="•"/>
            </a:pPr>
            <a:r>
              <a:rPr lang="en-US" sz="257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User registration with required fields.</a:t>
            </a:r>
          </a:p>
          <a:p>
            <a:pPr algn="l" marL="555778" indent="-277889" lvl="1">
              <a:lnSpc>
                <a:spcPts val="3603"/>
              </a:lnSpc>
              <a:buFont typeface="Arial"/>
              <a:buChar char="•"/>
            </a:pPr>
            <a:r>
              <a:rPr lang="en-US" sz="257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Remember me option in login form.</a:t>
            </a:r>
          </a:p>
          <a:p>
            <a:pPr algn="l" marL="555778" indent="-277889" lvl="1">
              <a:lnSpc>
                <a:spcPts val="3603"/>
              </a:lnSpc>
              <a:buFont typeface="Arial"/>
              <a:buChar char="•"/>
            </a:pPr>
            <a:r>
              <a:rPr lang="en-US" sz="257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Forgot password flow with email, OTP, and reset password steps in the frontend prototype.</a:t>
            </a:r>
          </a:p>
          <a:p>
            <a:pPr algn="l" marL="555778" indent="-277889" lvl="1">
              <a:lnSpc>
                <a:spcPts val="3603"/>
              </a:lnSpc>
              <a:buFont typeface="Arial"/>
              <a:buChar char="•"/>
            </a:pPr>
            <a:r>
              <a:rPr lang="en-US" sz="2574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Role-based redirect to user or admin dashboard after authentication.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3339" y="-47625"/>
            <a:ext cx="6939414" cy="3518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2"/>
              </a:lnSpc>
            </a:pPr>
            <a:r>
              <a:rPr lang="en-US" b="true" sz="6542" spc="163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Login </a:t>
            </a:r>
          </a:p>
          <a:p>
            <a:pPr algn="ctr">
              <a:lnSpc>
                <a:spcPts val="6542"/>
              </a:lnSpc>
            </a:pPr>
            <a:r>
              <a:rPr lang="en-US" b="true" sz="6542" spc="163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&amp; </a:t>
            </a:r>
          </a:p>
          <a:p>
            <a:pPr algn="ctr">
              <a:lnSpc>
                <a:spcPts val="6542"/>
              </a:lnSpc>
            </a:pPr>
            <a:r>
              <a:rPr lang="en-US" b="true" sz="6542" spc="163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SignUp</a:t>
            </a:r>
          </a:p>
          <a:p>
            <a:pPr algn="ctr">
              <a:lnSpc>
                <a:spcPts val="6542"/>
              </a:lnSpc>
            </a:pPr>
            <a:r>
              <a:rPr lang="en-US" b="true" sz="6542" spc="163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Module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41978" y="260091"/>
            <a:ext cx="497233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SignUp and SignIn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93534">
            <a:off x="-370008" y="3818398"/>
            <a:ext cx="1972648" cy="681460"/>
          </a:xfrm>
          <a:custGeom>
            <a:avLst/>
            <a:gdLst/>
            <a:ahLst/>
            <a:cxnLst/>
            <a:rect r="r" b="b" t="t" l="l"/>
            <a:pathLst>
              <a:path h="681460" w="1972648">
                <a:moveTo>
                  <a:pt x="0" y="0"/>
                </a:moveTo>
                <a:lnTo>
                  <a:pt x="1972648" y="0"/>
                </a:lnTo>
                <a:lnTo>
                  <a:pt x="1972648" y="681461"/>
                </a:lnTo>
                <a:lnTo>
                  <a:pt x="0" y="6814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47614" y="-2545020"/>
            <a:ext cx="12832020" cy="12832020"/>
          </a:xfrm>
          <a:custGeom>
            <a:avLst/>
            <a:gdLst/>
            <a:ahLst/>
            <a:cxnLst/>
            <a:rect r="r" b="b" t="t" l="l"/>
            <a:pathLst>
              <a:path h="12832020" w="12832020">
                <a:moveTo>
                  <a:pt x="0" y="0"/>
                </a:moveTo>
                <a:lnTo>
                  <a:pt x="12832020" y="0"/>
                </a:lnTo>
                <a:lnTo>
                  <a:pt x="12832020" y="12832020"/>
                </a:lnTo>
                <a:lnTo>
                  <a:pt x="0" y="128320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650941" y="1049652"/>
            <a:ext cx="10319581" cy="2720834"/>
            <a:chOff x="0" y="0"/>
            <a:chExt cx="2561512" cy="675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1512" cy="675362"/>
            </a:xfrm>
            <a:custGeom>
              <a:avLst/>
              <a:gdLst/>
              <a:ahLst/>
              <a:cxnLst/>
              <a:rect r="r" b="b" t="t" l="l"/>
              <a:pathLst>
                <a:path h="675362" w="2561512">
                  <a:moveTo>
                    <a:pt x="26258" y="0"/>
                  </a:moveTo>
                  <a:lnTo>
                    <a:pt x="2535255" y="0"/>
                  </a:lnTo>
                  <a:cubicBezTo>
                    <a:pt x="2549756" y="0"/>
                    <a:pt x="2561512" y="11756"/>
                    <a:pt x="2561512" y="26258"/>
                  </a:cubicBezTo>
                  <a:lnTo>
                    <a:pt x="2561512" y="649104"/>
                  </a:lnTo>
                  <a:cubicBezTo>
                    <a:pt x="2561512" y="656068"/>
                    <a:pt x="2558746" y="662747"/>
                    <a:pt x="2553822" y="667671"/>
                  </a:cubicBezTo>
                  <a:cubicBezTo>
                    <a:pt x="2548897" y="672595"/>
                    <a:pt x="2542219" y="675362"/>
                    <a:pt x="2535255" y="675362"/>
                  </a:cubicBezTo>
                  <a:lnTo>
                    <a:pt x="26258" y="675362"/>
                  </a:lnTo>
                  <a:cubicBezTo>
                    <a:pt x="19294" y="675362"/>
                    <a:pt x="12615" y="672595"/>
                    <a:pt x="7691" y="667671"/>
                  </a:cubicBezTo>
                  <a:cubicBezTo>
                    <a:pt x="2766" y="662747"/>
                    <a:pt x="0" y="656068"/>
                    <a:pt x="0" y="649104"/>
                  </a:cubicBezTo>
                  <a:lnTo>
                    <a:pt x="0" y="26258"/>
                  </a:lnTo>
                  <a:cubicBezTo>
                    <a:pt x="0" y="19294"/>
                    <a:pt x="2766" y="12615"/>
                    <a:pt x="7691" y="7691"/>
                  </a:cubicBezTo>
                  <a:cubicBezTo>
                    <a:pt x="12615" y="2766"/>
                    <a:pt x="19294" y="0"/>
                    <a:pt x="26258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561512" cy="722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954545" y="-11789"/>
            <a:ext cx="4707986" cy="8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500" spc="198" b="true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Database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503861">
            <a:off x="17206481" y="3129009"/>
            <a:ext cx="1770457" cy="666336"/>
          </a:xfrm>
          <a:custGeom>
            <a:avLst/>
            <a:gdLst/>
            <a:ahLst/>
            <a:cxnLst/>
            <a:rect r="r" b="b" t="t" l="l"/>
            <a:pathLst>
              <a:path h="666336" w="1770457">
                <a:moveTo>
                  <a:pt x="0" y="0"/>
                </a:moveTo>
                <a:lnTo>
                  <a:pt x="1770457" y="0"/>
                </a:lnTo>
                <a:lnTo>
                  <a:pt x="1770457" y="666335"/>
                </a:lnTo>
                <a:lnTo>
                  <a:pt x="0" y="6663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2983120" y="880388"/>
            <a:ext cx="383228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true" rot="2700000">
            <a:off x="-472256" y="9355710"/>
            <a:ext cx="2177142" cy="752104"/>
          </a:xfrm>
          <a:custGeom>
            <a:avLst/>
            <a:gdLst/>
            <a:ahLst/>
            <a:cxnLst/>
            <a:rect r="r" b="b" t="t" l="l"/>
            <a:pathLst>
              <a:path h="752104" w="2177142">
                <a:moveTo>
                  <a:pt x="0" y="752103"/>
                </a:moveTo>
                <a:lnTo>
                  <a:pt x="2177143" y="752103"/>
                </a:lnTo>
                <a:lnTo>
                  <a:pt x="2177143" y="0"/>
                </a:lnTo>
                <a:lnTo>
                  <a:pt x="0" y="0"/>
                </a:lnTo>
                <a:lnTo>
                  <a:pt x="0" y="75210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37289" y="5236023"/>
            <a:ext cx="7682283" cy="7682283"/>
          </a:xfrm>
          <a:custGeom>
            <a:avLst/>
            <a:gdLst/>
            <a:ahLst/>
            <a:cxnLst/>
            <a:rect r="r" b="b" t="t" l="l"/>
            <a:pathLst>
              <a:path h="7682283" w="7682283">
                <a:moveTo>
                  <a:pt x="0" y="0"/>
                </a:moveTo>
                <a:lnTo>
                  <a:pt x="7682284" y="0"/>
                </a:lnTo>
                <a:lnTo>
                  <a:pt x="7682284" y="7682283"/>
                </a:lnTo>
                <a:lnTo>
                  <a:pt x="0" y="7682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680016" y="973176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31661" y="3894311"/>
            <a:ext cx="15467249" cy="6356615"/>
            <a:chOff x="0" y="0"/>
            <a:chExt cx="1366507" cy="5615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66507" cy="561597"/>
            </a:xfrm>
            <a:custGeom>
              <a:avLst/>
              <a:gdLst/>
              <a:ahLst/>
              <a:cxnLst/>
              <a:rect r="r" b="b" t="t" l="l"/>
              <a:pathLst>
                <a:path h="561597" w="1366507">
                  <a:moveTo>
                    <a:pt x="7008" y="0"/>
                  </a:moveTo>
                  <a:lnTo>
                    <a:pt x="1359500" y="0"/>
                  </a:lnTo>
                  <a:cubicBezTo>
                    <a:pt x="1361358" y="0"/>
                    <a:pt x="1363141" y="738"/>
                    <a:pt x="1364455" y="2052"/>
                  </a:cubicBezTo>
                  <a:cubicBezTo>
                    <a:pt x="1365769" y="3367"/>
                    <a:pt x="1366507" y="5149"/>
                    <a:pt x="1366507" y="7008"/>
                  </a:cubicBezTo>
                  <a:lnTo>
                    <a:pt x="1366507" y="554590"/>
                  </a:lnTo>
                  <a:cubicBezTo>
                    <a:pt x="1366507" y="556448"/>
                    <a:pt x="1365769" y="558230"/>
                    <a:pt x="1364455" y="559545"/>
                  </a:cubicBezTo>
                  <a:cubicBezTo>
                    <a:pt x="1363141" y="560859"/>
                    <a:pt x="1361358" y="561597"/>
                    <a:pt x="1359500" y="561597"/>
                  </a:cubicBezTo>
                  <a:lnTo>
                    <a:pt x="7008" y="561597"/>
                  </a:lnTo>
                  <a:cubicBezTo>
                    <a:pt x="5149" y="561597"/>
                    <a:pt x="3367" y="560859"/>
                    <a:pt x="2052" y="559545"/>
                  </a:cubicBezTo>
                  <a:cubicBezTo>
                    <a:pt x="738" y="558230"/>
                    <a:pt x="0" y="556448"/>
                    <a:pt x="0" y="554590"/>
                  </a:cubicBezTo>
                  <a:lnTo>
                    <a:pt x="0" y="7008"/>
                  </a:lnTo>
                  <a:cubicBezTo>
                    <a:pt x="0" y="5149"/>
                    <a:pt x="738" y="3367"/>
                    <a:pt x="2052" y="2052"/>
                  </a:cubicBezTo>
                  <a:cubicBezTo>
                    <a:pt x="3367" y="738"/>
                    <a:pt x="5149" y="0"/>
                    <a:pt x="7008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22" r="0" b="-122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323785" y="136724"/>
            <a:ext cx="1615751" cy="3437768"/>
          </a:xfrm>
          <a:custGeom>
            <a:avLst/>
            <a:gdLst/>
            <a:ahLst/>
            <a:cxnLst/>
            <a:rect r="r" b="b" t="t" l="l"/>
            <a:pathLst>
              <a:path h="3437768" w="1615751">
                <a:moveTo>
                  <a:pt x="0" y="0"/>
                </a:moveTo>
                <a:lnTo>
                  <a:pt x="1615751" y="0"/>
                </a:lnTo>
                <a:lnTo>
                  <a:pt x="1615751" y="3437768"/>
                </a:lnTo>
                <a:lnTo>
                  <a:pt x="0" y="34377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916445" y="2055633"/>
            <a:ext cx="10015977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 spc="-165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The backend connects to MongoDB using PyMongo.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 spc="-165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User-related data is stored in collections including admin and employees in JSON - like format.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703549" y="1246478"/>
            <a:ext cx="501992" cy="501992"/>
          </a:xfrm>
          <a:custGeom>
            <a:avLst/>
            <a:gdLst/>
            <a:ahLst/>
            <a:cxnLst/>
            <a:rect r="r" b="b" t="t" l="l"/>
            <a:pathLst>
              <a:path h="501992" w="501992">
                <a:moveTo>
                  <a:pt x="0" y="0"/>
                </a:moveTo>
                <a:lnTo>
                  <a:pt x="501992" y="0"/>
                </a:lnTo>
                <a:lnTo>
                  <a:pt x="501992" y="501992"/>
                </a:lnTo>
                <a:lnTo>
                  <a:pt x="0" y="5019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713597" y="889913"/>
            <a:ext cx="2327899" cy="2572264"/>
          </a:xfrm>
          <a:custGeom>
            <a:avLst/>
            <a:gdLst/>
            <a:ahLst/>
            <a:cxnLst/>
            <a:rect r="r" b="b" t="t" l="l"/>
            <a:pathLst>
              <a:path h="2572264" w="2327899">
                <a:moveTo>
                  <a:pt x="0" y="0"/>
                </a:moveTo>
                <a:lnTo>
                  <a:pt x="2327898" y="0"/>
                </a:lnTo>
                <a:lnTo>
                  <a:pt x="2327898" y="2572263"/>
                </a:lnTo>
                <a:lnTo>
                  <a:pt x="0" y="25722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1695788">
            <a:off x="16497326" y="203852"/>
            <a:ext cx="1972648" cy="681460"/>
          </a:xfrm>
          <a:custGeom>
            <a:avLst/>
            <a:gdLst/>
            <a:ahLst/>
            <a:cxnLst/>
            <a:rect r="r" b="b" t="t" l="l"/>
            <a:pathLst>
              <a:path h="681460" w="1972648">
                <a:moveTo>
                  <a:pt x="0" y="0"/>
                </a:moveTo>
                <a:lnTo>
                  <a:pt x="1972649" y="0"/>
                </a:lnTo>
                <a:lnTo>
                  <a:pt x="1972649" y="681460"/>
                </a:lnTo>
                <a:lnTo>
                  <a:pt x="0" y="681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428980" y="1159337"/>
            <a:ext cx="904752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Database Management of the Employee Data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1340700">
            <a:off x="12262664" y="453568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5" y="0"/>
                </a:lnTo>
                <a:lnTo>
                  <a:pt x="1339515" y="1192169"/>
                </a:lnTo>
                <a:lnTo>
                  <a:pt x="0" y="119216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75503" y="-6480595"/>
            <a:ext cx="16767595" cy="16767595"/>
          </a:xfrm>
          <a:custGeom>
            <a:avLst/>
            <a:gdLst/>
            <a:ahLst/>
            <a:cxnLst/>
            <a:rect r="r" b="b" t="t" l="l"/>
            <a:pathLst>
              <a:path h="16767595" w="16767595">
                <a:moveTo>
                  <a:pt x="0" y="0"/>
                </a:moveTo>
                <a:lnTo>
                  <a:pt x="16767594" y="0"/>
                </a:lnTo>
                <a:lnTo>
                  <a:pt x="16767594" y="16767595"/>
                </a:lnTo>
                <a:lnTo>
                  <a:pt x="0" y="16767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503861">
            <a:off x="16418826" y="9360978"/>
            <a:ext cx="2323356" cy="874427"/>
          </a:xfrm>
          <a:custGeom>
            <a:avLst/>
            <a:gdLst/>
            <a:ahLst/>
            <a:cxnLst/>
            <a:rect r="r" b="b" t="t" l="l"/>
            <a:pathLst>
              <a:path h="874427" w="2323356">
                <a:moveTo>
                  <a:pt x="0" y="0"/>
                </a:moveTo>
                <a:lnTo>
                  <a:pt x="2323356" y="0"/>
                </a:lnTo>
                <a:lnTo>
                  <a:pt x="2323356" y="874427"/>
                </a:lnTo>
                <a:lnTo>
                  <a:pt x="0" y="8744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8100000">
            <a:off x="16895464" y="88311"/>
            <a:ext cx="1970446" cy="680700"/>
          </a:xfrm>
          <a:custGeom>
            <a:avLst/>
            <a:gdLst/>
            <a:ahLst/>
            <a:cxnLst/>
            <a:rect r="r" b="b" t="t" l="l"/>
            <a:pathLst>
              <a:path h="680700" w="1970446">
                <a:moveTo>
                  <a:pt x="0" y="680700"/>
                </a:moveTo>
                <a:lnTo>
                  <a:pt x="1970447" y="680700"/>
                </a:lnTo>
                <a:lnTo>
                  <a:pt x="1970447" y="0"/>
                </a:lnTo>
                <a:lnTo>
                  <a:pt x="0" y="0"/>
                </a:lnTo>
                <a:lnTo>
                  <a:pt x="0" y="6807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369105" y="4359498"/>
            <a:ext cx="10835558" cy="5429169"/>
            <a:chOff x="0" y="0"/>
            <a:chExt cx="2438869" cy="12219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869" cy="1221998"/>
            </a:xfrm>
            <a:custGeom>
              <a:avLst/>
              <a:gdLst/>
              <a:ahLst/>
              <a:cxnLst/>
              <a:rect r="r" b="b" t="t" l="l"/>
              <a:pathLst>
                <a:path h="1221998" w="2438869">
                  <a:moveTo>
                    <a:pt x="37154" y="0"/>
                  </a:moveTo>
                  <a:lnTo>
                    <a:pt x="2401715" y="0"/>
                  </a:lnTo>
                  <a:cubicBezTo>
                    <a:pt x="2422235" y="0"/>
                    <a:pt x="2438869" y="16634"/>
                    <a:pt x="2438869" y="37154"/>
                  </a:cubicBezTo>
                  <a:lnTo>
                    <a:pt x="2438869" y="1184845"/>
                  </a:lnTo>
                  <a:cubicBezTo>
                    <a:pt x="2438869" y="1205364"/>
                    <a:pt x="2422235" y="1221998"/>
                    <a:pt x="2401715" y="1221998"/>
                  </a:cubicBezTo>
                  <a:lnTo>
                    <a:pt x="37154" y="1221998"/>
                  </a:lnTo>
                  <a:cubicBezTo>
                    <a:pt x="16634" y="1221998"/>
                    <a:pt x="0" y="1205364"/>
                    <a:pt x="0" y="1184845"/>
                  </a:cubicBezTo>
                  <a:lnTo>
                    <a:pt x="0" y="37154"/>
                  </a:lnTo>
                  <a:cubicBezTo>
                    <a:pt x="0" y="16634"/>
                    <a:pt x="16634" y="0"/>
                    <a:pt x="37154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125" r="0" b="-1125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AutoShape 7" id="7"/>
          <p:cNvSpPr/>
          <p:nvPr/>
        </p:nvSpPr>
        <p:spPr>
          <a:xfrm>
            <a:off x="545397" y="2588420"/>
            <a:ext cx="301650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true" rot="-2195725">
            <a:off x="-542362" y="-80587"/>
            <a:ext cx="2373432" cy="819913"/>
          </a:xfrm>
          <a:custGeom>
            <a:avLst/>
            <a:gdLst/>
            <a:ahLst/>
            <a:cxnLst/>
            <a:rect r="r" b="b" t="t" l="l"/>
            <a:pathLst>
              <a:path h="819913" w="2373432">
                <a:moveTo>
                  <a:pt x="0" y="819913"/>
                </a:moveTo>
                <a:lnTo>
                  <a:pt x="2373432" y="819913"/>
                </a:lnTo>
                <a:lnTo>
                  <a:pt x="2373432" y="0"/>
                </a:lnTo>
                <a:lnTo>
                  <a:pt x="0" y="0"/>
                </a:lnTo>
                <a:lnTo>
                  <a:pt x="0" y="81991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715968" y="6445858"/>
            <a:ext cx="7682283" cy="7682283"/>
          </a:xfrm>
          <a:custGeom>
            <a:avLst/>
            <a:gdLst/>
            <a:ahLst/>
            <a:cxnLst/>
            <a:rect r="r" b="b" t="t" l="l"/>
            <a:pathLst>
              <a:path h="7682283" w="7682283">
                <a:moveTo>
                  <a:pt x="0" y="0"/>
                </a:moveTo>
                <a:lnTo>
                  <a:pt x="7682283" y="0"/>
                </a:lnTo>
                <a:lnTo>
                  <a:pt x="7682283" y="7682284"/>
                </a:lnTo>
                <a:lnTo>
                  <a:pt x="0" y="7682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700656">
            <a:off x="-159281" y="9782867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70" y="0"/>
                </a:lnTo>
                <a:lnTo>
                  <a:pt x="1607270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76036" y="3120167"/>
            <a:ext cx="6970515" cy="5305235"/>
            <a:chOff x="0" y="0"/>
            <a:chExt cx="1730212" cy="13168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0212" cy="1316858"/>
            </a:xfrm>
            <a:custGeom>
              <a:avLst/>
              <a:gdLst/>
              <a:ahLst/>
              <a:cxnLst/>
              <a:rect r="r" b="b" t="t" l="l"/>
              <a:pathLst>
                <a:path h="1316858" w="1730212">
                  <a:moveTo>
                    <a:pt x="38873" y="0"/>
                  </a:moveTo>
                  <a:lnTo>
                    <a:pt x="1691338" y="0"/>
                  </a:lnTo>
                  <a:cubicBezTo>
                    <a:pt x="1712807" y="0"/>
                    <a:pt x="1730212" y="17404"/>
                    <a:pt x="1730212" y="38873"/>
                  </a:cubicBezTo>
                  <a:lnTo>
                    <a:pt x="1730212" y="1277985"/>
                  </a:lnTo>
                  <a:cubicBezTo>
                    <a:pt x="1730212" y="1299454"/>
                    <a:pt x="1712807" y="1316858"/>
                    <a:pt x="1691338" y="1316858"/>
                  </a:cubicBezTo>
                  <a:lnTo>
                    <a:pt x="38873" y="1316858"/>
                  </a:lnTo>
                  <a:cubicBezTo>
                    <a:pt x="28563" y="1316858"/>
                    <a:pt x="18676" y="1312763"/>
                    <a:pt x="11386" y="1305472"/>
                  </a:cubicBezTo>
                  <a:cubicBezTo>
                    <a:pt x="4096" y="1298182"/>
                    <a:pt x="0" y="1288295"/>
                    <a:pt x="0" y="1277985"/>
                  </a:cubicBezTo>
                  <a:lnTo>
                    <a:pt x="0" y="38873"/>
                  </a:lnTo>
                  <a:cubicBezTo>
                    <a:pt x="0" y="17404"/>
                    <a:pt x="17404" y="0"/>
                    <a:pt x="38873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730212" cy="1364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26708" y="3361912"/>
            <a:ext cx="501992" cy="501992"/>
          </a:xfrm>
          <a:custGeom>
            <a:avLst/>
            <a:gdLst/>
            <a:ahLst/>
            <a:cxnLst/>
            <a:rect r="r" b="b" t="t" l="l"/>
            <a:pathLst>
              <a:path h="501992" w="501992">
                <a:moveTo>
                  <a:pt x="0" y="0"/>
                </a:moveTo>
                <a:lnTo>
                  <a:pt x="501992" y="0"/>
                </a:lnTo>
                <a:lnTo>
                  <a:pt x="501992" y="501992"/>
                </a:lnTo>
                <a:lnTo>
                  <a:pt x="0" y="5019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58323" y="3209512"/>
            <a:ext cx="4707992" cy="1159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Collecting the Health Record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934729" y="562274"/>
            <a:ext cx="4060234" cy="3740074"/>
          </a:xfrm>
          <a:custGeom>
            <a:avLst/>
            <a:gdLst/>
            <a:ahLst/>
            <a:cxnLst/>
            <a:rect r="r" b="b" t="t" l="l"/>
            <a:pathLst>
              <a:path h="3740074" w="4060234">
                <a:moveTo>
                  <a:pt x="0" y="0"/>
                </a:moveTo>
                <a:lnTo>
                  <a:pt x="4060234" y="0"/>
                </a:lnTo>
                <a:lnTo>
                  <a:pt x="4060234" y="3740074"/>
                </a:lnTo>
                <a:lnTo>
                  <a:pt x="0" y="37400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646" t="-171" r="-1627" b="-171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1629347">
            <a:off x="6311957" y="2738964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5" y="0"/>
                </a:lnTo>
                <a:lnTo>
                  <a:pt x="1339515" y="1192169"/>
                </a:lnTo>
                <a:lnTo>
                  <a:pt x="0" y="11921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28411" y="4492848"/>
            <a:ext cx="6940604" cy="363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8710" indent="-319355" lvl="1">
              <a:lnSpc>
                <a:spcPts val="4141"/>
              </a:lnSpc>
              <a:buFont typeface="Arial"/>
              <a:buChar char="•"/>
            </a:pPr>
            <a:r>
              <a:rPr lang="en-US" sz="2958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BMI </a:t>
            </a:r>
            <a:r>
              <a:rPr lang="en-US" sz="2958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and medical reports.</a:t>
            </a:r>
          </a:p>
          <a:p>
            <a:pPr algn="l">
              <a:lnSpc>
                <a:spcPts val="4141"/>
              </a:lnSpc>
            </a:pPr>
          </a:p>
          <a:p>
            <a:pPr algn="l" marL="638710" indent="-319355" lvl="1">
              <a:lnSpc>
                <a:spcPts val="4141"/>
              </a:lnSpc>
              <a:buFont typeface="Arial"/>
              <a:buChar char="•"/>
            </a:pPr>
            <a:r>
              <a:rPr lang="en-US" sz="2958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Exercise and sleep tracking.</a:t>
            </a:r>
          </a:p>
          <a:p>
            <a:pPr algn="l">
              <a:lnSpc>
                <a:spcPts val="4141"/>
              </a:lnSpc>
            </a:pPr>
          </a:p>
          <a:p>
            <a:pPr algn="l" marL="638710" indent="-319355" lvl="1">
              <a:lnSpc>
                <a:spcPts val="4141"/>
              </a:lnSpc>
              <a:buFont typeface="Arial"/>
              <a:buChar char="•"/>
            </a:pPr>
            <a:r>
              <a:rPr lang="en-US" sz="2958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Attendance and assessments.</a:t>
            </a:r>
          </a:p>
          <a:p>
            <a:pPr algn="l">
              <a:lnSpc>
                <a:spcPts val="4141"/>
              </a:lnSpc>
            </a:pPr>
          </a:p>
          <a:p>
            <a:pPr algn="l" marL="638710" indent="-319355" lvl="1">
              <a:lnSpc>
                <a:spcPts val="4141"/>
              </a:lnSpc>
              <a:buFont typeface="Arial"/>
              <a:buChar char="•"/>
            </a:pPr>
            <a:r>
              <a:rPr lang="en-US" sz="2958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Data preprocessing and validation.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6708" y="644049"/>
            <a:ext cx="11374688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Health Records Collection</a:t>
            </a:r>
          </a:p>
        </p:txBody>
      </p:sp>
      <p:sp>
        <p:nvSpPr>
          <p:cNvPr name="Freeform 20" id="20"/>
          <p:cNvSpPr/>
          <p:nvPr/>
        </p:nvSpPr>
        <p:spPr>
          <a:xfrm flipH="false" flipV="true" rot="-130636">
            <a:off x="8672525" y="31174"/>
            <a:ext cx="1651965" cy="570679"/>
          </a:xfrm>
          <a:custGeom>
            <a:avLst/>
            <a:gdLst/>
            <a:ahLst/>
            <a:cxnLst/>
            <a:rect r="r" b="b" t="t" l="l"/>
            <a:pathLst>
              <a:path h="570679" w="1651965">
                <a:moveTo>
                  <a:pt x="0" y="570679"/>
                </a:moveTo>
                <a:lnTo>
                  <a:pt x="1651964" y="570679"/>
                </a:lnTo>
                <a:lnTo>
                  <a:pt x="1651964" y="0"/>
                </a:lnTo>
                <a:lnTo>
                  <a:pt x="0" y="0"/>
                </a:lnTo>
                <a:lnTo>
                  <a:pt x="0" y="57067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65630" y="9029687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83827" y="3848970"/>
            <a:ext cx="10704173" cy="6203465"/>
            <a:chOff x="0" y="0"/>
            <a:chExt cx="3192136" cy="18499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92136" cy="1849961"/>
            </a:xfrm>
            <a:custGeom>
              <a:avLst/>
              <a:gdLst/>
              <a:ahLst/>
              <a:cxnLst/>
              <a:rect r="r" b="b" t="t" l="l"/>
              <a:pathLst>
                <a:path h="1849961" w="3192136">
                  <a:moveTo>
                    <a:pt x="25314" y="0"/>
                  </a:moveTo>
                  <a:lnTo>
                    <a:pt x="3166822" y="0"/>
                  </a:lnTo>
                  <a:cubicBezTo>
                    <a:pt x="3173535" y="0"/>
                    <a:pt x="3179974" y="2667"/>
                    <a:pt x="3184721" y="7414"/>
                  </a:cubicBezTo>
                  <a:cubicBezTo>
                    <a:pt x="3189469" y="12162"/>
                    <a:pt x="3192136" y="18600"/>
                    <a:pt x="3192136" y="25314"/>
                  </a:cubicBezTo>
                  <a:lnTo>
                    <a:pt x="3192136" y="1824647"/>
                  </a:lnTo>
                  <a:cubicBezTo>
                    <a:pt x="3192136" y="1831361"/>
                    <a:pt x="3189469" y="1837799"/>
                    <a:pt x="3184721" y="1842547"/>
                  </a:cubicBezTo>
                  <a:cubicBezTo>
                    <a:pt x="3179974" y="1847294"/>
                    <a:pt x="3173535" y="1849961"/>
                    <a:pt x="3166822" y="1849961"/>
                  </a:cubicBezTo>
                  <a:lnTo>
                    <a:pt x="25314" y="1849961"/>
                  </a:lnTo>
                  <a:cubicBezTo>
                    <a:pt x="18600" y="1849961"/>
                    <a:pt x="12162" y="1847294"/>
                    <a:pt x="7414" y="1842547"/>
                  </a:cubicBezTo>
                  <a:cubicBezTo>
                    <a:pt x="2667" y="1837799"/>
                    <a:pt x="0" y="1831361"/>
                    <a:pt x="0" y="1824647"/>
                  </a:cubicBezTo>
                  <a:lnTo>
                    <a:pt x="0" y="25314"/>
                  </a:lnTo>
                  <a:cubicBezTo>
                    <a:pt x="0" y="18600"/>
                    <a:pt x="2667" y="12162"/>
                    <a:pt x="7414" y="7414"/>
                  </a:cubicBezTo>
                  <a:cubicBezTo>
                    <a:pt x="12162" y="2667"/>
                    <a:pt x="18600" y="0"/>
                    <a:pt x="2531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42" r="0" b="-142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997713" y="-1142464"/>
            <a:ext cx="7921324" cy="7921324"/>
          </a:xfrm>
          <a:custGeom>
            <a:avLst/>
            <a:gdLst/>
            <a:ahLst/>
            <a:cxnLst/>
            <a:rect r="r" b="b" t="t" l="l"/>
            <a:pathLst>
              <a:path h="7921324" w="7921324">
                <a:moveTo>
                  <a:pt x="0" y="0"/>
                </a:moveTo>
                <a:lnTo>
                  <a:pt x="7921324" y="0"/>
                </a:lnTo>
                <a:lnTo>
                  <a:pt x="7921324" y="7921324"/>
                </a:lnTo>
                <a:lnTo>
                  <a:pt x="0" y="79213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3934" y="485988"/>
            <a:ext cx="7499738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136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Wellness Risk Prediction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3564790" y="-67089"/>
            <a:ext cx="2009090" cy="694049"/>
          </a:xfrm>
          <a:custGeom>
            <a:avLst/>
            <a:gdLst/>
            <a:ahLst/>
            <a:cxnLst/>
            <a:rect r="r" b="b" t="t" l="l"/>
            <a:pathLst>
              <a:path h="694049" w="2009090">
                <a:moveTo>
                  <a:pt x="0" y="694049"/>
                </a:moveTo>
                <a:lnTo>
                  <a:pt x="2009090" y="694049"/>
                </a:lnTo>
                <a:lnTo>
                  <a:pt x="2009090" y="0"/>
                </a:lnTo>
                <a:lnTo>
                  <a:pt x="0" y="0"/>
                </a:lnTo>
                <a:lnTo>
                  <a:pt x="0" y="6940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108403" y="5417158"/>
            <a:ext cx="7682283" cy="7682283"/>
          </a:xfrm>
          <a:custGeom>
            <a:avLst/>
            <a:gdLst/>
            <a:ahLst/>
            <a:cxnLst/>
            <a:rect r="r" b="b" t="t" l="l"/>
            <a:pathLst>
              <a:path h="7682283" w="7682283">
                <a:moveTo>
                  <a:pt x="0" y="0"/>
                </a:moveTo>
                <a:lnTo>
                  <a:pt x="7682283" y="0"/>
                </a:lnTo>
                <a:lnTo>
                  <a:pt x="7682283" y="7682284"/>
                </a:lnTo>
                <a:lnTo>
                  <a:pt x="0" y="76822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45979" y="9642075"/>
            <a:ext cx="2668320" cy="1004259"/>
          </a:xfrm>
          <a:custGeom>
            <a:avLst/>
            <a:gdLst/>
            <a:ahLst/>
            <a:cxnLst/>
            <a:rect r="r" b="b" t="t" l="l"/>
            <a:pathLst>
              <a:path h="1004259" w="2668320">
                <a:moveTo>
                  <a:pt x="0" y="0"/>
                </a:moveTo>
                <a:lnTo>
                  <a:pt x="2668320" y="0"/>
                </a:lnTo>
                <a:lnTo>
                  <a:pt x="2668320" y="1004259"/>
                </a:lnTo>
                <a:lnTo>
                  <a:pt x="0" y="1004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333934" y="2430358"/>
            <a:ext cx="510777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0075971" y="486578"/>
            <a:ext cx="8015101" cy="3362392"/>
            <a:chOff x="0" y="0"/>
            <a:chExt cx="2601157" cy="10912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01156" cy="1091204"/>
            </a:xfrm>
            <a:custGeom>
              <a:avLst/>
              <a:gdLst/>
              <a:ahLst/>
              <a:cxnLst/>
              <a:rect r="r" b="b" t="t" l="l"/>
              <a:pathLst>
                <a:path h="1091204" w="2601156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968503"/>
                  </a:lnTo>
                  <a:cubicBezTo>
                    <a:pt x="1" y="1036269"/>
                    <a:pt x="54936" y="1091204"/>
                    <a:pt x="122702" y="1091204"/>
                  </a:cubicBezTo>
                  <a:lnTo>
                    <a:pt x="2478453" y="1091204"/>
                  </a:lnTo>
                  <a:cubicBezTo>
                    <a:pt x="2546219" y="1091204"/>
                    <a:pt x="2601155" y="1036269"/>
                    <a:pt x="2601156" y="968503"/>
                  </a:cubicBezTo>
                  <a:lnTo>
                    <a:pt x="2601156" y="122701"/>
                  </a:lnTo>
                  <a:cubicBezTo>
                    <a:pt x="2601155" y="54935"/>
                    <a:pt x="2546220" y="1"/>
                    <a:pt x="2478455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lnTo>
                    <a:pt x="0" y="0"/>
                  </a:lnTo>
                  <a:cubicBezTo>
                    <a:pt x="0" y="0"/>
                    <a:pt x="473267" y="77131"/>
                    <a:pt x="473267" y="77131"/>
                  </a:cubicBezTo>
                  <a:close/>
                </a:path>
              </a:pathLst>
            </a:custGeom>
            <a:blipFill>
              <a:blip r:embed="rId9"/>
              <a:stretch>
                <a:fillRect l="0" t="-58" r="0" b="-5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2935" y="3180909"/>
            <a:ext cx="7088366" cy="6524324"/>
            <a:chOff x="0" y="0"/>
            <a:chExt cx="1759465" cy="16194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59465" cy="1619459"/>
            </a:xfrm>
            <a:custGeom>
              <a:avLst/>
              <a:gdLst/>
              <a:ahLst/>
              <a:cxnLst/>
              <a:rect r="r" b="b" t="t" l="l"/>
              <a:pathLst>
                <a:path h="1619459" w="1759465">
                  <a:moveTo>
                    <a:pt x="38227" y="0"/>
                  </a:moveTo>
                  <a:lnTo>
                    <a:pt x="1721238" y="0"/>
                  </a:lnTo>
                  <a:cubicBezTo>
                    <a:pt x="1731376" y="0"/>
                    <a:pt x="1741099" y="4027"/>
                    <a:pt x="1748268" y="11196"/>
                  </a:cubicBezTo>
                  <a:cubicBezTo>
                    <a:pt x="1755437" y="18365"/>
                    <a:pt x="1759465" y="28089"/>
                    <a:pt x="1759465" y="38227"/>
                  </a:cubicBezTo>
                  <a:lnTo>
                    <a:pt x="1759465" y="1581232"/>
                  </a:lnTo>
                  <a:cubicBezTo>
                    <a:pt x="1759465" y="1591370"/>
                    <a:pt x="1755437" y="1601093"/>
                    <a:pt x="1748268" y="1608262"/>
                  </a:cubicBezTo>
                  <a:cubicBezTo>
                    <a:pt x="1741099" y="1615431"/>
                    <a:pt x="1731376" y="1619459"/>
                    <a:pt x="1721238" y="1619459"/>
                  </a:cubicBezTo>
                  <a:lnTo>
                    <a:pt x="38227" y="1619459"/>
                  </a:lnTo>
                  <a:cubicBezTo>
                    <a:pt x="28089" y="1619459"/>
                    <a:pt x="18365" y="1615431"/>
                    <a:pt x="11196" y="1608262"/>
                  </a:cubicBezTo>
                  <a:cubicBezTo>
                    <a:pt x="4027" y="1601093"/>
                    <a:pt x="0" y="1591370"/>
                    <a:pt x="0" y="1581232"/>
                  </a:cubicBezTo>
                  <a:lnTo>
                    <a:pt x="0" y="38227"/>
                  </a:lnTo>
                  <a:cubicBezTo>
                    <a:pt x="0" y="28089"/>
                    <a:pt x="4027" y="18365"/>
                    <a:pt x="11196" y="11196"/>
                  </a:cubicBezTo>
                  <a:cubicBezTo>
                    <a:pt x="18365" y="4027"/>
                    <a:pt x="28089" y="0"/>
                    <a:pt x="38227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759465" cy="1667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2935" y="3858495"/>
            <a:ext cx="6991434" cy="578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Pr</a:t>
            </a:r>
            <a:r>
              <a:rPr lang="en-US" sz="32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edicts stress and burnout.</a:t>
            </a:r>
          </a:p>
          <a:p>
            <a:pPr algn="l">
              <a:lnSpc>
                <a:spcPts val="4619"/>
              </a:lnSpc>
            </a:pP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Detects obesity and hypertension risk.</a:t>
            </a:r>
          </a:p>
          <a:p>
            <a:pPr algn="l">
              <a:lnSpc>
                <a:spcPts val="4619"/>
              </a:lnSpc>
            </a:pP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Uses historical and real-time data.</a:t>
            </a:r>
          </a:p>
          <a:p>
            <a:pPr algn="l">
              <a:lnSpc>
                <a:spcPts val="4619"/>
              </a:lnSpc>
            </a:pP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ML: Decision Tree, Random Forest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333934" y="3321804"/>
            <a:ext cx="501992" cy="501992"/>
          </a:xfrm>
          <a:custGeom>
            <a:avLst/>
            <a:gdLst/>
            <a:ahLst/>
            <a:cxnLst/>
            <a:rect r="r" b="b" t="t" l="l"/>
            <a:pathLst>
              <a:path h="501992" w="501992">
                <a:moveTo>
                  <a:pt x="0" y="0"/>
                </a:moveTo>
                <a:lnTo>
                  <a:pt x="501992" y="0"/>
                </a:lnTo>
                <a:lnTo>
                  <a:pt x="501992" y="501992"/>
                </a:lnTo>
                <a:lnTo>
                  <a:pt x="0" y="5019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3256740"/>
            <a:ext cx="4972330" cy="56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Predicting the Risk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2010118">
            <a:off x="16862719" y="-398797"/>
            <a:ext cx="2323356" cy="874427"/>
          </a:xfrm>
          <a:custGeom>
            <a:avLst/>
            <a:gdLst/>
            <a:ahLst/>
            <a:cxnLst/>
            <a:rect r="r" b="b" t="t" l="l"/>
            <a:pathLst>
              <a:path h="874427" w="2323356">
                <a:moveTo>
                  <a:pt x="0" y="0"/>
                </a:moveTo>
                <a:lnTo>
                  <a:pt x="2323356" y="0"/>
                </a:lnTo>
                <a:lnTo>
                  <a:pt x="2323356" y="874427"/>
                </a:lnTo>
                <a:lnTo>
                  <a:pt x="0" y="8744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1576499">
            <a:off x="6364868" y="2725719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6" y="0"/>
                </a:lnTo>
                <a:lnTo>
                  <a:pt x="1339516" y="1192169"/>
                </a:lnTo>
                <a:lnTo>
                  <a:pt x="0" y="11921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91555" y="-3109366"/>
            <a:ext cx="8252866" cy="8252866"/>
          </a:xfrm>
          <a:custGeom>
            <a:avLst/>
            <a:gdLst/>
            <a:ahLst/>
            <a:cxnLst/>
            <a:rect r="r" b="b" t="t" l="l"/>
            <a:pathLst>
              <a:path h="8252866" w="8252866">
                <a:moveTo>
                  <a:pt x="0" y="0"/>
                </a:moveTo>
                <a:lnTo>
                  <a:pt x="8252866" y="0"/>
                </a:lnTo>
                <a:lnTo>
                  <a:pt x="8252866" y="8252866"/>
                </a:lnTo>
                <a:lnTo>
                  <a:pt x="0" y="8252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503861">
            <a:off x="-631582" y="9495417"/>
            <a:ext cx="2323356" cy="874427"/>
          </a:xfrm>
          <a:custGeom>
            <a:avLst/>
            <a:gdLst/>
            <a:ahLst/>
            <a:cxnLst/>
            <a:rect r="r" b="b" t="t" l="l"/>
            <a:pathLst>
              <a:path h="874427" w="2323356">
                <a:moveTo>
                  <a:pt x="0" y="874427"/>
                </a:moveTo>
                <a:lnTo>
                  <a:pt x="2323357" y="874427"/>
                </a:lnTo>
                <a:lnTo>
                  <a:pt x="2323357" y="0"/>
                </a:lnTo>
                <a:lnTo>
                  <a:pt x="0" y="0"/>
                </a:lnTo>
                <a:lnTo>
                  <a:pt x="0" y="87442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5453" y="3862949"/>
            <a:ext cx="10191402" cy="5395351"/>
            <a:chOff x="0" y="0"/>
            <a:chExt cx="997143" cy="527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7143" cy="527889"/>
            </a:xfrm>
            <a:custGeom>
              <a:avLst/>
              <a:gdLst/>
              <a:ahLst/>
              <a:cxnLst/>
              <a:rect r="r" b="b" t="t" l="l"/>
              <a:pathLst>
                <a:path h="527889" w="997143">
                  <a:moveTo>
                    <a:pt x="26588" y="0"/>
                  </a:moveTo>
                  <a:lnTo>
                    <a:pt x="970555" y="0"/>
                  </a:lnTo>
                  <a:cubicBezTo>
                    <a:pt x="977606" y="0"/>
                    <a:pt x="984369" y="2801"/>
                    <a:pt x="989355" y="7787"/>
                  </a:cubicBezTo>
                  <a:cubicBezTo>
                    <a:pt x="994341" y="12774"/>
                    <a:pt x="997143" y="19536"/>
                    <a:pt x="997143" y="26588"/>
                  </a:cubicBezTo>
                  <a:lnTo>
                    <a:pt x="997143" y="501302"/>
                  </a:lnTo>
                  <a:cubicBezTo>
                    <a:pt x="997143" y="515986"/>
                    <a:pt x="985239" y="527889"/>
                    <a:pt x="970555" y="527889"/>
                  </a:cubicBezTo>
                  <a:lnTo>
                    <a:pt x="26588" y="527889"/>
                  </a:lnTo>
                  <a:cubicBezTo>
                    <a:pt x="11904" y="527889"/>
                    <a:pt x="0" y="515986"/>
                    <a:pt x="0" y="501302"/>
                  </a:cubicBezTo>
                  <a:lnTo>
                    <a:pt x="0" y="26588"/>
                  </a:lnTo>
                  <a:cubicBezTo>
                    <a:pt x="0" y="11904"/>
                    <a:pt x="11904" y="0"/>
                    <a:pt x="26588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96" r="0" b="-196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890760" y="5685128"/>
            <a:ext cx="7682283" cy="7682283"/>
          </a:xfrm>
          <a:custGeom>
            <a:avLst/>
            <a:gdLst/>
            <a:ahLst/>
            <a:cxnLst/>
            <a:rect r="r" b="b" t="t" l="l"/>
            <a:pathLst>
              <a:path h="7682283" w="7682283">
                <a:moveTo>
                  <a:pt x="0" y="0"/>
                </a:moveTo>
                <a:lnTo>
                  <a:pt x="7682283" y="0"/>
                </a:lnTo>
                <a:lnTo>
                  <a:pt x="7682283" y="7682283"/>
                </a:lnTo>
                <a:lnTo>
                  <a:pt x="0" y="7682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552475" y="2479753"/>
            <a:ext cx="7579913" cy="5787224"/>
            <a:chOff x="0" y="0"/>
            <a:chExt cx="1881476" cy="14364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1476" cy="1436497"/>
            </a:xfrm>
            <a:custGeom>
              <a:avLst/>
              <a:gdLst/>
              <a:ahLst/>
              <a:cxnLst/>
              <a:rect r="r" b="b" t="t" l="l"/>
              <a:pathLst>
                <a:path h="1436497" w="1881476">
                  <a:moveTo>
                    <a:pt x="35748" y="0"/>
                  </a:moveTo>
                  <a:lnTo>
                    <a:pt x="1845728" y="0"/>
                  </a:lnTo>
                  <a:cubicBezTo>
                    <a:pt x="1855209" y="0"/>
                    <a:pt x="1864301" y="3766"/>
                    <a:pt x="1871005" y="10470"/>
                  </a:cubicBezTo>
                  <a:cubicBezTo>
                    <a:pt x="1877709" y="17174"/>
                    <a:pt x="1881476" y="26267"/>
                    <a:pt x="1881476" y="35748"/>
                  </a:cubicBezTo>
                  <a:lnTo>
                    <a:pt x="1881476" y="1400749"/>
                  </a:lnTo>
                  <a:cubicBezTo>
                    <a:pt x="1881476" y="1420492"/>
                    <a:pt x="1865471" y="1436497"/>
                    <a:pt x="1845728" y="1436497"/>
                  </a:cubicBezTo>
                  <a:lnTo>
                    <a:pt x="35748" y="1436497"/>
                  </a:lnTo>
                  <a:cubicBezTo>
                    <a:pt x="26267" y="1436497"/>
                    <a:pt x="17174" y="1432730"/>
                    <a:pt x="10470" y="1426026"/>
                  </a:cubicBezTo>
                  <a:cubicBezTo>
                    <a:pt x="3766" y="1419322"/>
                    <a:pt x="0" y="1410230"/>
                    <a:pt x="0" y="1400749"/>
                  </a:cubicBezTo>
                  <a:lnTo>
                    <a:pt x="0" y="35748"/>
                  </a:lnTo>
                  <a:cubicBezTo>
                    <a:pt x="0" y="16005"/>
                    <a:pt x="16005" y="0"/>
                    <a:pt x="35748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81476" cy="1484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724265" y="2660870"/>
            <a:ext cx="654095" cy="654095"/>
          </a:xfrm>
          <a:custGeom>
            <a:avLst/>
            <a:gdLst/>
            <a:ahLst/>
            <a:cxnLst/>
            <a:rect r="r" b="b" t="t" l="l"/>
            <a:pathLst>
              <a:path h="654095" w="654095">
                <a:moveTo>
                  <a:pt x="0" y="0"/>
                </a:moveTo>
                <a:lnTo>
                  <a:pt x="654095" y="0"/>
                </a:lnTo>
                <a:lnTo>
                  <a:pt x="654095" y="654094"/>
                </a:lnTo>
                <a:lnTo>
                  <a:pt x="0" y="6540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-1503861">
            <a:off x="16970710" y="-296684"/>
            <a:ext cx="2323356" cy="874427"/>
          </a:xfrm>
          <a:custGeom>
            <a:avLst/>
            <a:gdLst/>
            <a:ahLst/>
            <a:cxnLst/>
            <a:rect r="r" b="b" t="t" l="l"/>
            <a:pathLst>
              <a:path h="874427" w="2323356">
                <a:moveTo>
                  <a:pt x="0" y="874427"/>
                </a:moveTo>
                <a:lnTo>
                  <a:pt x="2323356" y="874427"/>
                </a:lnTo>
                <a:lnTo>
                  <a:pt x="2323356" y="0"/>
                </a:lnTo>
                <a:lnTo>
                  <a:pt x="0" y="0"/>
                </a:lnTo>
                <a:lnTo>
                  <a:pt x="0" y="87442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530096" y="2479753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true" rot="0">
            <a:off x="1028700" y="292644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69" y="555239"/>
                </a:lnTo>
                <a:lnTo>
                  <a:pt x="1607269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511086" y="973176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98838" y="828833"/>
            <a:ext cx="10552475" cy="150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0"/>
              </a:lnSpc>
            </a:pPr>
            <a:r>
              <a:rPr lang="en-US" sz="5380" spc="64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Person</a:t>
            </a:r>
            <a:r>
              <a:rPr lang="en-US" b="true" sz="5380" spc="64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alized Wellness Recommendation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52463" y="3420352"/>
            <a:ext cx="7525854" cy="4472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661" indent="-342331" lvl="1">
              <a:lnSpc>
                <a:spcPts val="4439"/>
              </a:lnSpc>
              <a:buFont typeface="Arial"/>
              <a:buChar char="•"/>
            </a:pPr>
            <a:r>
              <a:rPr lang="en-US" sz="317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Per</a:t>
            </a:r>
            <a:r>
              <a:rPr lang="en-US" sz="317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sonal</a:t>
            </a:r>
            <a:r>
              <a:rPr lang="en-US" sz="317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ized fitness plans</a:t>
            </a:r>
          </a:p>
          <a:p>
            <a:pPr algn="l">
              <a:lnSpc>
                <a:spcPts val="4439"/>
              </a:lnSpc>
            </a:pPr>
          </a:p>
          <a:p>
            <a:pPr algn="l" marL="684661" indent="-342331" lvl="1">
              <a:lnSpc>
                <a:spcPts val="4439"/>
              </a:lnSpc>
              <a:buFont typeface="Arial"/>
              <a:buChar char="•"/>
            </a:pPr>
            <a:r>
              <a:rPr lang="en-US" sz="317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Diet and lifestyle suggestions</a:t>
            </a:r>
          </a:p>
          <a:p>
            <a:pPr algn="l">
              <a:lnSpc>
                <a:spcPts val="4439"/>
              </a:lnSpc>
            </a:pPr>
          </a:p>
          <a:p>
            <a:pPr algn="l" marL="684661" indent="-342331" lvl="1">
              <a:lnSpc>
                <a:spcPts val="4439"/>
              </a:lnSpc>
              <a:buFont typeface="Arial"/>
              <a:buChar char="•"/>
            </a:pPr>
            <a:r>
              <a:rPr lang="en-US" sz="317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Mental wellness and yoga activities</a:t>
            </a:r>
          </a:p>
          <a:p>
            <a:pPr algn="l">
              <a:lnSpc>
                <a:spcPts val="4439"/>
              </a:lnSpc>
            </a:pPr>
          </a:p>
          <a:p>
            <a:pPr algn="l" marL="684661" indent="-342331" lvl="1">
              <a:lnSpc>
                <a:spcPts val="4439"/>
              </a:lnSpc>
              <a:buFont typeface="Arial"/>
              <a:buChar char="•"/>
            </a:pPr>
            <a:r>
              <a:rPr lang="en-US" sz="317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AI: collaborative filtering, content-based filtering, Generative AI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40691" y="2469757"/>
            <a:ext cx="3937009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Employee Wellness Recommendation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777594">
            <a:off x="8096488" y="1826398"/>
            <a:ext cx="2141929" cy="1906317"/>
          </a:xfrm>
          <a:custGeom>
            <a:avLst/>
            <a:gdLst/>
            <a:ahLst/>
            <a:cxnLst/>
            <a:rect r="r" b="b" t="t" l="l"/>
            <a:pathLst>
              <a:path h="1906317" w="2141929">
                <a:moveTo>
                  <a:pt x="0" y="0"/>
                </a:moveTo>
                <a:lnTo>
                  <a:pt x="2141928" y="0"/>
                </a:lnTo>
                <a:lnTo>
                  <a:pt x="2141928" y="1906317"/>
                </a:lnTo>
                <a:lnTo>
                  <a:pt x="0" y="19063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911449" y="9607536"/>
            <a:ext cx="1966868" cy="679464"/>
          </a:xfrm>
          <a:custGeom>
            <a:avLst/>
            <a:gdLst/>
            <a:ahLst/>
            <a:cxnLst/>
            <a:rect r="r" b="b" t="t" l="l"/>
            <a:pathLst>
              <a:path h="679464" w="1966868">
                <a:moveTo>
                  <a:pt x="0" y="0"/>
                </a:moveTo>
                <a:lnTo>
                  <a:pt x="1966868" y="0"/>
                </a:lnTo>
                <a:lnTo>
                  <a:pt x="1966868" y="679464"/>
                </a:lnTo>
                <a:lnTo>
                  <a:pt x="0" y="6794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1497669">
            <a:off x="17101449" y="1942062"/>
            <a:ext cx="1464089" cy="1303039"/>
          </a:xfrm>
          <a:custGeom>
            <a:avLst/>
            <a:gdLst/>
            <a:ahLst/>
            <a:cxnLst/>
            <a:rect r="r" b="b" t="t" l="l"/>
            <a:pathLst>
              <a:path h="1303039" w="1464089">
                <a:moveTo>
                  <a:pt x="0" y="0"/>
                </a:moveTo>
                <a:lnTo>
                  <a:pt x="1464090" y="0"/>
                </a:lnTo>
                <a:lnTo>
                  <a:pt x="1464090" y="1303040"/>
                </a:lnTo>
                <a:lnTo>
                  <a:pt x="0" y="13030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3657" y="-1030594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025" y="4376198"/>
            <a:ext cx="10136825" cy="5215035"/>
            <a:chOff x="0" y="0"/>
            <a:chExt cx="1020273" cy="5248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20273" cy="524894"/>
            </a:xfrm>
            <a:custGeom>
              <a:avLst/>
              <a:gdLst/>
              <a:ahLst/>
              <a:cxnLst/>
              <a:rect r="r" b="b" t="t" l="l"/>
              <a:pathLst>
                <a:path h="524894" w="1020273">
                  <a:moveTo>
                    <a:pt x="26731" y="0"/>
                  </a:moveTo>
                  <a:lnTo>
                    <a:pt x="993542" y="0"/>
                  </a:lnTo>
                  <a:cubicBezTo>
                    <a:pt x="1000631" y="0"/>
                    <a:pt x="1007430" y="2816"/>
                    <a:pt x="1012443" y="7829"/>
                  </a:cubicBezTo>
                  <a:cubicBezTo>
                    <a:pt x="1017456" y="12842"/>
                    <a:pt x="1020273" y="19641"/>
                    <a:pt x="1020273" y="26731"/>
                  </a:cubicBezTo>
                  <a:lnTo>
                    <a:pt x="1020273" y="498163"/>
                  </a:lnTo>
                  <a:cubicBezTo>
                    <a:pt x="1020273" y="505252"/>
                    <a:pt x="1017456" y="512051"/>
                    <a:pt x="1012443" y="517065"/>
                  </a:cubicBezTo>
                  <a:cubicBezTo>
                    <a:pt x="1007430" y="522078"/>
                    <a:pt x="1000631" y="524894"/>
                    <a:pt x="993542" y="524894"/>
                  </a:cubicBezTo>
                  <a:lnTo>
                    <a:pt x="26731" y="524894"/>
                  </a:lnTo>
                  <a:cubicBezTo>
                    <a:pt x="19641" y="524894"/>
                    <a:pt x="12842" y="522078"/>
                    <a:pt x="7829" y="517065"/>
                  </a:cubicBezTo>
                  <a:cubicBezTo>
                    <a:pt x="2816" y="512051"/>
                    <a:pt x="0" y="505252"/>
                    <a:pt x="0" y="498163"/>
                  </a:cubicBezTo>
                  <a:lnTo>
                    <a:pt x="0" y="26731"/>
                  </a:lnTo>
                  <a:cubicBezTo>
                    <a:pt x="0" y="19641"/>
                    <a:pt x="2816" y="12842"/>
                    <a:pt x="7829" y="7829"/>
                  </a:cubicBezTo>
                  <a:cubicBezTo>
                    <a:pt x="12842" y="2816"/>
                    <a:pt x="19641" y="0"/>
                    <a:pt x="26731" y="0"/>
                  </a:cubicBezTo>
                  <a:close/>
                </a:path>
              </a:pathLst>
            </a:custGeom>
            <a:blipFill>
              <a:blip r:embed="rId4"/>
              <a:stretch>
                <a:fillRect l="-811" t="0" r="-811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137289" y="5236023"/>
            <a:ext cx="7682283" cy="7682283"/>
          </a:xfrm>
          <a:custGeom>
            <a:avLst/>
            <a:gdLst/>
            <a:ahLst/>
            <a:cxnLst/>
            <a:rect r="r" b="b" t="t" l="l"/>
            <a:pathLst>
              <a:path h="7682283" w="7682283">
                <a:moveTo>
                  <a:pt x="0" y="0"/>
                </a:moveTo>
                <a:lnTo>
                  <a:pt x="7682284" y="0"/>
                </a:lnTo>
                <a:lnTo>
                  <a:pt x="7682284" y="7682283"/>
                </a:lnTo>
                <a:lnTo>
                  <a:pt x="0" y="7682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459482" y="2094553"/>
            <a:ext cx="7280464" cy="6544826"/>
            <a:chOff x="0" y="0"/>
            <a:chExt cx="1807147" cy="16245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7147" cy="1624548"/>
            </a:xfrm>
            <a:custGeom>
              <a:avLst/>
              <a:gdLst/>
              <a:ahLst/>
              <a:cxnLst/>
              <a:rect r="r" b="b" t="t" l="l"/>
              <a:pathLst>
                <a:path h="1624548" w="1807147">
                  <a:moveTo>
                    <a:pt x="37218" y="0"/>
                  </a:moveTo>
                  <a:lnTo>
                    <a:pt x="1769928" y="0"/>
                  </a:lnTo>
                  <a:cubicBezTo>
                    <a:pt x="1779799" y="0"/>
                    <a:pt x="1789266" y="3921"/>
                    <a:pt x="1796246" y="10901"/>
                  </a:cubicBezTo>
                  <a:cubicBezTo>
                    <a:pt x="1803225" y="17881"/>
                    <a:pt x="1807147" y="27347"/>
                    <a:pt x="1807147" y="37218"/>
                  </a:cubicBezTo>
                  <a:lnTo>
                    <a:pt x="1807147" y="1587329"/>
                  </a:lnTo>
                  <a:cubicBezTo>
                    <a:pt x="1807147" y="1597200"/>
                    <a:pt x="1803225" y="1606667"/>
                    <a:pt x="1796246" y="1613647"/>
                  </a:cubicBezTo>
                  <a:cubicBezTo>
                    <a:pt x="1789266" y="1620627"/>
                    <a:pt x="1779799" y="1624548"/>
                    <a:pt x="1769928" y="1624548"/>
                  </a:cubicBezTo>
                  <a:lnTo>
                    <a:pt x="37218" y="1624548"/>
                  </a:lnTo>
                  <a:cubicBezTo>
                    <a:pt x="16663" y="1624548"/>
                    <a:pt x="0" y="1607885"/>
                    <a:pt x="0" y="1587329"/>
                  </a:cubicBezTo>
                  <a:lnTo>
                    <a:pt x="0" y="37218"/>
                  </a:lnTo>
                  <a:cubicBezTo>
                    <a:pt x="0" y="16663"/>
                    <a:pt x="16663" y="0"/>
                    <a:pt x="37218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807147" cy="1672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678557" y="2457505"/>
            <a:ext cx="654095" cy="654095"/>
          </a:xfrm>
          <a:custGeom>
            <a:avLst/>
            <a:gdLst/>
            <a:ahLst/>
            <a:cxnLst/>
            <a:rect r="r" b="b" t="t" l="l"/>
            <a:pathLst>
              <a:path h="654095" w="654095">
                <a:moveTo>
                  <a:pt x="0" y="0"/>
                </a:moveTo>
                <a:lnTo>
                  <a:pt x="654095" y="0"/>
                </a:lnTo>
                <a:lnTo>
                  <a:pt x="654095" y="654095"/>
                </a:lnTo>
                <a:lnTo>
                  <a:pt x="0" y="6540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2057859">
            <a:off x="16403743" y="9531416"/>
            <a:ext cx="2539909" cy="955930"/>
          </a:xfrm>
          <a:custGeom>
            <a:avLst/>
            <a:gdLst/>
            <a:ahLst/>
            <a:cxnLst/>
            <a:rect r="r" b="b" t="t" l="l"/>
            <a:pathLst>
              <a:path h="955930" w="2539909">
                <a:moveTo>
                  <a:pt x="0" y="955930"/>
                </a:moveTo>
                <a:lnTo>
                  <a:pt x="2539909" y="955930"/>
                </a:lnTo>
                <a:lnTo>
                  <a:pt x="2539909" y="0"/>
                </a:lnTo>
                <a:lnTo>
                  <a:pt x="0" y="0"/>
                </a:lnTo>
                <a:lnTo>
                  <a:pt x="0" y="95593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530096" y="3432789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true" rot="0">
            <a:off x="152025" y="15025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69" y="555239"/>
                </a:lnTo>
                <a:lnTo>
                  <a:pt x="1607269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29805" y="981983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9"/>
                </a:lnTo>
                <a:lnTo>
                  <a:pt x="0" y="5552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856752" y="2457505"/>
            <a:ext cx="3301405" cy="1898308"/>
          </a:xfrm>
          <a:custGeom>
            <a:avLst/>
            <a:gdLst/>
            <a:ahLst/>
            <a:cxnLst/>
            <a:rect r="r" b="b" t="t" l="l"/>
            <a:pathLst>
              <a:path h="1898308" w="3301405">
                <a:moveTo>
                  <a:pt x="0" y="0"/>
                </a:moveTo>
                <a:lnTo>
                  <a:pt x="3301405" y="0"/>
                </a:lnTo>
                <a:lnTo>
                  <a:pt x="3301405" y="1898308"/>
                </a:lnTo>
                <a:lnTo>
                  <a:pt x="0" y="189830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881864">
            <a:off x="16868818" y="1535121"/>
            <a:ext cx="1448947" cy="1289563"/>
          </a:xfrm>
          <a:custGeom>
            <a:avLst/>
            <a:gdLst/>
            <a:ahLst/>
            <a:cxnLst/>
            <a:rect r="r" b="b" t="t" l="l"/>
            <a:pathLst>
              <a:path h="1289563" w="1448947">
                <a:moveTo>
                  <a:pt x="0" y="0"/>
                </a:moveTo>
                <a:lnTo>
                  <a:pt x="1448948" y="0"/>
                </a:lnTo>
                <a:lnTo>
                  <a:pt x="1448948" y="1289563"/>
                </a:lnTo>
                <a:lnTo>
                  <a:pt x="0" y="12895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455665" y="15025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70" y="0"/>
                </a:lnTo>
                <a:lnTo>
                  <a:pt x="1607270" y="555239"/>
                </a:lnTo>
                <a:lnTo>
                  <a:pt x="0" y="5552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2008088">
            <a:off x="7772847" y="9124507"/>
            <a:ext cx="2344445" cy="1945890"/>
          </a:xfrm>
          <a:custGeom>
            <a:avLst/>
            <a:gdLst/>
            <a:ahLst/>
            <a:cxnLst/>
            <a:rect r="r" b="b" t="t" l="l"/>
            <a:pathLst>
              <a:path h="1945890" w="2344445">
                <a:moveTo>
                  <a:pt x="0" y="0"/>
                </a:moveTo>
                <a:lnTo>
                  <a:pt x="2344445" y="0"/>
                </a:lnTo>
                <a:lnTo>
                  <a:pt x="2344445" y="1945889"/>
                </a:lnTo>
                <a:lnTo>
                  <a:pt x="0" y="194588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-430373" y="473629"/>
            <a:ext cx="6985800" cy="2860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0"/>
              </a:lnSpc>
            </a:pPr>
            <a:r>
              <a:rPr lang="en-US" sz="5380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Ment</a:t>
            </a:r>
            <a:r>
              <a:rPr lang="en-US" b="true" sz="5380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al Health           &amp; </a:t>
            </a:r>
          </a:p>
          <a:p>
            <a:pPr algn="ctr">
              <a:lnSpc>
                <a:spcPts val="5380"/>
              </a:lnSpc>
            </a:pPr>
            <a:r>
              <a:rPr lang="en-US" b="true" sz="5380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Sentiment Analysis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35682" y="3524202"/>
            <a:ext cx="7057610" cy="512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6023" indent="-348012" lvl="1">
              <a:lnSpc>
                <a:spcPts val="4513"/>
              </a:lnSpc>
              <a:buFont typeface="Arial"/>
              <a:buChar char="•"/>
            </a:pP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naly</a:t>
            </a: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zes surveys and feedback.</a:t>
            </a:r>
          </a:p>
          <a:p>
            <a:pPr algn="l">
              <a:lnSpc>
                <a:spcPts val="4513"/>
              </a:lnSpc>
            </a:pPr>
          </a:p>
          <a:p>
            <a:pPr algn="l" marL="696023" indent="-348012" lvl="1">
              <a:lnSpc>
                <a:spcPts val="4513"/>
              </a:lnSpc>
              <a:buFont typeface="Arial"/>
              <a:buChar char="•"/>
            </a:pP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Can use emails with consent and chatbot conversations</a:t>
            </a:r>
          </a:p>
          <a:p>
            <a:pPr algn="l">
              <a:lnSpc>
                <a:spcPts val="4513"/>
              </a:lnSpc>
            </a:pPr>
          </a:p>
          <a:p>
            <a:pPr algn="l" marL="696023" indent="-348012" lvl="1">
              <a:lnSpc>
                <a:spcPts val="4513"/>
              </a:lnSpc>
              <a:buFont typeface="Arial"/>
              <a:buChar char="•"/>
            </a:pP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Detects stress, anxiety, burnout.</a:t>
            </a:r>
          </a:p>
          <a:p>
            <a:pPr algn="l">
              <a:lnSpc>
                <a:spcPts val="4513"/>
              </a:lnSpc>
            </a:pPr>
          </a:p>
          <a:p>
            <a:pPr algn="l" marL="696023" indent="-348012" lvl="1">
              <a:lnSpc>
                <a:spcPts val="4513"/>
              </a:lnSpc>
              <a:buFont typeface="Arial"/>
              <a:buChar char="•"/>
            </a:pP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NLP, sentiment analysis, emotion detection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89827" y="2430857"/>
            <a:ext cx="566947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Sentiment and Mental Health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3657" y="-1030594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408472"/>
            <a:ext cx="10299230" cy="5254645"/>
            <a:chOff x="0" y="0"/>
            <a:chExt cx="1069011" cy="5454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9011" cy="545407"/>
            </a:xfrm>
            <a:custGeom>
              <a:avLst/>
              <a:gdLst/>
              <a:ahLst/>
              <a:cxnLst/>
              <a:rect r="r" b="b" t="t" l="l"/>
              <a:pathLst>
                <a:path h="545407" w="1069011">
                  <a:moveTo>
                    <a:pt x="8269" y="0"/>
                  </a:moveTo>
                  <a:lnTo>
                    <a:pt x="1060742" y="0"/>
                  </a:lnTo>
                  <a:cubicBezTo>
                    <a:pt x="1062935" y="0"/>
                    <a:pt x="1065038" y="871"/>
                    <a:pt x="1066589" y="2422"/>
                  </a:cubicBezTo>
                  <a:cubicBezTo>
                    <a:pt x="1068139" y="3973"/>
                    <a:pt x="1069011" y="6076"/>
                    <a:pt x="1069011" y="8269"/>
                  </a:cubicBezTo>
                  <a:lnTo>
                    <a:pt x="1069011" y="537138"/>
                  </a:lnTo>
                  <a:cubicBezTo>
                    <a:pt x="1069011" y="539331"/>
                    <a:pt x="1068139" y="541434"/>
                    <a:pt x="1066589" y="542985"/>
                  </a:cubicBezTo>
                  <a:cubicBezTo>
                    <a:pt x="1065038" y="544536"/>
                    <a:pt x="1062935" y="545407"/>
                    <a:pt x="1060742" y="545407"/>
                  </a:cubicBezTo>
                  <a:lnTo>
                    <a:pt x="8269" y="545407"/>
                  </a:lnTo>
                  <a:cubicBezTo>
                    <a:pt x="6076" y="545407"/>
                    <a:pt x="3973" y="544536"/>
                    <a:pt x="2422" y="542985"/>
                  </a:cubicBezTo>
                  <a:cubicBezTo>
                    <a:pt x="871" y="541434"/>
                    <a:pt x="0" y="539331"/>
                    <a:pt x="0" y="537138"/>
                  </a:cubicBezTo>
                  <a:lnTo>
                    <a:pt x="0" y="8269"/>
                  </a:lnTo>
                  <a:cubicBezTo>
                    <a:pt x="0" y="6076"/>
                    <a:pt x="871" y="3973"/>
                    <a:pt x="2422" y="2422"/>
                  </a:cubicBezTo>
                  <a:cubicBezTo>
                    <a:pt x="3973" y="871"/>
                    <a:pt x="6076" y="0"/>
                    <a:pt x="8269" y="0"/>
                  </a:cubicBezTo>
                  <a:close/>
                </a:path>
              </a:pathLst>
            </a:custGeom>
            <a:blipFill>
              <a:blip r:embed="rId4"/>
              <a:stretch>
                <a:fillRect l="-389" t="0" r="-389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137289" y="5236023"/>
            <a:ext cx="7682283" cy="7682283"/>
          </a:xfrm>
          <a:custGeom>
            <a:avLst/>
            <a:gdLst/>
            <a:ahLst/>
            <a:cxnLst/>
            <a:rect r="r" b="b" t="t" l="l"/>
            <a:pathLst>
              <a:path h="7682283" w="7682283">
                <a:moveTo>
                  <a:pt x="0" y="0"/>
                </a:moveTo>
                <a:lnTo>
                  <a:pt x="7682284" y="0"/>
                </a:lnTo>
                <a:lnTo>
                  <a:pt x="7682284" y="7682283"/>
                </a:lnTo>
                <a:lnTo>
                  <a:pt x="0" y="7682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480205" y="3231037"/>
            <a:ext cx="7506022" cy="5891668"/>
            <a:chOff x="0" y="0"/>
            <a:chExt cx="1863135" cy="14624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3135" cy="1462422"/>
            </a:xfrm>
            <a:custGeom>
              <a:avLst/>
              <a:gdLst/>
              <a:ahLst/>
              <a:cxnLst/>
              <a:rect r="r" b="b" t="t" l="l"/>
              <a:pathLst>
                <a:path h="1462422" w="1863135">
                  <a:moveTo>
                    <a:pt x="36100" y="0"/>
                  </a:moveTo>
                  <a:lnTo>
                    <a:pt x="1827035" y="0"/>
                  </a:lnTo>
                  <a:cubicBezTo>
                    <a:pt x="1836609" y="0"/>
                    <a:pt x="1845791" y="3803"/>
                    <a:pt x="1852561" y="10573"/>
                  </a:cubicBezTo>
                  <a:cubicBezTo>
                    <a:pt x="1859331" y="17343"/>
                    <a:pt x="1863135" y="26526"/>
                    <a:pt x="1863135" y="36100"/>
                  </a:cubicBezTo>
                  <a:lnTo>
                    <a:pt x="1863135" y="1426322"/>
                  </a:lnTo>
                  <a:cubicBezTo>
                    <a:pt x="1863135" y="1435896"/>
                    <a:pt x="1859331" y="1445078"/>
                    <a:pt x="1852561" y="1451848"/>
                  </a:cubicBezTo>
                  <a:cubicBezTo>
                    <a:pt x="1845791" y="1458618"/>
                    <a:pt x="1836609" y="1462422"/>
                    <a:pt x="1827035" y="1462422"/>
                  </a:cubicBezTo>
                  <a:lnTo>
                    <a:pt x="36100" y="1462422"/>
                  </a:lnTo>
                  <a:cubicBezTo>
                    <a:pt x="26526" y="1462422"/>
                    <a:pt x="17343" y="1458618"/>
                    <a:pt x="10573" y="1451848"/>
                  </a:cubicBezTo>
                  <a:cubicBezTo>
                    <a:pt x="3803" y="1445078"/>
                    <a:pt x="0" y="1435896"/>
                    <a:pt x="0" y="1426322"/>
                  </a:cubicBezTo>
                  <a:lnTo>
                    <a:pt x="0" y="36100"/>
                  </a:lnTo>
                  <a:cubicBezTo>
                    <a:pt x="0" y="26526"/>
                    <a:pt x="3803" y="17343"/>
                    <a:pt x="10573" y="10573"/>
                  </a:cubicBezTo>
                  <a:cubicBezTo>
                    <a:pt x="17343" y="3803"/>
                    <a:pt x="26526" y="0"/>
                    <a:pt x="36100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863135" cy="1510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-1503861">
            <a:off x="16097622" y="9154019"/>
            <a:ext cx="2323356" cy="874427"/>
          </a:xfrm>
          <a:custGeom>
            <a:avLst/>
            <a:gdLst/>
            <a:ahLst/>
            <a:cxnLst/>
            <a:rect r="r" b="b" t="t" l="l"/>
            <a:pathLst>
              <a:path h="874427" w="2323356">
                <a:moveTo>
                  <a:pt x="0" y="874427"/>
                </a:moveTo>
                <a:lnTo>
                  <a:pt x="2323356" y="874427"/>
                </a:lnTo>
                <a:lnTo>
                  <a:pt x="2323356" y="0"/>
                </a:lnTo>
                <a:lnTo>
                  <a:pt x="0" y="0"/>
                </a:lnTo>
                <a:lnTo>
                  <a:pt x="0" y="87442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576932" y="3284071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true" rot="0">
            <a:off x="1028700" y="25808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362719" y="973176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70" y="0"/>
                </a:lnTo>
                <a:lnTo>
                  <a:pt x="1607270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8478641">
            <a:off x="16402812" y="410670"/>
            <a:ext cx="2323356" cy="874427"/>
          </a:xfrm>
          <a:custGeom>
            <a:avLst/>
            <a:gdLst/>
            <a:ahLst/>
            <a:cxnLst/>
            <a:rect r="r" b="b" t="t" l="l"/>
            <a:pathLst>
              <a:path h="874427" w="2323356">
                <a:moveTo>
                  <a:pt x="0" y="874426"/>
                </a:moveTo>
                <a:lnTo>
                  <a:pt x="2323357" y="874426"/>
                </a:lnTo>
                <a:lnTo>
                  <a:pt x="2323357" y="0"/>
                </a:lnTo>
                <a:lnTo>
                  <a:pt x="0" y="0"/>
                </a:lnTo>
                <a:lnTo>
                  <a:pt x="0" y="8744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941042" y="1690149"/>
            <a:ext cx="3367713" cy="2727848"/>
          </a:xfrm>
          <a:custGeom>
            <a:avLst/>
            <a:gdLst/>
            <a:ahLst/>
            <a:cxnLst/>
            <a:rect r="r" b="b" t="t" l="l"/>
            <a:pathLst>
              <a:path h="2727848" w="3367713">
                <a:moveTo>
                  <a:pt x="0" y="0"/>
                </a:moveTo>
                <a:lnTo>
                  <a:pt x="3367713" y="0"/>
                </a:lnTo>
                <a:lnTo>
                  <a:pt x="3367713" y="2727848"/>
                </a:lnTo>
                <a:lnTo>
                  <a:pt x="0" y="27278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425341" y="3313097"/>
            <a:ext cx="580625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Employee Performance Metrics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1283653">
            <a:off x="17085174" y="2687986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6" y="0"/>
                </a:lnTo>
                <a:lnTo>
                  <a:pt x="1339516" y="1192169"/>
                </a:lnTo>
                <a:lnTo>
                  <a:pt x="0" y="11921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9675" y="652227"/>
            <a:ext cx="6126175" cy="2497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0"/>
              </a:lnSpc>
            </a:pPr>
            <a:r>
              <a:rPr lang="en-US" sz="6080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Performance</a:t>
            </a:r>
          </a:p>
          <a:p>
            <a:pPr algn="ctr">
              <a:lnSpc>
                <a:spcPts val="6080"/>
              </a:lnSpc>
            </a:pPr>
            <a:r>
              <a:rPr lang="en-US" sz="6080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 &amp; </a:t>
            </a:r>
          </a:p>
          <a:p>
            <a:pPr algn="ctr">
              <a:lnSpc>
                <a:spcPts val="6080"/>
              </a:lnSpc>
            </a:pPr>
            <a:r>
              <a:rPr lang="en-US" sz="6080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AI Analysis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57303" y="4565915"/>
            <a:ext cx="7197629" cy="455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6023" indent="-348012" lvl="1">
              <a:lnSpc>
                <a:spcPts val="4513"/>
              </a:lnSpc>
              <a:buFont typeface="Arial"/>
              <a:buChar char="•"/>
            </a:pP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Tr</a:t>
            </a: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ack</a:t>
            </a: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 absenteeism and workforce health risk.</a:t>
            </a:r>
          </a:p>
          <a:p>
            <a:pPr algn="l">
              <a:lnSpc>
                <a:spcPts val="4513"/>
              </a:lnSpc>
            </a:pPr>
          </a:p>
          <a:p>
            <a:pPr algn="l" marL="696023" indent="-348012" lvl="1">
              <a:lnSpc>
                <a:spcPts val="4513"/>
              </a:lnSpc>
              <a:buFont typeface="Arial"/>
              <a:buChar char="•"/>
            </a:pP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Me</a:t>
            </a: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asures wellness program effectiveness.</a:t>
            </a:r>
          </a:p>
          <a:p>
            <a:pPr algn="l">
              <a:lnSpc>
                <a:spcPts val="4513"/>
              </a:lnSpc>
            </a:pPr>
          </a:p>
          <a:p>
            <a:pPr algn="l" marL="696023" indent="-348012" lvl="1">
              <a:lnSpc>
                <a:spcPts val="4513"/>
              </a:lnSpc>
              <a:buFont typeface="Arial"/>
              <a:buChar char="•"/>
            </a:pPr>
            <a:r>
              <a:rPr lang="en-US" sz="32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Helps admin monitor employee performance trends.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595403" y="3400727"/>
            <a:ext cx="654095" cy="654095"/>
          </a:xfrm>
          <a:custGeom>
            <a:avLst/>
            <a:gdLst/>
            <a:ahLst/>
            <a:cxnLst/>
            <a:rect r="r" b="b" t="t" l="l"/>
            <a:pathLst>
              <a:path h="654095" w="654095">
                <a:moveTo>
                  <a:pt x="0" y="0"/>
                </a:moveTo>
                <a:lnTo>
                  <a:pt x="654095" y="0"/>
                </a:lnTo>
                <a:lnTo>
                  <a:pt x="654095" y="654095"/>
                </a:lnTo>
                <a:lnTo>
                  <a:pt x="0" y="6540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3657" y="-1030594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44673" y="313248"/>
            <a:ext cx="2705499" cy="2746699"/>
          </a:xfrm>
          <a:custGeom>
            <a:avLst/>
            <a:gdLst/>
            <a:ahLst/>
            <a:cxnLst/>
            <a:rect r="r" b="b" t="t" l="l"/>
            <a:pathLst>
              <a:path h="2746699" w="2705499">
                <a:moveTo>
                  <a:pt x="0" y="0"/>
                </a:moveTo>
                <a:lnTo>
                  <a:pt x="2705499" y="0"/>
                </a:lnTo>
                <a:lnTo>
                  <a:pt x="2705499" y="2746700"/>
                </a:lnTo>
                <a:lnTo>
                  <a:pt x="0" y="274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37289" y="5236023"/>
            <a:ext cx="7682283" cy="7682283"/>
          </a:xfrm>
          <a:custGeom>
            <a:avLst/>
            <a:gdLst/>
            <a:ahLst/>
            <a:cxnLst/>
            <a:rect r="r" b="b" t="t" l="l"/>
            <a:pathLst>
              <a:path h="7682283" w="7682283">
                <a:moveTo>
                  <a:pt x="0" y="0"/>
                </a:moveTo>
                <a:lnTo>
                  <a:pt x="7682284" y="0"/>
                </a:lnTo>
                <a:lnTo>
                  <a:pt x="7682284" y="7682283"/>
                </a:lnTo>
                <a:lnTo>
                  <a:pt x="0" y="7682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9055050">
            <a:off x="16635620" y="9632431"/>
            <a:ext cx="2765075" cy="1040674"/>
          </a:xfrm>
          <a:custGeom>
            <a:avLst/>
            <a:gdLst/>
            <a:ahLst/>
            <a:cxnLst/>
            <a:rect r="r" b="b" t="t" l="l"/>
            <a:pathLst>
              <a:path h="1040674" w="2765075">
                <a:moveTo>
                  <a:pt x="0" y="1040673"/>
                </a:moveTo>
                <a:lnTo>
                  <a:pt x="2765075" y="1040673"/>
                </a:lnTo>
                <a:lnTo>
                  <a:pt x="2765075" y="0"/>
                </a:lnTo>
                <a:lnTo>
                  <a:pt x="0" y="0"/>
                </a:lnTo>
                <a:lnTo>
                  <a:pt x="0" y="104067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57816" y="1810062"/>
            <a:ext cx="5549698" cy="8342706"/>
            <a:chOff x="0" y="0"/>
            <a:chExt cx="1097159" cy="16493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159" cy="1649328"/>
            </a:xfrm>
            <a:custGeom>
              <a:avLst/>
              <a:gdLst/>
              <a:ahLst/>
              <a:cxnLst/>
              <a:rect r="r" b="b" t="t" l="l"/>
              <a:pathLst>
                <a:path h="1649328" w="1097159">
                  <a:moveTo>
                    <a:pt x="48826" y="0"/>
                  </a:moveTo>
                  <a:lnTo>
                    <a:pt x="1048333" y="0"/>
                  </a:lnTo>
                  <a:cubicBezTo>
                    <a:pt x="1075299" y="0"/>
                    <a:pt x="1097159" y="21860"/>
                    <a:pt x="1097159" y="48826"/>
                  </a:cubicBezTo>
                  <a:lnTo>
                    <a:pt x="1097159" y="1600503"/>
                  </a:lnTo>
                  <a:cubicBezTo>
                    <a:pt x="1097159" y="1627468"/>
                    <a:pt x="1075299" y="1649328"/>
                    <a:pt x="1048333" y="1649328"/>
                  </a:cubicBezTo>
                  <a:lnTo>
                    <a:pt x="48826" y="1649328"/>
                  </a:lnTo>
                  <a:cubicBezTo>
                    <a:pt x="21860" y="1649328"/>
                    <a:pt x="0" y="1627468"/>
                    <a:pt x="0" y="1600503"/>
                  </a:cubicBezTo>
                  <a:lnTo>
                    <a:pt x="0" y="48826"/>
                  </a:lnTo>
                  <a:cubicBezTo>
                    <a:pt x="0" y="21860"/>
                    <a:pt x="21860" y="0"/>
                    <a:pt x="48826" y="0"/>
                  </a:cubicBezTo>
                  <a:close/>
                </a:path>
              </a:pathLst>
            </a:custGeom>
            <a:blipFill>
              <a:blip r:embed="rId8"/>
              <a:stretch>
                <a:fillRect l="-387" t="0" r="-387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594088" y="3183412"/>
            <a:ext cx="7775833" cy="5764632"/>
            <a:chOff x="0" y="0"/>
            <a:chExt cx="1930107" cy="14308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30107" cy="1430889"/>
            </a:xfrm>
            <a:custGeom>
              <a:avLst/>
              <a:gdLst/>
              <a:ahLst/>
              <a:cxnLst/>
              <a:rect r="r" b="b" t="t" l="l"/>
              <a:pathLst>
                <a:path h="1430889" w="1930107">
                  <a:moveTo>
                    <a:pt x="34847" y="0"/>
                  </a:moveTo>
                  <a:lnTo>
                    <a:pt x="1895260" y="0"/>
                  </a:lnTo>
                  <a:cubicBezTo>
                    <a:pt x="1914505" y="0"/>
                    <a:pt x="1930107" y="15602"/>
                    <a:pt x="1930107" y="34847"/>
                  </a:cubicBezTo>
                  <a:lnTo>
                    <a:pt x="1930107" y="1396042"/>
                  </a:lnTo>
                  <a:cubicBezTo>
                    <a:pt x="1930107" y="1415287"/>
                    <a:pt x="1914505" y="1430889"/>
                    <a:pt x="1895260" y="1430889"/>
                  </a:cubicBezTo>
                  <a:lnTo>
                    <a:pt x="34847" y="1430889"/>
                  </a:lnTo>
                  <a:cubicBezTo>
                    <a:pt x="15602" y="1430889"/>
                    <a:pt x="0" y="1415287"/>
                    <a:pt x="0" y="1396042"/>
                  </a:cubicBezTo>
                  <a:lnTo>
                    <a:pt x="0" y="34847"/>
                  </a:lnTo>
                  <a:cubicBezTo>
                    <a:pt x="0" y="15602"/>
                    <a:pt x="15602" y="0"/>
                    <a:pt x="34847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30107" cy="1478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719659" y="3297169"/>
            <a:ext cx="654095" cy="654095"/>
          </a:xfrm>
          <a:custGeom>
            <a:avLst/>
            <a:gdLst/>
            <a:ahLst/>
            <a:cxnLst/>
            <a:rect r="r" b="b" t="t" l="l"/>
            <a:pathLst>
              <a:path h="654095" w="654095">
                <a:moveTo>
                  <a:pt x="0" y="0"/>
                </a:moveTo>
                <a:lnTo>
                  <a:pt x="654095" y="0"/>
                </a:lnTo>
                <a:lnTo>
                  <a:pt x="654095" y="654094"/>
                </a:lnTo>
                <a:lnTo>
                  <a:pt x="0" y="6540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279246" y="1484904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true" rot="10646351">
            <a:off x="8058308" y="-45821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69" y="555239"/>
                </a:lnTo>
                <a:lnTo>
                  <a:pt x="1607269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766484" y="973176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70" y="0"/>
                </a:lnTo>
                <a:lnTo>
                  <a:pt x="1607270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9164109">
            <a:off x="16637937" y="-183519"/>
            <a:ext cx="2639823" cy="993533"/>
          </a:xfrm>
          <a:custGeom>
            <a:avLst/>
            <a:gdLst/>
            <a:ahLst/>
            <a:cxnLst/>
            <a:rect r="r" b="b" t="t" l="l"/>
            <a:pathLst>
              <a:path h="993533" w="2639823">
                <a:moveTo>
                  <a:pt x="0" y="993534"/>
                </a:moveTo>
                <a:lnTo>
                  <a:pt x="2639823" y="993534"/>
                </a:lnTo>
                <a:lnTo>
                  <a:pt x="2639823" y="0"/>
                </a:lnTo>
                <a:lnTo>
                  <a:pt x="0" y="0"/>
                </a:lnTo>
                <a:lnTo>
                  <a:pt x="0" y="99353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625900" y="3348648"/>
            <a:ext cx="5918178" cy="56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Chatbot Support and Assistance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1607155">
            <a:off x="14553599" y="2701084"/>
            <a:ext cx="1339516" cy="1192169"/>
          </a:xfrm>
          <a:custGeom>
            <a:avLst/>
            <a:gdLst/>
            <a:ahLst/>
            <a:cxnLst/>
            <a:rect r="r" b="b" t="t" l="l"/>
            <a:pathLst>
              <a:path h="1192169" w="1339516">
                <a:moveTo>
                  <a:pt x="0" y="0"/>
                </a:moveTo>
                <a:lnTo>
                  <a:pt x="1339516" y="0"/>
                </a:lnTo>
                <a:lnTo>
                  <a:pt x="1339516" y="1192169"/>
                </a:lnTo>
                <a:lnTo>
                  <a:pt x="0" y="119216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79246" y="499249"/>
            <a:ext cx="7462411" cy="96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6180" b="true">
                <a:solidFill>
                  <a:srgbClr val="231F2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Chatbot Module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24012" y="4455099"/>
            <a:ext cx="7745909" cy="424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844" indent="-326422" lvl="1">
              <a:lnSpc>
                <a:spcPts val="4233"/>
              </a:lnSpc>
              <a:buFont typeface="Arial"/>
              <a:buChar char="•"/>
            </a:pPr>
            <a:r>
              <a:rPr lang="en-US" sz="30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AI-powered wellnes</a:t>
            </a:r>
            <a:r>
              <a:rPr lang="en-US" sz="30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 assistant for employees.</a:t>
            </a:r>
          </a:p>
          <a:p>
            <a:pPr algn="l">
              <a:lnSpc>
                <a:spcPts val="4233"/>
              </a:lnSpc>
            </a:pPr>
          </a:p>
          <a:p>
            <a:pPr algn="l" marL="652844" indent="-326422" lvl="1">
              <a:lnSpc>
                <a:spcPts val="4233"/>
              </a:lnSpc>
              <a:buFont typeface="Arial"/>
              <a:buChar char="•"/>
            </a:pPr>
            <a:r>
              <a:rPr lang="en-US" sz="30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Answer</a:t>
            </a:r>
            <a:r>
              <a:rPr lang="en-US" sz="30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 questions on sleep, diet, exercise, stress, and burnout.</a:t>
            </a:r>
          </a:p>
          <a:p>
            <a:pPr algn="l">
              <a:lnSpc>
                <a:spcPts val="4233"/>
              </a:lnSpc>
            </a:pPr>
          </a:p>
          <a:p>
            <a:pPr algn="l" marL="652844" indent="-326422" lvl="1">
              <a:lnSpc>
                <a:spcPts val="4233"/>
              </a:lnSpc>
              <a:buFont typeface="Arial"/>
              <a:buChar char="•"/>
            </a:pPr>
            <a:r>
              <a:rPr lang="en-US" sz="30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Provid</a:t>
            </a:r>
            <a:r>
              <a:rPr lang="en-US" sz="302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es interactive chat support inside the user dashboard.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397967" y="166899"/>
            <a:ext cx="10795933" cy="107959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8D1D9">
                <a:alpha val="3882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3212156" y="878351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33004" y="1787235"/>
            <a:ext cx="5761486" cy="6096810"/>
          </a:xfrm>
          <a:custGeom>
            <a:avLst/>
            <a:gdLst/>
            <a:ahLst/>
            <a:cxnLst/>
            <a:rect r="r" b="b" t="t" l="l"/>
            <a:pathLst>
              <a:path h="6096810" w="5761486">
                <a:moveTo>
                  <a:pt x="0" y="0"/>
                </a:moveTo>
                <a:lnTo>
                  <a:pt x="5761486" y="0"/>
                </a:lnTo>
                <a:lnTo>
                  <a:pt x="5761486" y="6096810"/>
                </a:lnTo>
                <a:lnTo>
                  <a:pt x="0" y="60968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794588">
            <a:off x="16174276" y="8748047"/>
            <a:ext cx="2167024" cy="1116017"/>
          </a:xfrm>
          <a:custGeom>
            <a:avLst/>
            <a:gdLst/>
            <a:ahLst/>
            <a:cxnLst/>
            <a:rect r="r" b="b" t="t" l="l"/>
            <a:pathLst>
              <a:path h="1116017" w="2167024">
                <a:moveTo>
                  <a:pt x="0" y="0"/>
                </a:moveTo>
                <a:lnTo>
                  <a:pt x="2167024" y="0"/>
                </a:lnTo>
                <a:lnTo>
                  <a:pt x="2167024" y="1116017"/>
                </a:lnTo>
                <a:lnTo>
                  <a:pt x="0" y="11160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423571">
            <a:off x="-1065581" y="9250132"/>
            <a:ext cx="3142632" cy="1085637"/>
          </a:xfrm>
          <a:custGeom>
            <a:avLst/>
            <a:gdLst/>
            <a:ahLst/>
            <a:cxnLst/>
            <a:rect r="r" b="b" t="t" l="l"/>
            <a:pathLst>
              <a:path h="1085637" w="3142632">
                <a:moveTo>
                  <a:pt x="0" y="0"/>
                </a:moveTo>
                <a:lnTo>
                  <a:pt x="3142632" y="0"/>
                </a:lnTo>
                <a:lnTo>
                  <a:pt x="3142632" y="1085636"/>
                </a:lnTo>
                <a:lnTo>
                  <a:pt x="0" y="108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12156" y="751081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951530">
            <a:off x="4702004" y="4670242"/>
            <a:ext cx="1010924" cy="1789246"/>
          </a:xfrm>
          <a:custGeom>
            <a:avLst/>
            <a:gdLst/>
            <a:ahLst/>
            <a:cxnLst/>
            <a:rect r="r" b="b" t="t" l="l"/>
            <a:pathLst>
              <a:path h="1789246" w="1010924">
                <a:moveTo>
                  <a:pt x="0" y="0"/>
                </a:moveTo>
                <a:lnTo>
                  <a:pt x="1010925" y="0"/>
                </a:lnTo>
                <a:lnTo>
                  <a:pt x="1010925" y="1789247"/>
                </a:lnTo>
                <a:lnTo>
                  <a:pt x="0" y="17892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3167427"/>
            <a:ext cx="11010322" cy="4451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b="true" sz="8100" spc="162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Additional</a:t>
            </a:r>
          </a:p>
          <a:p>
            <a:pPr algn="ctr">
              <a:lnSpc>
                <a:spcPts val="11340"/>
              </a:lnSpc>
            </a:pPr>
            <a:r>
              <a:rPr lang="en-US" b="true" sz="8100" spc="162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 </a:t>
            </a:r>
          </a:p>
          <a:p>
            <a:pPr algn="ctr">
              <a:lnSpc>
                <a:spcPts val="11340"/>
              </a:lnSpc>
            </a:pPr>
            <a:r>
              <a:rPr lang="en-US" b="true" sz="8100" spc="162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Features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3657" y="-1030594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2253" y="6434662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5"/>
                </a:lnTo>
                <a:lnTo>
                  <a:pt x="0" y="617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19694" y="9706098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9"/>
                </a:lnTo>
                <a:lnTo>
                  <a:pt x="0" y="55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503861">
            <a:off x="17114129" y="8821087"/>
            <a:ext cx="2323356" cy="874427"/>
          </a:xfrm>
          <a:custGeom>
            <a:avLst/>
            <a:gdLst/>
            <a:ahLst/>
            <a:cxnLst/>
            <a:rect r="r" b="b" t="t" l="l"/>
            <a:pathLst>
              <a:path h="874427" w="2323356">
                <a:moveTo>
                  <a:pt x="0" y="874426"/>
                </a:moveTo>
                <a:lnTo>
                  <a:pt x="2323356" y="874426"/>
                </a:lnTo>
                <a:lnTo>
                  <a:pt x="2323356" y="0"/>
                </a:lnTo>
                <a:lnTo>
                  <a:pt x="0" y="0"/>
                </a:lnTo>
                <a:lnTo>
                  <a:pt x="0" y="87442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7050547" y="1203589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true" rot="0">
            <a:off x="225065" y="78494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70" y="555238"/>
                </a:lnTo>
                <a:lnTo>
                  <a:pt x="1607270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44562" y="4917032"/>
            <a:ext cx="8370486" cy="4942649"/>
            <a:chOff x="0" y="0"/>
            <a:chExt cx="1958915" cy="11567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8915" cy="1156710"/>
            </a:xfrm>
            <a:custGeom>
              <a:avLst/>
              <a:gdLst/>
              <a:ahLst/>
              <a:cxnLst/>
              <a:rect r="r" b="b" t="t" l="l"/>
              <a:pathLst>
                <a:path h="1156710" w="1958915">
                  <a:moveTo>
                    <a:pt x="13874" y="0"/>
                  </a:moveTo>
                  <a:lnTo>
                    <a:pt x="1945041" y="0"/>
                  </a:lnTo>
                  <a:cubicBezTo>
                    <a:pt x="1948720" y="0"/>
                    <a:pt x="1952249" y="1462"/>
                    <a:pt x="1954851" y="4063"/>
                  </a:cubicBezTo>
                  <a:cubicBezTo>
                    <a:pt x="1957453" y="6665"/>
                    <a:pt x="1958915" y="10194"/>
                    <a:pt x="1958915" y="13874"/>
                  </a:cubicBezTo>
                  <a:lnTo>
                    <a:pt x="1958915" y="1142837"/>
                  </a:lnTo>
                  <a:cubicBezTo>
                    <a:pt x="1958915" y="1150499"/>
                    <a:pt x="1952703" y="1156710"/>
                    <a:pt x="1945041" y="1156710"/>
                  </a:cubicBezTo>
                  <a:lnTo>
                    <a:pt x="13874" y="1156710"/>
                  </a:lnTo>
                  <a:cubicBezTo>
                    <a:pt x="6211" y="1156710"/>
                    <a:pt x="0" y="1150499"/>
                    <a:pt x="0" y="1142837"/>
                  </a:cubicBezTo>
                  <a:lnTo>
                    <a:pt x="0" y="13874"/>
                  </a:lnTo>
                  <a:cubicBezTo>
                    <a:pt x="0" y="6211"/>
                    <a:pt x="6211" y="0"/>
                    <a:pt x="13874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6450" r="0" b="-645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0" y="1568121"/>
            <a:ext cx="8414542" cy="4395316"/>
            <a:chOff x="0" y="0"/>
            <a:chExt cx="1526146" cy="7971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6146" cy="797179"/>
            </a:xfrm>
            <a:custGeom>
              <a:avLst/>
              <a:gdLst/>
              <a:ahLst/>
              <a:cxnLst/>
              <a:rect r="r" b="b" t="t" l="l"/>
              <a:pathLst>
                <a:path h="797179" w="1526146">
                  <a:moveTo>
                    <a:pt x="8281" y="0"/>
                  </a:moveTo>
                  <a:lnTo>
                    <a:pt x="1517866" y="0"/>
                  </a:lnTo>
                  <a:cubicBezTo>
                    <a:pt x="1520062" y="0"/>
                    <a:pt x="1522168" y="872"/>
                    <a:pt x="1523721" y="2425"/>
                  </a:cubicBezTo>
                  <a:cubicBezTo>
                    <a:pt x="1525274" y="3978"/>
                    <a:pt x="1526146" y="6084"/>
                    <a:pt x="1526146" y="8281"/>
                  </a:cubicBezTo>
                  <a:lnTo>
                    <a:pt x="1526146" y="788898"/>
                  </a:lnTo>
                  <a:cubicBezTo>
                    <a:pt x="1526146" y="791094"/>
                    <a:pt x="1525274" y="793201"/>
                    <a:pt x="1523721" y="794754"/>
                  </a:cubicBezTo>
                  <a:cubicBezTo>
                    <a:pt x="1522168" y="796306"/>
                    <a:pt x="1520062" y="797179"/>
                    <a:pt x="1517866" y="797179"/>
                  </a:cubicBezTo>
                  <a:lnTo>
                    <a:pt x="8281" y="797179"/>
                  </a:lnTo>
                  <a:cubicBezTo>
                    <a:pt x="6084" y="797179"/>
                    <a:pt x="3978" y="796306"/>
                    <a:pt x="2425" y="794754"/>
                  </a:cubicBezTo>
                  <a:cubicBezTo>
                    <a:pt x="872" y="793201"/>
                    <a:pt x="0" y="791094"/>
                    <a:pt x="0" y="788898"/>
                  </a:cubicBezTo>
                  <a:lnTo>
                    <a:pt x="0" y="8281"/>
                  </a:lnTo>
                  <a:cubicBezTo>
                    <a:pt x="0" y="6084"/>
                    <a:pt x="872" y="3978"/>
                    <a:pt x="2425" y="2425"/>
                  </a:cubicBezTo>
                  <a:cubicBezTo>
                    <a:pt x="3978" y="872"/>
                    <a:pt x="6084" y="0"/>
                    <a:pt x="8281" y="0"/>
                  </a:cubicBezTo>
                  <a:close/>
                </a:path>
              </a:pathLst>
            </a:custGeom>
            <a:blipFill>
              <a:blip r:embed="rId9"/>
              <a:stretch>
                <a:fillRect l="-672" t="0" r="-672" b="0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7259300" y="14516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643470" y="9706098"/>
            <a:ext cx="2318611" cy="1078154"/>
          </a:xfrm>
          <a:custGeom>
            <a:avLst/>
            <a:gdLst/>
            <a:ahLst/>
            <a:cxnLst/>
            <a:rect r="r" b="b" t="t" l="l"/>
            <a:pathLst>
              <a:path h="1078154" w="2318611">
                <a:moveTo>
                  <a:pt x="0" y="0"/>
                </a:moveTo>
                <a:lnTo>
                  <a:pt x="2318611" y="0"/>
                </a:lnTo>
                <a:lnTo>
                  <a:pt x="2318611" y="1078155"/>
                </a:lnTo>
                <a:lnTo>
                  <a:pt x="0" y="10781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592235" y="6434662"/>
            <a:ext cx="6909166" cy="3301929"/>
            <a:chOff x="0" y="0"/>
            <a:chExt cx="1714984" cy="81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14984" cy="819600"/>
            </a:xfrm>
            <a:custGeom>
              <a:avLst/>
              <a:gdLst/>
              <a:ahLst/>
              <a:cxnLst/>
              <a:rect r="r" b="b" t="t" l="l"/>
              <a:pathLst>
                <a:path h="819600" w="1714984">
                  <a:moveTo>
                    <a:pt x="39219" y="0"/>
                  </a:moveTo>
                  <a:lnTo>
                    <a:pt x="1675765" y="0"/>
                  </a:lnTo>
                  <a:cubicBezTo>
                    <a:pt x="1686167" y="0"/>
                    <a:pt x="1696142" y="4132"/>
                    <a:pt x="1703497" y="11487"/>
                  </a:cubicBezTo>
                  <a:cubicBezTo>
                    <a:pt x="1710852" y="18842"/>
                    <a:pt x="1714984" y="28817"/>
                    <a:pt x="1714984" y="39219"/>
                  </a:cubicBezTo>
                  <a:lnTo>
                    <a:pt x="1714984" y="780382"/>
                  </a:lnTo>
                  <a:cubicBezTo>
                    <a:pt x="1714984" y="790783"/>
                    <a:pt x="1710852" y="800758"/>
                    <a:pt x="1703497" y="808113"/>
                  </a:cubicBezTo>
                  <a:cubicBezTo>
                    <a:pt x="1696142" y="815468"/>
                    <a:pt x="1686167" y="819600"/>
                    <a:pt x="1675765" y="819600"/>
                  </a:cubicBezTo>
                  <a:lnTo>
                    <a:pt x="39219" y="819600"/>
                  </a:lnTo>
                  <a:cubicBezTo>
                    <a:pt x="17559" y="819600"/>
                    <a:pt x="0" y="802041"/>
                    <a:pt x="0" y="780382"/>
                  </a:cubicBezTo>
                  <a:lnTo>
                    <a:pt x="0" y="39219"/>
                  </a:lnTo>
                  <a:cubicBezTo>
                    <a:pt x="0" y="28817"/>
                    <a:pt x="4132" y="18842"/>
                    <a:pt x="11487" y="11487"/>
                  </a:cubicBezTo>
                  <a:cubicBezTo>
                    <a:pt x="18842" y="4132"/>
                    <a:pt x="28817" y="0"/>
                    <a:pt x="39219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714984" cy="86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725074" y="6559526"/>
            <a:ext cx="516503" cy="516503"/>
          </a:xfrm>
          <a:custGeom>
            <a:avLst/>
            <a:gdLst/>
            <a:ahLst/>
            <a:cxnLst/>
            <a:rect r="r" b="b" t="t" l="l"/>
            <a:pathLst>
              <a:path h="516503" w="516503">
                <a:moveTo>
                  <a:pt x="0" y="0"/>
                </a:moveTo>
                <a:lnTo>
                  <a:pt x="516503" y="0"/>
                </a:lnTo>
                <a:lnTo>
                  <a:pt x="516503" y="516503"/>
                </a:lnTo>
                <a:lnTo>
                  <a:pt x="0" y="516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527003" y="6558504"/>
            <a:ext cx="4905161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Added Features for Analytics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1765157">
            <a:off x="15801381" y="6082595"/>
            <a:ext cx="1071756" cy="953863"/>
          </a:xfrm>
          <a:custGeom>
            <a:avLst/>
            <a:gdLst/>
            <a:ahLst/>
            <a:cxnLst/>
            <a:rect r="r" b="b" t="t" l="l"/>
            <a:pathLst>
              <a:path h="953863" w="1071756">
                <a:moveTo>
                  <a:pt x="0" y="0"/>
                </a:moveTo>
                <a:lnTo>
                  <a:pt x="1071756" y="0"/>
                </a:lnTo>
                <a:lnTo>
                  <a:pt x="1071756" y="953863"/>
                </a:lnTo>
                <a:lnTo>
                  <a:pt x="0" y="9538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21736" y="975782"/>
            <a:ext cx="3869944" cy="3909034"/>
          </a:xfrm>
          <a:custGeom>
            <a:avLst/>
            <a:gdLst/>
            <a:ahLst/>
            <a:cxnLst/>
            <a:rect r="r" b="b" t="t" l="l"/>
            <a:pathLst>
              <a:path h="3909034" w="3869944">
                <a:moveTo>
                  <a:pt x="0" y="0"/>
                </a:moveTo>
                <a:lnTo>
                  <a:pt x="3869944" y="0"/>
                </a:lnTo>
                <a:lnTo>
                  <a:pt x="3869944" y="3909034"/>
                </a:lnTo>
                <a:lnTo>
                  <a:pt x="0" y="390903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612652" y="7103877"/>
            <a:ext cx="6304048" cy="255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5392" indent="-312696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Added wellness-focused extension modules.</a:t>
            </a:r>
          </a:p>
          <a:p>
            <a:pPr algn="l">
              <a:lnSpc>
                <a:spcPts val="4055"/>
              </a:lnSpc>
            </a:pPr>
          </a:p>
          <a:p>
            <a:pPr algn="l" marL="625392" indent="-312696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Send announcements across all employees or each individually.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12262" y="-85318"/>
            <a:ext cx="8046182" cy="1177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31"/>
              </a:lnSpc>
            </a:pPr>
            <a:r>
              <a:rPr lang="en-US" sz="6879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Admin Dashboard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120704" y="78494"/>
            <a:ext cx="1027753" cy="1027753"/>
          </a:xfrm>
          <a:custGeom>
            <a:avLst/>
            <a:gdLst/>
            <a:ahLst/>
            <a:cxnLst/>
            <a:rect r="r" b="b" t="t" l="l"/>
            <a:pathLst>
              <a:path h="1027753" w="1027753">
                <a:moveTo>
                  <a:pt x="0" y="0"/>
                </a:moveTo>
                <a:lnTo>
                  <a:pt x="1027752" y="0"/>
                </a:lnTo>
                <a:lnTo>
                  <a:pt x="1027752" y="1027753"/>
                </a:lnTo>
                <a:lnTo>
                  <a:pt x="0" y="102775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79865" y="9784216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3657" y="-1030594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9865" y="9716676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9476" y="5372915"/>
            <a:ext cx="8223022" cy="4353286"/>
            <a:chOff x="0" y="0"/>
            <a:chExt cx="997143" cy="527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7143" cy="527889"/>
            </a:xfrm>
            <a:custGeom>
              <a:avLst/>
              <a:gdLst/>
              <a:ahLst/>
              <a:cxnLst/>
              <a:rect r="r" b="b" t="t" l="l"/>
              <a:pathLst>
                <a:path h="527889" w="997143">
                  <a:moveTo>
                    <a:pt x="8473" y="0"/>
                  </a:moveTo>
                  <a:lnTo>
                    <a:pt x="988669" y="0"/>
                  </a:lnTo>
                  <a:cubicBezTo>
                    <a:pt x="990916" y="0"/>
                    <a:pt x="993072" y="893"/>
                    <a:pt x="994661" y="2482"/>
                  </a:cubicBezTo>
                  <a:cubicBezTo>
                    <a:pt x="996250" y="4071"/>
                    <a:pt x="997143" y="6226"/>
                    <a:pt x="997143" y="8473"/>
                  </a:cubicBezTo>
                  <a:lnTo>
                    <a:pt x="997143" y="519416"/>
                  </a:lnTo>
                  <a:cubicBezTo>
                    <a:pt x="997143" y="521663"/>
                    <a:pt x="996250" y="523819"/>
                    <a:pt x="994661" y="525408"/>
                  </a:cubicBezTo>
                  <a:cubicBezTo>
                    <a:pt x="993072" y="526997"/>
                    <a:pt x="990916" y="527889"/>
                    <a:pt x="988669" y="527889"/>
                  </a:cubicBezTo>
                  <a:lnTo>
                    <a:pt x="8473" y="527889"/>
                  </a:lnTo>
                  <a:cubicBezTo>
                    <a:pt x="6226" y="527889"/>
                    <a:pt x="4071" y="526997"/>
                    <a:pt x="2482" y="525408"/>
                  </a:cubicBezTo>
                  <a:cubicBezTo>
                    <a:pt x="893" y="523819"/>
                    <a:pt x="0" y="521663"/>
                    <a:pt x="0" y="519416"/>
                  </a:cubicBezTo>
                  <a:lnTo>
                    <a:pt x="0" y="8473"/>
                  </a:lnTo>
                  <a:cubicBezTo>
                    <a:pt x="0" y="6226"/>
                    <a:pt x="893" y="4071"/>
                    <a:pt x="2482" y="2482"/>
                  </a:cubicBezTo>
                  <a:cubicBezTo>
                    <a:pt x="4071" y="893"/>
                    <a:pt x="6226" y="0"/>
                    <a:pt x="8473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387" r="0" b="-387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951255" y="6619051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19694" y="9706098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9"/>
                </a:lnTo>
                <a:lnTo>
                  <a:pt x="0" y="55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005203" y="1353524"/>
            <a:ext cx="7870182" cy="4087031"/>
            <a:chOff x="0" y="0"/>
            <a:chExt cx="1629057" cy="8459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9057" cy="845979"/>
            </a:xfrm>
            <a:custGeom>
              <a:avLst/>
              <a:gdLst/>
              <a:ahLst/>
              <a:cxnLst/>
              <a:rect r="r" b="b" t="t" l="l"/>
              <a:pathLst>
                <a:path h="845979" w="1629057">
                  <a:moveTo>
                    <a:pt x="4919" y="0"/>
                  </a:moveTo>
                  <a:lnTo>
                    <a:pt x="1624138" y="0"/>
                  </a:lnTo>
                  <a:cubicBezTo>
                    <a:pt x="1625443" y="0"/>
                    <a:pt x="1626694" y="518"/>
                    <a:pt x="1627616" y="1441"/>
                  </a:cubicBezTo>
                  <a:cubicBezTo>
                    <a:pt x="1628539" y="2363"/>
                    <a:pt x="1629057" y="3614"/>
                    <a:pt x="1629057" y="4919"/>
                  </a:cubicBezTo>
                  <a:lnTo>
                    <a:pt x="1629057" y="841060"/>
                  </a:lnTo>
                  <a:cubicBezTo>
                    <a:pt x="1629057" y="843777"/>
                    <a:pt x="1626855" y="845979"/>
                    <a:pt x="1624138" y="845979"/>
                  </a:cubicBezTo>
                  <a:lnTo>
                    <a:pt x="4919" y="845979"/>
                  </a:lnTo>
                  <a:cubicBezTo>
                    <a:pt x="3614" y="845979"/>
                    <a:pt x="2363" y="845461"/>
                    <a:pt x="1441" y="844538"/>
                  </a:cubicBezTo>
                  <a:cubicBezTo>
                    <a:pt x="518" y="843616"/>
                    <a:pt x="0" y="842365"/>
                    <a:pt x="0" y="841060"/>
                  </a:cubicBezTo>
                  <a:lnTo>
                    <a:pt x="0" y="4919"/>
                  </a:lnTo>
                  <a:cubicBezTo>
                    <a:pt x="0" y="3614"/>
                    <a:pt x="518" y="2363"/>
                    <a:pt x="1441" y="1441"/>
                  </a:cubicBezTo>
                  <a:cubicBezTo>
                    <a:pt x="2363" y="518"/>
                    <a:pt x="3614" y="0"/>
                    <a:pt x="4919" y="0"/>
                  </a:cubicBezTo>
                  <a:close/>
                </a:path>
              </a:pathLst>
            </a:custGeom>
            <a:blipFill>
              <a:blip r:embed="rId7"/>
              <a:stretch>
                <a:fillRect l="-780" t="0" r="-780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005203" y="5953148"/>
            <a:ext cx="6304048" cy="3839811"/>
            <a:chOff x="0" y="0"/>
            <a:chExt cx="1564782" cy="9531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64782" cy="953113"/>
            </a:xfrm>
            <a:custGeom>
              <a:avLst/>
              <a:gdLst/>
              <a:ahLst/>
              <a:cxnLst/>
              <a:rect r="r" b="b" t="t" l="l"/>
              <a:pathLst>
                <a:path h="953113" w="1564782">
                  <a:moveTo>
                    <a:pt x="42983" y="0"/>
                  </a:moveTo>
                  <a:lnTo>
                    <a:pt x="1521799" y="0"/>
                  </a:lnTo>
                  <a:cubicBezTo>
                    <a:pt x="1545538" y="0"/>
                    <a:pt x="1564782" y="19244"/>
                    <a:pt x="1564782" y="42983"/>
                  </a:cubicBezTo>
                  <a:lnTo>
                    <a:pt x="1564782" y="910130"/>
                  </a:lnTo>
                  <a:cubicBezTo>
                    <a:pt x="1564782" y="933868"/>
                    <a:pt x="1545538" y="953113"/>
                    <a:pt x="1521799" y="953113"/>
                  </a:cubicBezTo>
                  <a:lnTo>
                    <a:pt x="42983" y="953113"/>
                  </a:lnTo>
                  <a:cubicBezTo>
                    <a:pt x="19244" y="953113"/>
                    <a:pt x="0" y="933868"/>
                    <a:pt x="0" y="910130"/>
                  </a:cubicBezTo>
                  <a:lnTo>
                    <a:pt x="0" y="42983"/>
                  </a:lnTo>
                  <a:cubicBezTo>
                    <a:pt x="0" y="19244"/>
                    <a:pt x="19244" y="0"/>
                    <a:pt x="42983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564782" cy="10007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144000" y="5953148"/>
            <a:ext cx="580070" cy="580070"/>
          </a:xfrm>
          <a:custGeom>
            <a:avLst/>
            <a:gdLst/>
            <a:ahLst/>
            <a:cxnLst/>
            <a:rect r="r" b="b" t="t" l="l"/>
            <a:pathLst>
              <a:path h="580070" w="580070">
                <a:moveTo>
                  <a:pt x="0" y="0"/>
                </a:moveTo>
                <a:lnTo>
                  <a:pt x="580070" y="0"/>
                </a:lnTo>
                <a:lnTo>
                  <a:pt x="580070" y="580070"/>
                </a:lnTo>
                <a:lnTo>
                  <a:pt x="0" y="5800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1503861">
            <a:off x="17114129" y="8821087"/>
            <a:ext cx="2323356" cy="874427"/>
          </a:xfrm>
          <a:custGeom>
            <a:avLst/>
            <a:gdLst/>
            <a:ahLst/>
            <a:cxnLst/>
            <a:rect r="r" b="b" t="t" l="l"/>
            <a:pathLst>
              <a:path h="874427" w="2323356">
                <a:moveTo>
                  <a:pt x="0" y="874426"/>
                </a:moveTo>
                <a:lnTo>
                  <a:pt x="2323356" y="874426"/>
                </a:lnTo>
                <a:lnTo>
                  <a:pt x="2323356" y="0"/>
                </a:lnTo>
                <a:lnTo>
                  <a:pt x="0" y="0"/>
                </a:lnTo>
                <a:lnTo>
                  <a:pt x="0" y="874426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flipV="true">
            <a:off x="6946166" y="1241689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true" rot="0">
            <a:off x="1028700" y="292644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69" y="555239"/>
                </a:lnTo>
                <a:lnTo>
                  <a:pt x="1607269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17259300" y="14516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151002" y="9819105"/>
            <a:ext cx="2012451" cy="935790"/>
          </a:xfrm>
          <a:custGeom>
            <a:avLst/>
            <a:gdLst/>
            <a:ahLst/>
            <a:cxnLst/>
            <a:rect r="r" b="b" t="t" l="l"/>
            <a:pathLst>
              <a:path h="935790" w="2012451">
                <a:moveTo>
                  <a:pt x="0" y="0"/>
                </a:moveTo>
                <a:lnTo>
                  <a:pt x="2012451" y="0"/>
                </a:lnTo>
                <a:lnTo>
                  <a:pt x="2012451" y="935790"/>
                </a:lnTo>
                <a:lnTo>
                  <a:pt x="0" y="9357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1765157">
            <a:off x="14506769" y="5642276"/>
            <a:ext cx="1071756" cy="953863"/>
          </a:xfrm>
          <a:custGeom>
            <a:avLst/>
            <a:gdLst/>
            <a:ahLst/>
            <a:cxnLst/>
            <a:rect r="r" b="b" t="t" l="l"/>
            <a:pathLst>
              <a:path h="953863" w="1071756">
                <a:moveTo>
                  <a:pt x="0" y="0"/>
                </a:moveTo>
                <a:lnTo>
                  <a:pt x="1071756" y="0"/>
                </a:lnTo>
                <a:lnTo>
                  <a:pt x="1071756" y="953863"/>
                </a:lnTo>
                <a:lnTo>
                  <a:pt x="0" y="9538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015929" y="145169"/>
            <a:ext cx="1027753" cy="1027753"/>
          </a:xfrm>
          <a:custGeom>
            <a:avLst/>
            <a:gdLst/>
            <a:ahLst/>
            <a:cxnLst/>
            <a:rect r="r" b="b" t="t" l="l"/>
            <a:pathLst>
              <a:path h="1027753" w="1027753">
                <a:moveTo>
                  <a:pt x="0" y="0"/>
                </a:moveTo>
                <a:lnTo>
                  <a:pt x="1027752" y="0"/>
                </a:lnTo>
                <a:lnTo>
                  <a:pt x="1027752" y="1027753"/>
                </a:lnTo>
                <a:lnTo>
                  <a:pt x="0" y="102775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48678" y="1290908"/>
            <a:ext cx="4924134" cy="4087031"/>
          </a:xfrm>
          <a:custGeom>
            <a:avLst/>
            <a:gdLst/>
            <a:ahLst/>
            <a:cxnLst/>
            <a:rect r="r" b="b" t="t" l="l"/>
            <a:pathLst>
              <a:path h="4087031" w="4924134">
                <a:moveTo>
                  <a:pt x="0" y="0"/>
                </a:moveTo>
                <a:lnTo>
                  <a:pt x="4924134" y="0"/>
                </a:lnTo>
                <a:lnTo>
                  <a:pt x="4924134" y="4087031"/>
                </a:lnTo>
                <a:lnTo>
                  <a:pt x="0" y="408703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998337" y="6044268"/>
            <a:ext cx="4905161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Added Features for Analytics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05203" y="6636424"/>
            <a:ext cx="6304048" cy="306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5392" indent="-312696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Track</a:t>
            </a:r>
            <a:r>
              <a:rPr lang="en-US" sz="289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employee claims and policy status.</a:t>
            </a:r>
          </a:p>
          <a:p>
            <a:pPr algn="l">
              <a:lnSpc>
                <a:spcPts val="4055"/>
              </a:lnSpc>
            </a:pPr>
          </a:p>
          <a:p>
            <a:pPr algn="l" marL="625392" indent="-312696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System Settings for Managing application-wide settings and configurations.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20437" y="63876"/>
            <a:ext cx="8229048" cy="1177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31"/>
              </a:lnSpc>
            </a:pPr>
            <a:r>
              <a:rPr lang="en-US" sz="6879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Admin Dashboard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3657" y="-1030594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17371" y="1531818"/>
            <a:ext cx="8745564" cy="4149174"/>
            <a:chOff x="0" y="0"/>
            <a:chExt cx="975122" cy="4626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5122" cy="462629"/>
            </a:xfrm>
            <a:custGeom>
              <a:avLst/>
              <a:gdLst/>
              <a:ahLst/>
              <a:cxnLst/>
              <a:rect r="r" b="b" t="t" l="l"/>
              <a:pathLst>
                <a:path h="462629" w="975122">
                  <a:moveTo>
                    <a:pt x="5311" y="0"/>
                  </a:moveTo>
                  <a:lnTo>
                    <a:pt x="969811" y="0"/>
                  </a:lnTo>
                  <a:cubicBezTo>
                    <a:pt x="971220" y="0"/>
                    <a:pt x="972571" y="560"/>
                    <a:pt x="973567" y="1556"/>
                  </a:cubicBezTo>
                  <a:cubicBezTo>
                    <a:pt x="974563" y="2552"/>
                    <a:pt x="975122" y="3903"/>
                    <a:pt x="975122" y="5311"/>
                  </a:cubicBezTo>
                  <a:lnTo>
                    <a:pt x="975122" y="457318"/>
                  </a:lnTo>
                  <a:cubicBezTo>
                    <a:pt x="975122" y="458726"/>
                    <a:pt x="974563" y="460077"/>
                    <a:pt x="973567" y="461073"/>
                  </a:cubicBezTo>
                  <a:cubicBezTo>
                    <a:pt x="972571" y="462069"/>
                    <a:pt x="971220" y="462629"/>
                    <a:pt x="969811" y="462629"/>
                  </a:cubicBezTo>
                  <a:lnTo>
                    <a:pt x="5311" y="462629"/>
                  </a:lnTo>
                  <a:cubicBezTo>
                    <a:pt x="3903" y="462629"/>
                    <a:pt x="2552" y="462069"/>
                    <a:pt x="1556" y="461073"/>
                  </a:cubicBezTo>
                  <a:cubicBezTo>
                    <a:pt x="560" y="460077"/>
                    <a:pt x="0" y="458726"/>
                    <a:pt x="0" y="457318"/>
                  </a:cubicBezTo>
                  <a:lnTo>
                    <a:pt x="0" y="5311"/>
                  </a:lnTo>
                  <a:cubicBezTo>
                    <a:pt x="0" y="3903"/>
                    <a:pt x="560" y="2552"/>
                    <a:pt x="1556" y="1556"/>
                  </a:cubicBezTo>
                  <a:cubicBezTo>
                    <a:pt x="2552" y="560"/>
                    <a:pt x="3903" y="0"/>
                    <a:pt x="531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920" r="0" b="-392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79865" y="9716676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58820" y="6448072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5" y="0"/>
                </a:lnTo>
                <a:lnTo>
                  <a:pt x="6174095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312259" y="6152484"/>
            <a:ext cx="6546749" cy="3564191"/>
            <a:chOff x="0" y="0"/>
            <a:chExt cx="1625025" cy="8846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25025" cy="884699"/>
            </a:xfrm>
            <a:custGeom>
              <a:avLst/>
              <a:gdLst/>
              <a:ahLst/>
              <a:cxnLst/>
              <a:rect r="r" b="b" t="t" l="l"/>
              <a:pathLst>
                <a:path h="884699" w="1625025">
                  <a:moveTo>
                    <a:pt x="41390" y="0"/>
                  </a:moveTo>
                  <a:lnTo>
                    <a:pt x="1583636" y="0"/>
                  </a:lnTo>
                  <a:cubicBezTo>
                    <a:pt x="1606494" y="0"/>
                    <a:pt x="1625025" y="18531"/>
                    <a:pt x="1625025" y="41390"/>
                  </a:cubicBezTo>
                  <a:lnTo>
                    <a:pt x="1625025" y="843309"/>
                  </a:lnTo>
                  <a:cubicBezTo>
                    <a:pt x="1625025" y="854286"/>
                    <a:pt x="1620664" y="864814"/>
                    <a:pt x="1612902" y="872576"/>
                  </a:cubicBezTo>
                  <a:cubicBezTo>
                    <a:pt x="1605140" y="880338"/>
                    <a:pt x="1594613" y="884699"/>
                    <a:pt x="1583636" y="884699"/>
                  </a:cubicBezTo>
                  <a:lnTo>
                    <a:pt x="41390" y="884699"/>
                  </a:lnTo>
                  <a:cubicBezTo>
                    <a:pt x="18531" y="884699"/>
                    <a:pt x="0" y="866168"/>
                    <a:pt x="0" y="843309"/>
                  </a:cubicBezTo>
                  <a:lnTo>
                    <a:pt x="0" y="41390"/>
                  </a:lnTo>
                  <a:cubicBezTo>
                    <a:pt x="0" y="18531"/>
                    <a:pt x="18531" y="0"/>
                    <a:pt x="41390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625025" cy="932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469082" y="6366344"/>
            <a:ext cx="468976" cy="468976"/>
          </a:xfrm>
          <a:custGeom>
            <a:avLst/>
            <a:gdLst/>
            <a:ahLst/>
            <a:cxnLst/>
            <a:rect r="r" b="b" t="t" l="l"/>
            <a:pathLst>
              <a:path h="468976" w="468976">
                <a:moveTo>
                  <a:pt x="0" y="0"/>
                </a:moveTo>
                <a:lnTo>
                  <a:pt x="468975" y="0"/>
                </a:lnTo>
                <a:lnTo>
                  <a:pt x="468975" y="468975"/>
                </a:lnTo>
                <a:lnTo>
                  <a:pt x="0" y="4689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-1503861">
            <a:off x="17114129" y="8821087"/>
            <a:ext cx="2323356" cy="874427"/>
          </a:xfrm>
          <a:custGeom>
            <a:avLst/>
            <a:gdLst/>
            <a:ahLst/>
            <a:cxnLst/>
            <a:rect r="r" b="b" t="t" l="l"/>
            <a:pathLst>
              <a:path h="874427" w="2323356">
                <a:moveTo>
                  <a:pt x="0" y="874426"/>
                </a:moveTo>
                <a:lnTo>
                  <a:pt x="2323356" y="874426"/>
                </a:lnTo>
                <a:lnTo>
                  <a:pt x="2323356" y="0"/>
                </a:lnTo>
                <a:lnTo>
                  <a:pt x="0" y="0"/>
                </a:lnTo>
                <a:lnTo>
                  <a:pt x="0" y="874426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7084962" y="1436568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true" rot="10552316">
            <a:off x="631176" y="97425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37571" y="5022863"/>
            <a:ext cx="9277134" cy="4672153"/>
            <a:chOff x="0" y="0"/>
            <a:chExt cx="1958915" cy="9865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8915" cy="986549"/>
            </a:xfrm>
            <a:custGeom>
              <a:avLst/>
              <a:gdLst/>
              <a:ahLst/>
              <a:cxnLst/>
              <a:rect r="r" b="b" t="t" l="l"/>
              <a:pathLst>
                <a:path h="986549" w="1958915">
                  <a:moveTo>
                    <a:pt x="6676" y="0"/>
                  </a:moveTo>
                  <a:lnTo>
                    <a:pt x="1952238" y="0"/>
                  </a:lnTo>
                  <a:cubicBezTo>
                    <a:pt x="1954009" y="0"/>
                    <a:pt x="1955707" y="703"/>
                    <a:pt x="1956959" y="1955"/>
                  </a:cubicBezTo>
                  <a:cubicBezTo>
                    <a:pt x="1958211" y="3207"/>
                    <a:pt x="1958915" y="4906"/>
                    <a:pt x="1958915" y="6676"/>
                  </a:cubicBezTo>
                  <a:lnTo>
                    <a:pt x="1958915" y="979873"/>
                  </a:lnTo>
                  <a:cubicBezTo>
                    <a:pt x="1958915" y="983560"/>
                    <a:pt x="1955926" y="986549"/>
                    <a:pt x="1952238" y="986549"/>
                  </a:cubicBezTo>
                  <a:lnTo>
                    <a:pt x="6676" y="986549"/>
                  </a:lnTo>
                  <a:cubicBezTo>
                    <a:pt x="4906" y="986549"/>
                    <a:pt x="3207" y="985846"/>
                    <a:pt x="1955" y="984594"/>
                  </a:cubicBezTo>
                  <a:cubicBezTo>
                    <a:pt x="703" y="983342"/>
                    <a:pt x="0" y="981644"/>
                    <a:pt x="0" y="979873"/>
                  </a:cubicBezTo>
                  <a:lnTo>
                    <a:pt x="0" y="6676"/>
                  </a:lnTo>
                  <a:cubicBezTo>
                    <a:pt x="0" y="4906"/>
                    <a:pt x="703" y="3207"/>
                    <a:pt x="1955" y="1955"/>
                  </a:cubicBezTo>
                  <a:cubicBezTo>
                    <a:pt x="3207" y="703"/>
                    <a:pt x="4906" y="0"/>
                    <a:pt x="6676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-2066" r="0" b="-2066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16" id="16"/>
          <p:cNvSpPr/>
          <p:nvPr/>
        </p:nvSpPr>
        <p:spPr>
          <a:xfrm flipH="false" flipV="false" rot="-10800000">
            <a:off x="17259300" y="14516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034530" y="9716676"/>
            <a:ext cx="1848580" cy="859590"/>
          </a:xfrm>
          <a:custGeom>
            <a:avLst/>
            <a:gdLst/>
            <a:ahLst/>
            <a:cxnLst/>
            <a:rect r="r" b="b" t="t" l="l"/>
            <a:pathLst>
              <a:path h="859590" w="1848580">
                <a:moveTo>
                  <a:pt x="0" y="0"/>
                </a:moveTo>
                <a:lnTo>
                  <a:pt x="1848581" y="0"/>
                </a:lnTo>
                <a:lnTo>
                  <a:pt x="1848581" y="859590"/>
                </a:lnTo>
                <a:lnTo>
                  <a:pt x="0" y="8595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1765157">
            <a:off x="16220102" y="5764379"/>
            <a:ext cx="1071756" cy="953863"/>
          </a:xfrm>
          <a:custGeom>
            <a:avLst/>
            <a:gdLst/>
            <a:ahLst/>
            <a:cxnLst/>
            <a:rect r="r" b="b" t="t" l="l"/>
            <a:pathLst>
              <a:path h="953863" w="1071756">
                <a:moveTo>
                  <a:pt x="0" y="0"/>
                </a:moveTo>
                <a:lnTo>
                  <a:pt x="1071756" y="0"/>
                </a:lnTo>
                <a:lnTo>
                  <a:pt x="1071756" y="953862"/>
                </a:lnTo>
                <a:lnTo>
                  <a:pt x="0" y="95386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31669" y="1788545"/>
            <a:ext cx="3355322" cy="3053343"/>
          </a:xfrm>
          <a:custGeom>
            <a:avLst/>
            <a:gdLst/>
            <a:ahLst/>
            <a:cxnLst/>
            <a:rect r="r" b="b" t="t" l="l"/>
            <a:pathLst>
              <a:path h="3053343" w="3355322">
                <a:moveTo>
                  <a:pt x="0" y="0"/>
                </a:moveTo>
                <a:lnTo>
                  <a:pt x="3355322" y="0"/>
                </a:lnTo>
                <a:lnTo>
                  <a:pt x="3355322" y="3053343"/>
                </a:lnTo>
                <a:lnTo>
                  <a:pt x="0" y="305334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739366" y="40294"/>
            <a:ext cx="1236772" cy="1565534"/>
          </a:xfrm>
          <a:custGeom>
            <a:avLst/>
            <a:gdLst/>
            <a:ahLst/>
            <a:cxnLst/>
            <a:rect r="r" b="b" t="t" l="l"/>
            <a:pathLst>
              <a:path h="1565534" w="1236772">
                <a:moveTo>
                  <a:pt x="0" y="0"/>
                </a:moveTo>
                <a:lnTo>
                  <a:pt x="1236772" y="0"/>
                </a:lnTo>
                <a:lnTo>
                  <a:pt x="1236772" y="1565534"/>
                </a:lnTo>
                <a:lnTo>
                  <a:pt x="0" y="156553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144905" y="6333772"/>
            <a:ext cx="4938606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Added Features for Wellness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12259" y="6998771"/>
            <a:ext cx="6340756" cy="259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002" indent="-321001" lvl="1">
              <a:lnSpc>
                <a:spcPts val="4163"/>
              </a:lnSpc>
              <a:buFont typeface="Arial"/>
              <a:buChar char="•"/>
            </a:pPr>
            <a:r>
              <a:rPr lang="en-US" sz="297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Integrated </a:t>
            </a:r>
            <a:r>
              <a:rPr lang="en-US" sz="297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AI wellness coach</a:t>
            </a:r>
          </a:p>
          <a:p>
            <a:pPr algn="l">
              <a:lnSpc>
                <a:spcPts val="4163"/>
              </a:lnSpc>
            </a:pPr>
          </a:p>
          <a:p>
            <a:pPr algn="l" marL="642002" indent="-321001" lvl="1">
              <a:lnSpc>
                <a:spcPts val="4163"/>
              </a:lnSpc>
              <a:buFont typeface="Arial"/>
              <a:buChar char="•"/>
            </a:pPr>
            <a:r>
              <a:rPr lang="en-US" sz="297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Added diet plans for the selected diet type based on user preference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20437" y="289438"/>
            <a:ext cx="9444924" cy="105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0"/>
              </a:lnSpc>
            </a:pPr>
            <a:r>
              <a:rPr lang="en-US" sz="6207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Employee Dashboard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3657" y="-1030594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4" y="0"/>
                </a:lnTo>
                <a:lnTo>
                  <a:pt x="6174094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2578" y="973176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70" y="0"/>
                </a:lnTo>
                <a:lnTo>
                  <a:pt x="1607270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155854" y="1814792"/>
            <a:ext cx="10032034" cy="3676275"/>
            <a:chOff x="0" y="0"/>
            <a:chExt cx="2308556" cy="8459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08556" cy="845979"/>
            </a:xfrm>
            <a:custGeom>
              <a:avLst/>
              <a:gdLst/>
              <a:ahLst/>
              <a:cxnLst/>
              <a:rect r="r" b="b" t="t" l="l"/>
              <a:pathLst>
                <a:path h="845979" w="2308556">
                  <a:moveTo>
                    <a:pt x="6174" y="0"/>
                  </a:moveTo>
                  <a:lnTo>
                    <a:pt x="2302382" y="0"/>
                  </a:lnTo>
                  <a:cubicBezTo>
                    <a:pt x="2305792" y="0"/>
                    <a:pt x="2308556" y="2764"/>
                    <a:pt x="2308556" y="6174"/>
                  </a:cubicBezTo>
                  <a:lnTo>
                    <a:pt x="2308556" y="839805"/>
                  </a:lnTo>
                  <a:cubicBezTo>
                    <a:pt x="2308556" y="843215"/>
                    <a:pt x="2305792" y="845979"/>
                    <a:pt x="2302382" y="845979"/>
                  </a:cubicBezTo>
                  <a:lnTo>
                    <a:pt x="6174" y="845979"/>
                  </a:lnTo>
                  <a:cubicBezTo>
                    <a:pt x="4536" y="845979"/>
                    <a:pt x="2966" y="845328"/>
                    <a:pt x="1808" y="844170"/>
                  </a:cubicBezTo>
                  <a:cubicBezTo>
                    <a:pt x="650" y="843013"/>
                    <a:pt x="0" y="841442"/>
                    <a:pt x="0" y="839805"/>
                  </a:cubicBezTo>
                  <a:lnTo>
                    <a:pt x="0" y="6174"/>
                  </a:lnTo>
                  <a:cubicBezTo>
                    <a:pt x="0" y="2764"/>
                    <a:pt x="2764" y="0"/>
                    <a:pt x="6174" y="0"/>
                  </a:cubicBezTo>
                  <a:close/>
                </a:path>
              </a:pathLst>
            </a:custGeom>
            <a:blipFill>
              <a:blip r:embed="rId6"/>
              <a:stretch>
                <a:fillRect l="-2074" t="0" r="-2074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332989" y="6287131"/>
            <a:ext cx="6174094" cy="6174094"/>
          </a:xfrm>
          <a:custGeom>
            <a:avLst/>
            <a:gdLst/>
            <a:ahLst/>
            <a:cxnLst/>
            <a:rect r="r" b="b" t="t" l="l"/>
            <a:pathLst>
              <a:path h="6174094" w="6174094">
                <a:moveTo>
                  <a:pt x="0" y="0"/>
                </a:moveTo>
                <a:lnTo>
                  <a:pt x="6174095" y="0"/>
                </a:lnTo>
                <a:lnTo>
                  <a:pt x="6174095" y="6174094"/>
                </a:lnTo>
                <a:lnTo>
                  <a:pt x="0" y="6174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382357" y="5848085"/>
            <a:ext cx="7149004" cy="3694758"/>
            <a:chOff x="0" y="0"/>
            <a:chExt cx="1774516" cy="9171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74516" cy="917108"/>
            </a:xfrm>
            <a:custGeom>
              <a:avLst/>
              <a:gdLst/>
              <a:ahLst/>
              <a:cxnLst/>
              <a:rect r="r" b="b" t="t" l="l"/>
              <a:pathLst>
                <a:path h="917108" w="1774516">
                  <a:moveTo>
                    <a:pt x="37903" y="0"/>
                  </a:moveTo>
                  <a:lnTo>
                    <a:pt x="1736613" y="0"/>
                  </a:lnTo>
                  <a:cubicBezTo>
                    <a:pt x="1757546" y="0"/>
                    <a:pt x="1774516" y="16970"/>
                    <a:pt x="1774516" y="37903"/>
                  </a:cubicBezTo>
                  <a:lnTo>
                    <a:pt x="1774516" y="879205"/>
                  </a:lnTo>
                  <a:cubicBezTo>
                    <a:pt x="1774516" y="889257"/>
                    <a:pt x="1770523" y="898898"/>
                    <a:pt x="1763415" y="906006"/>
                  </a:cubicBezTo>
                  <a:cubicBezTo>
                    <a:pt x="1756307" y="913114"/>
                    <a:pt x="1746666" y="917108"/>
                    <a:pt x="1736613" y="917108"/>
                  </a:cubicBezTo>
                  <a:lnTo>
                    <a:pt x="37903" y="917108"/>
                  </a:lnTo>
                  <a:cubicBezTo>
                    <a:pt x="27850" y="917108"/>
                    <a:pt x="18210" y="913114"/>
                    <a:pt x="11101" y="906006"/>
                  </a:cubicBezTo>
                  <a:cubicBezTo>
                    <a:pt x="3993" y="898898"/>
                    <a:pt x="0" y="889257"/>
                    <a:pt x="0" y="879205"/>
                  </a:cubicBezTo>
                  <a:lnTo>
                    <a:pt x="0" y="37903"/>
                  </a:lnTo>
                  <a:cubicBezTo>
                    <a:pt x="0" y="27850"/>
                    <a:pt x="3993" y="18210"/>
                    <a:pt x="11101" y="11101"/>
                  </a:cubicBezTo>
                  <a:cubicBezTo>
                    <a:pt x="18210" y="3993"/>
                    <a:pt x="27850" y="0"/>
                    <a:pt x="37903" y="0"/>
                  </a:cubicBezTo>
                  <a:close/>
                </a:path>
              </a:pathLst>
            </a:custGeom>
            <a:solidFill>
              <a:srgbClr val="95D5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774516" cy="964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516987" y="6023160"/>
            <a:ext cx="527941" cy="527941"/>
          </a:xfrm>
          <a:custGeom>
            <a:avLst/>
            <a:gdLst/>
            <a:ahLst/>
            <a:cxnLst/>
            <a:rect r="r" b="b" t="t" l="l"/>
            <a:pathLst>
              <a:path h="527941" w="527941">
                <a:moveTo>
                  <a:pt x="0" y="0"/>
                </a:moveTo>
                <a:lnTo>
                  <a:pt x="527941" y="0"/>
                </a:lnTo>
                <a:lnTo>
                  <a:pt x="527941" y="527941"/>
                </a:lnTo>
                <a:lnTo>
                  <a:pt x="0" y="5279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2042796">
            <a:off x="16908738" y="9601337"/>
            <a:ext cx="2558299" cy="962851"/>
          </a:xfrm>
          <a:custGeom>
            <a:avLst/>
            <a:gdLst/>
            <a:ahLst/>
            <a:cxnLst/>
            <a:rect r="r" b="b" t="t" l="l"/>
            <a:pathLst>
              <a:path h="962851" w="2558299">
                <a:moveTo>
                  <a:pt x="0" y="962851"/>
                </a:moveTo>
                <a:lnTo>
                  <a:pt x="2558299" y="962851"/>
                </a:lnTo>
                <a:lnTo>
                  <a:pt x="2558299" y="0"/>
                </a:lnTo>
                <a:lnTo>
                  <a:pt x="0" y="0"/>
                </a:lnTo>
                <a:lnTo>
                  <a:pt x="0" y="962851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6919739" y="1420477"/>
            <a:ext cx="41180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true" rot="10552316">
            <a:off x="8173753" y="-132450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69" y="555238"/>
                </a:lnTo>
                <a:lnTo>
                  <a:pt x="1607269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92578" y="5327609"/>
            <a:ext cx="8546728" cy="4454032"/>
            <a:chOff x="0" y="0"/>
            <a:chExt cx="1555119" cy="8104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55119" cy="810433"/>
            </a:xfrm>
            <a:custGeom>
              <a:avLst/>
              <a:gdLst/>
              <a:ahLst/>
              <a:cxnLst/>
              <a:rect r="r" b="b" t="t" l="l"/>
              <a:pathLst>
                <a:path h="810433" w="1555119">
                  <a:moveTo>
                    <a:pt x="8153" y="0"/>
                  </a:moveTo>
                  <a:lnTo>
                    <a:pt x="1546966" y="0"/>
                  </a:lnTo>
                  <a:cubicBezTo>
                    <a:pt x="1551469" y="0"/>
                    <a:pt x="1555119" y="3650"/>
                    <a:pt x="1555119" y="8153"/>
                  </a:cubicBezTo>
                  <a:lnTo>
                    <a:pt x="1555119" y="802280"/>
                  </a:lnTo>
                  <a:cubicBezTo>
                    <a:pt x="1555119" y="806783"/>
                    <a:pt x="1551469" y="810433"/>
                    <a:pt x="1546966" y="810433"/>
                  </a:cubicBezTo>
                  <a:lnTo>
                    <a:pt x="8153" y="810433"/>
                  </a:lnTo>
                  <a:cubicBezTo>
                    <a:pt x="3650" y="810433"/>
                    <a:pt x="0" y="806783"/>
                    <a:pt x="0" y="802280"/>
                  </a:cubicBezTo>
                  <a:lnTo>
                    <a:pt x="0" y="8153"/>
                  </a:lnTo>
                  <a:cubicBezTo>
                    <a:pt x="0" y="3650"/>
                    <a:pt x="3650" y="0"/>
                    <a:pt x="8153" y="0"/>
                  </a:cubicBezTo>
                  <a:close/>
                </a:path>
              </a:pathLst>
            </a:custGeom>
            <a:blipFill>
              <a:blip r:embed="rId11"/>
              <a:stretch>
                <a:fillRect l="-346" t="0" r="-346" b="0"/>
              </a:stretch>
            </a:blipFill>
            <a:ln w="2857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16" id="16"/>
          <p:cNvSpPr/>
          <p:nvPr/>
        </p:nvSpPr>
        <p:spPr>
          <a:xfrm flipH="false" flipV="false" rot="-10800000">
            <a:off x="17259300" y="14516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171870" y="9542842"/>
            <a:ext cx="2322238" cy="1079841"/>
          </a:xfrm>
          <a:custGeom>
            <a:avLst/>
            <a:gdLst/>
            <a:ahLst/>
            <a:cxnLst/>
            <a:rect r="r" b="b" t="t" l="l"/>
            <a:pathLst>
              <a:path h="1079841" w="2322238">
                <a:moveTo>
                  <a:pt x="0" y="0"/>
                </a:moveTo>
                <a:lnTo>
                  <a:pt x="2322238" y="0"/>
                </a:lnTo>
                <a:lnTo>
                  <a:pt x="2322238" y="1079841"/>
                </a:lnTo>
                <a:lnTo>
                  <a:pt x="0" y="10798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1765157">
            <a:off x="16749853" y="5649974"/>
            <a:ext cx="1071756" cy="953863"/>
          </a:xfrm>
          <a:custGeom>
            <a:avLst/>
            <a:gdLst/>
            <a:ahLst/>
            <a:cxnLst/>
            <a:rect r="r" b="b" t="t" l="l"/>
            <a:pathLst>
              <a:path h="953863" w="1071756">
                <a:moveTo>
                  <a:pt x="0" y="0"/>
                </a:moveTo>
                <a:lnTo>
                  <a:pt x="1071756" y="0"/>
                </a:lnTo>
                <a:lnTo>
                  <a:pt x="1071756" y="953863"/>
                </a:lnTo>
                <a:lnTo>
                  <a:pt x="0" y="9538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085832" y="60485"/>
            <a:ext cx="1236772" cy="1565534"/>
          </a:xfrm>
          <a:custGeom>
            <a:avLst/>
            <a:gdLst/>
            <a:ahLst/>
            <a:cxnLst/>
            <a:rect r="r" b="b" t="t" l="l"/>
            <a:pathLst>
              <a:path h="1565534" w="1236772">
                <a:moveTo>
                  <a:pt x="0" y="0"/>
                </a:moveTo>
                <a:lnTo>
                  <a:pt x="1236771" y="0"/>
                </a:lnTo>
                <a:lnTo>
                  <a:pt x="1236771" y="1565534"/>
                </a:lnTo>
                <a:lnTo>
                  <a:pt x="0" y="15655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92578" y="1814792"/>
            <a:ext cx="3902971" cy="3434614"/>
          </a:xfrm>
          <a:custGeom>
            <a:avLst/>
            <a:gdLst/>
            <a:ahLst/>
            <a:cxnLst/>
            <a:rect r="r" b="b" t="t" l="l"/>
            <a:pathLst>
              <a:path h="3434614" w="3902971">
                <a:moveTo>
                  <a:pt x="0" y="0"/>
                </a:moveTo>
                <a:lnTo>
                  <a:pt x="3902971" y="0"/>
                </a:lnTo>
                <a:lnTo>
                  <a:pt x="3902971" y="3434614"/>
                </a:lnTo>
                <a:lnTo>
                  <a:pt x="0" y="343461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288186" y="5932165"/>
            <a:ext cx="5202875" cy="56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Added Features for Wellness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16987" y="6757932"/>
            <a:ext cx="6683019" cy="238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5637" indent="-292818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Downloadable Health reports in PDF format.</a:t>
            </a:r>
          </a:p>
          <a:p>
            <a:pPr algn="l">
              <a:lnSpc>
                <a:spcPts val="3797"/>
              </a:lnSpc>
            </a:pPr>
          </a:p>
          <a:p>
            <a:pPr algn="l" marL="585637" indent="-292818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Schedule checkups and Emergency SOS trigger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726709" y="293561"/>
            <a:ext cx="8951865" cy="105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0"/>
              </a:lnSpc>
            </a:pPr>
            <a:r>
              <a:rPr lang="en-US" sz="6207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Employee Dashboard</a:t>
            </a:r>
          </a:p>
        </p:txBody>
      </p:sp>
      <p:sp>
        <p:nvSpPr>
          <p:cNvPr name="Freeform 24" id="24"/>
          <p:cNvSpPr/>
          <p:nvPr/>
        </p:nvSpPr>
        <p:spPr>
          <a:xfrm flipH="false" flipV="true" rot="1501782">
            <a:off x="-1150473" y="-225281"/>
            <a:ext cx="2886104" cy="1086224"/>
          </a:xfrm>
          <a:custGeom>
            <a:avLst/>
            <a:gdLst/>
            <a:ahLst/>
            <a:cxnLst/>
            <a:rect r="r" b="b" t="t" l="l"/>
            <a:pathLst>
              <a:path h="1086224" w="2886104">
                <a:moveTo>
                  <a:pt x="0" y="1086224"/>
                </a:moveTo>
                <a:lnTo>
                  <a:pt x="2886103" y="1086224"/>
                </a:lnTo>
                <a:lnTo>
                  <a:pt x="2886103" y="0"/>
                </a:lnTo>
                <a:lnTo>
                  <a:pt x="0" y="0"/>
                </a:lnTo>
                <a:lnTo>
                  <a:pt x="0" y="1086224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9908" y="-84925"/>
            <a:ext cx="9549396" cy="9549396"/>
          </a:xfrm>
          <a:custGeom>
            <a:avLst/>
            <a:gdLst/>
            <a:ahLst/>
            <a:cxnLst/>
            <a:rect r="r" b="b" t="t" l="l"/>
            <a:pathLst>
              <a:path h="9549396" w="9549396">
                <a:moveTo>
                  <a:pt x="0" y="0"/>
                </a:moveTo>
                <a:lnTo>
                  <a:pt x="9549397" y="0"/>
                </a:lnTo>
                <a:lnTo>
                  <a:pt x="9549397" y="9549396"/>
                </a:lnTo>
                <a:lnTo>
                  <a:pt x="0" y="9549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3302" y="3040969"/>
            <a:ext cx="9549396" cy="9549396"/>
          </a:xfrm>
          <a:custGeom>
            <a:avLst/>
            <a:gdLst/>
            <a:ahLst/>
            <a:cxnLst/>
            <a:rect r="r" b="b" t="t" l="l"/>
            <a:pathLst>
              <a:path h="9549396" w="9549396">
                <a:moveTo>
                  <a:pt x="0" y="0"/>
                </a:moveTo>
                <a:lnTo>
                  <a:pt x="9549396" y="0"/>
                </a:lnTo>
                <a:lnTo>
                  <a:pt x="9549396" y="9549396"/>
                </a:lnTo>
                <a:lnTo>
                  <a:pt x="0" y="9549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52710" y="3852816"/>
            <a:ext cx="14582580" cy="5317386"/>
            <a:chOff x="0" y="0"/>
            <a:chExt cx="3840679" cy="14004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40680" cy="1400464"/>
            </a:xfrm>
            <a:custGeom>
              <a:avLst/>
              <a:gdLst/>
              <a:ahLst/>
              <a:cxnLst/>
              <a:rect r="r" b="b" t="t" l="l"/>
              <a:pathLst>
                <a:path h="1400464" w="3840680">
                  <a:moveTo>
                    <a:pt x="27076" y="0"/>
                  </a:moveTo>
                  <a:lnTo>
                    <a:pt x="3813604" y="0"/>
                  </a:lnTo>
                  <a:cubicBezTo>
                    <a:pt x="3828557" y="0"/>
                    <a:pt x="3840680" y="12122"/>
                    <a:pt x="3840680" y="27076"/>
                  </a:cubicBezTo>
                  <a:lnTo>
                    <a:pt x="3840680" y="1373388"/>
                  </a:lnTo>
                  <a:cubicBezTo>
                    <a:pt x="3840680" y="1380569"/>
                    <a:pt x="3837827" y="1387456"/>
                    <a:pt x="3832749" y="1392534"/>
                  </a:cubicBezTo>
                  <a:cubicBezTo>
                    <a:pt x="3827671" y="1397611"/>
                    <a:pt x="3820785" y="1400464"/>
                    <a:pt x="3813604" y="1400464"/>
                  </a:cubicBezTo>
                  <a:lnTo>
                    <a:pt x="27076" y="1400464"/>
                  </a:lnTo>
                  <a:cubicBezTo>
                    <a:pt x="12122" y="1400464"/>
                    <a:pt x="0" y="1388342"/>
                    <a:pt x="0" y="1373388"/>
                  </a:cubicBezTo>
                  <a:lnTo>
                    <a:pt x="0" y="27076"/>
                  </a:lnTo>
                  <a:cubicBezTo>
                    <a:pt x="0" y="12122"/>
                    <a:pt x="12122" y="0"/>
                    <a:pt x="27076" y="0"/>
                  </a:cubicBez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840679" cy="1448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true" rot="1472712">
            <a:off x="16477994" y="439485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9"/>
                </a:moveTo>
                <a:lnTo>
                  <a:pt x="1607270" y="555239"/>
                </a:lnTo>
                <a:lnTo>
                  <a:pt x="1607270" y="0"/>
                </a:lnTo>
                <a:lnTo>
                  <a:pt x="0" y="0"/>
                </a:lnTo>
                <a:lnTo>
                  <a:pt x="0" y="5552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946031">
            <a:off x="-67627" y="9220179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9"/>
                </a:lnTo>
                <a:lnTo>
                  <a:pt x="0" y="55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10799999">
            <a:off x="6263938" y="9113052"/>
            <a:ext cx="4968965" cy="2312827"/>
          </a:xfrm>
          <a:custGeom>
            <a:avLst/>
            <a:gdLst/>
            <a:ahLst/>
            <a:cxnLst/>
            <a:rect r="r" b="b" t="t" l="l"/>
            <a:pathLst>
              <a:path h="2312827" w="4968965">
                <a:moveTo>
                  <a:pt x="0" y="2312827"/>
                </a:moveTo>
                <a:lnTo>
                  <a:pt x="4968965" y="2312827"/>
                </a:lnTo>
                <a:lnTo>
                  <a:pt x="4968965" y="0"/>
                </a:lnTo>
                <a:lnTo>
                  <a:pt x="0" y="0"/>
                </a:lnTo>
                <a:lnTo>
                  <a:pt x="0" y="231282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43523" y="0"/>
            <a:ext cx="2344445" cy="1945890"/>
          </a:xfrm>
          <a:custGeom>
            <a:avLst/>
            <a:gdLst/>
            <a:ahLst/>
            <a:cxnLst/>
            <a:rect r="r" b="b" t="t" l="l"/>
            <a:pathLst>
              <a:path h="1945890" w="2344445">
                <a:moveTo>
                  <a:pt x="0" y="0"/>
                </a:moveTo>
                <a:lnTo>
                  <a:pt x="2344446" y="0"/>
                </a:lnTo>
                <a:lnTo>
                  <a:pt x="2344446" y="1945890"/>
                </a:lnTo>
                <a:lnTo>
                  <a:pt x="0" y="19458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35941" y="184088"/>
            <a:ext cx="1824960" cy="2238773"/>
          </a:xfrm>
          <a:custGeom>
            <a:avLst/>
            <a:gdLst/>
            <a:ahLst/>
            <a:cxnLst/>
            <a:rect r="r" b="b" t="t" l="l"/>
            <a:pathLst>
              <a:path h="2238773" w="1824960">
                <a:moveTo>
                  <a:pt x="0" y="0"/>
                </a:moveTo>
                <a:lnTo>
                  <a:pt x="1824960" y="0"/>
                </a:lnTo>
                <a:lnTo>
                  <a:pt x="1824960" y="2238773"/>
                </a:lnTo>
                <a:lnTo>
                  <a:pt x="0" y="22387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1207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089834">
            <a:off x="15630281" y="3005070"/>
            <a:ext cx="1680557" cy="1663752"/>
          </a:xfrm>
          <a:custGeom>
            <a:avLst/>
            <a:gdLst/>
            <a:ahLst/>
            <a:cxnLst/>
            <a:rect r="r" b="b" t="t" l="l"/>
            <a:pathLst>
              <a:path h="1663752" w="1680557">
                <a:moveTo>
                  <a:pt x="0" y="0"/>
                </a:moveTo>
                <a:lnTo>
                  <a:pt x="1680558" y="0"/>
                </a:lnTo>
                <a:lnTo>
                  <a:pt x="1680558" y="1663752"/>
                </a:lnTo>
                <a:lnTo>
                  <a:pt x="0" y="16637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50102" y="4101863"/>
            <a:ext cx="13651362" cy="4781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739" indent="-325370" lvl="1">
              <a:lnSpc>
                <a:spcPts val="4219"/>
              </a:lnSpc>
              <a:buFont typeface="Arial"/>
              <a:buChar char="•"/>
            </a:pPr>
            <a:r>
              <a:rPr lang="en-US" sz="3014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The project includes secure authentication, database integration, risk prediction, recommendation, sentimental analysis, performance analytics, and an AI wellness chatbot in one platform.</a:t>
            </a:r>
          </a:p>
          <a:p>
            <a:pPr algn="l">
              <a:lnSpc>
                <a:spcPts val="4219"/>
              </a:lnSpc>
            </a:pPr>
          </a:p>
          <a:p>
            <a:pPr algn="l" marL="650739" indent="-325370" lvl="1">
              <a:lnSpc>
                <a:spcPts val="4219"/>
              </a:lnSpc>
              <a:buFont typeface="Arial"/>
              <a:buChar char="•"/>
            </a:pPr>
            <a:r>
              <a:rPr lang="en-US" sz="3014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It supports both employee and admin roles for managing wellness data and system features.</a:t>
            </a:r>
          </a:p>
          <a:p>
            <a:pPr algn="l">
              <a:lnSpc>
                <a:spcPts val="4219"/>
              </a:lnSpc>
            </a:pPr>
          </a:p>
          <a:p>
            <a:pPr algn="l" marL="650739" indent="-325370" lvl="1">
              <a:lnSpc>
                <a:spcPts val="4219"/>
              </a:lnSpc>
              <a:buFont typeface="Arial"/>
              <a:buChar char="•"/>
            </a:pPr>
            <a:r>
              <a:rPr lang="en-US" sz="3014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These modules make the system more intelligent, interactive, and useful for future expansion.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81994" y="2090060"/>
            <a:ext cx="8387578" cy="156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0B0A0A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Conclusion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987062" y="9221865"/>
            <a:ext cx="2344445" cy="1945890"/>
          </a:xfrm>
          <a:custGeom>
            <a:avLst/>
            <a:gdLst/>
            <a:ahLst/>
            <a:cxnLst/>
            <a:rect r="r" b="b" t="t" l="l"/>
            <a:pathLst>
              <a:path h="1945890" w="2344445">
                <a:moveTo>
                  <a:pt x="0" y="0"/>
                </a:moveTo>
                <a:lnTo>
                  <a:pt x="2344446" y="0"/>
                </a:lnTo>
                <a:lnTo>
                  <a:pt x="2344446" y="1945890"/>
                </a:lnTo>
                <a:lnTo>
                  <a:pt x="0" y="19458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4211" y="-654822"/>
            <a:ext cx="9549396" cy="9549396"/>
          </a:xfrm>
          <a:custGeom>
            <a:avLst/>
            <a:gdLst/>
            <a:ahLst/>
            <a:cxnLst/>
            <a:rect r="r" b="b" t="t" l="l"/>
            <a:pathLst>
              <a:path h="9549396" w="9549396">
                <a:moveTo>
                  <a:pt x="0" y="0"/>
                </a:moveTo>
                <a:lnTo>
                  <a:pt x="9549396" y="0"/>
                </a:lnTo>
                <a:lnTo>
                  <a:pt x="9549396" y="9549397"/>
                </a:lnTo>
                <a:lnTo>
                  <a:pt x="0" y="9549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86926" y="2206996"/>
            <a:ext cx="6668259" cy="5344334"/>
            <a:chOff x="0" y="0"/>
            <a:chExt cx="1756249" cy="14075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56249" cy="1407561"/>
            </a:xfrm>
            <a:custGeom>
              <a:avLst/>
              <a:gdLst/>
              <a:ahLst/>
              <a:cxnLst/>
              <a:rect r="r" b="b" t="t" l="l"/>
              <a:pathLst>
                <a:path h="1407561" w="1756249">
                  <a:moveTo>
                    <a:pt x="59212" y="0"/>
                  </a:moveTo>
                  <a:lnTo>
                    <a:pt x="1697038" y="0"/>
                  </a:lnTo>
                  <a:cubicBezTo>
                    <a:pt x="1729739" y="0"/>
                    <a:pt x="1756249" y="26510"/>
                    <a:pt x="1756249" y="59212"/>
                  </a:cubicBezTo>
                  <a:lnTo>
                    <a:pt x="1756249" y="1348350"/>
                  </a:lnTo>
                  <a:cubicBezTo>
                    <a:pt x="1756249" y="1381051"/>
                    <a:pt x="1729739" y="1407561"/>
                    <a:pt x="1697038" y="1407561"/>
                  </a:cubicBezTo>
                  <a:lnTo>
                    <a:pt x="59212" y="1407561"/>
                  </a:lnTo>
                  <a:cubicBezTo>
                    <a:pt x="26510" y="1407561"/>
                    <a:pt x="0" y="1381051"/>
                    <a:pt x="0" y="1348350"/>
                  </a:cubicBezTo>
                  <a:lnTo>
                    <a:pt x="0" y="59212"/>
                  </a:lnTo>
                  <a:cubicBezTo>
                    <a:pt x="0" y="26510"/>
                    <a:pt x="26510" y="0"/>
                    <a:pt x="59212" y="0"/>
                  </a:cubicBezTo>
                  <a:close/>
                </a:path>
              </a:pathLst>
            </a:custGeom>
            <a:solidFill>
              <a:srgbClr val="95D5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56249" cy="1455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513302" y="3040969"/>
            <a:ext cx="9549396" cy="9549396"/>
          </a:xfrm>
          <a:custGeom>
            <a:avLst/>
            <a:gdLst/>
            <a:ahLst/>
            <a:cxnLst/>
            <a:rect r="r" b="b" t="t" l="l"/>
            <a:pathLst>
              <a:path h="9549396" w="9549396">
                <a:moveTo>
                  <a:pt x="0" y="0"/>
                </a:moveTo>
                <a:lnTo>
                  <a:pt x="9549396" y="0"/>
                </a:lnTo>
                <a:lnTo>
                  <a:pt x="9549396" y="9549396"/>
                </a:lnTo>
                <a:lnTo>
                  <a:pt x="0" y="9549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892955" y="2471333"/>
            <a:ext cx="7799503" cy="5344334"/>
            <a:chOff x="0" y="0"/>
            <a:chExt cx="1321798" cy="905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21798" cy="905715"/>
            </a:xfrm>
            <a:custGeom>
              <a:avLst/>
              <a:gdLst/>
              <a:ahLst/>
              <a:cxnLst/>
              <a:rect r="r" b="b" t="t" l="l"/>
              <a:pathLst>
                <a:path h="905715" w="1321798">
                  <a:moveTo>
                    <a:pt x="43675" y="0"/>
                  </a:moveTo>
                  <a:lnTo>
                    <a:pt x="1278123" y="0"/>
                  </a:lnTo>
                  <a:cubicBezTo>
                    <a:pt x="1302244" y="0"/>
                    <a:pt x="1321798" y="19554"/>
                    <a:pt x="1321798" y="43675"/>
                  </a:cubicBezTo>
                  <a:lnTo>
                    <a:pt x="1321798" y="862040"/>
                  </a:lnTo>
                  <a:cubicBezTo>
                    <a:pt x="1321798" y="886161"/>
                    <a:pt x="1302244" y="905715"/>
                    <a:pt x="1278123" y="905715"/>
                  </a:cubicBezTo>
                  <a:lnTo>
                    <a:pt x="43675" y="905715"/>
                  </a:lnTo>
                  <a:cubicBezTo>
                    <a:pt x="19554" y="905715"/>
                    <a:pt x="0" y="886161"/>
                    <a:pt x="0" y="862040"/>
                  </a:cubicBezTo>
                  <a:lnTo>
                    <a:pt x="0" y="43675"/>
                  </a:lnTo>
                  <a:cubicBezTo>
                    <a:pt x="0" y="19554"/>
                    <a:pt x="19554" y="0"/>
                    <a:pt x="43675" y="0"/>
                  </a:cubicBezTo>
                  <a:close/>
                </a:path>
              </a:pathLst>
            </a:custGeom>
            <a:blipFill>
              <a:blip r:embed="rId4"/>
              <a:stretch>
                <a:fillRect l="-341" t="0" r="-250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925874" y="3897453"/>
            <a:ext cx="6190364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b="true" sz="6800" spc="244">
                <a:solidFill>
                  <a:srgbClr val="0B0A0A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Thank you so much</a:t>
            </a:r>
          </a:p>
        </p:txBody>
      </p:sp>
      <p:sp>
        <p:nvSpPr>
          <p:cNvPr name="Freeform 10" id="10"/>
          <p:cNvSpPr/>
          <p:nvPr/>
        </p:nvSpPr>
        <p:spPr>
          <a:xfrm flipH="false" flipV="true" rot="0">
            <a:off x="16455665" y="0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555238"/>
                </a:moveTo>
                <a:lnTo>
                  <a:pt x="1607270" y="555238"/>
                </a:lnTo>
                <a:lnTo>
                  <a:pt x="1607270" y="0"/>
                </a:lnTo>
                <a:lnTo>
                  <a:pt x="0" y="0"/>
                </a:lnTo>
                <a:lnTo>
                  <a:pt x="0" y="55523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9657" y="9731762"/>
            <a:ext cx="1607269" cy="555238"/>
          </a:xfrm>
          <a:custGeom>
            <a:avLst/>
            <a:gdLst/>
            <a:ahLst/>
            <a:cxnLst/>
            <a:rect r="r" b="b" t="t" l="l"/>
            <a:pathLst>
              <a:path h="555238" w="1607269">
                <a:moveTo>
                  <a:pt x="0" y="0"/>
                </a:moveTo>
                <a:lnTo>
                  <a:pt x="1607269" y="0"/>
                </a:lnTo>
                <a:lnTo>
                  <a:pt x="1607269" y="555238"/>
                </a:lnTo>
                <a:lnTo>
                  <a:pt x="0" y="5552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8882425">
            <a:off x="15831728" y="9143296"/>
            <a:ext cx="3721460" cy="1732170"/>
          </a:xfrm>
          <a:custGeom>
            <a:avLst/>
            <a:gdLst/>
            <a:ahLst/>
            <a:cxnLst/>
            <a:rect r="r" b="b" t="t" l="l"/>
            <a:pathLst>
              <a:path h="1732170" w="3721460">
                <a:moveTo>
                  <a:pt x="0" y="1732170"/>
                </a:moveTo>
                <a:lnTo>
                  <a:pt x="3721460" y="1732170"/>
                </a:lnTo>
                <a:lnTo>
                  <a:pt x="3721460" y="0"/>
                </a:lnTo>
                <a:lnTo>
                  <a:pt x="0" y="0"/>
                </a:lnTo>
                <a:lnTo>
                  <a:pt x="0" y="173217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DAHQekhFxeI</dc:identifier>
  <dcterms:modified xsi:type="dcterms:W3CDTF">2011-08-01T06:04:30Z</dcterms:modified>
  <cp:revision>1</cp:revision>
  <dc:title>Rishit Ranjan (Employee Wellness Management Analytics)</dc:title>
</cp:coreProperties>
</file>