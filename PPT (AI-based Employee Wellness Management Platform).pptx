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Heading Now 71-78" charset="1" panose="00000000000000000000"/>
      <p:regular r:id="rId38"/>
    </p:embeddedFont>
    <p:embeddedFont>
      <p:font typeface="Agrandir Medium" charset="1" panose="00000600000000000000"/>
      <p:regular r:id="rId39"/>
    </p:embeddedFont>
    <p:embeddedFont>
      <p:font typeface="Agrandir" charset="1" panose="00000500000000000000"/>
      <p:regular r:id="rId40"/>
    </p:embeddedFont>
    <p:embeddedFont>
      <p:font typeface="TT Firs Neue Bold" charset="1" panose="02000803030000020004"/>
      <p:regular r:id="rId41"/>
    </p:embeddedFont>
    <p:embeddedFont>
      <p:font typeface="Heading Now 71-78 Bold" charset="1" panose="00000000000000000000"/>
      <p:regular r:id="rId42"/>
    </p:embeddedFont>
    <p:embeddedFont>
      <p:font typeface="Agrandir Bold" charset="1" panose="00000800000000000000"/>
      <p:regular r:id="rId43"/>
    </p:embeddedFont>
    <p:embeddedFont>
      <p:font typeface="TT Firs Neue" charset="1" panose="02000503030000020004"/>
      <p:regular r:id="rId44"/>
    </p:embeddedFont>
    <p:embeddedFont>
      <p:font typeface="Canva Sans" charset="1" panose="020B0503030501040103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jpe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3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2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3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16" Target="../media/image54.png" Type="http://schemas.openxmlformats.org/officeDocument/2006/relationships/image"/><Relationship Id="rId17" Target="../media/image5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62.pn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6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75.png" Type="http://schemas.openxmlformats.org/officeDocument/2006/relationships/image"/><Relationship Id="rId16" Target="../media/image7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71.png" Type="http://schemas.openxmlformats.org/officeDocument/2006/relationships/image"/><Relationship Id="rId13" Target="../media/image7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1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82.png" Type="http://schemas.openxmlformats.org/officeDocument/2006/relationships/image"/><Relationship Id="rId5" Target="../media/image83.png" Type="http://schemas.openxmlformats.org/officeDocument/2006/relationships/image"/><Relationship Id="rId6" Target="../media/image84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87.png" Type="http://schemas.openxmlformats.org/officeDocument/2006/relationships/image"/><Relationship Id="rId5" Target="../media/image88.svg" Type="http://schemas.openxmlformats.org/officeDocument/2006/relationships/image"/><Relationship Id="rId6" Target="../media/image89.png" Type="http://schemas.openxmlformats.org/officeDocument/2006/relationships/image"/><Relationship Id="rId7" Target="../media/image90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sv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96.png" Type="http://schemas.openxmlformats.org/officeDocument/2006/relationships/image"/><Relationship Id="rId16" Target="../media/image97.png" Type="http://schemas.openxmlformats.org/officeDocument/2006/relationships/image"/><Relationship Id="rId17" Target="../media/image98.svg" Type="http://schemas.openxmlformats.org/officeDocument/2006/relationships/image"/><Relationship Id="rId18" Target="../media/image99.png" Type="http://schemas.openxmlformats.org/officeDocument/2006/relationships/image"/><Relationship Id="rId19" Target="../media/image10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sv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02.png" Type="http://schemas.openxmlformats.org/officeDocument/2006/relationships/image"/><Relationship Id="rId16" Target="../media/image103.png" Type="http://schemas.openxmlformats.org/officeDocument/2006/relationships/image"/><Relationship Id="rId17" Target="../media/image104.svg" Type="http://schemas.openxmlformats.org/officeDocument/2006/relationships/image"/><Relationship Id="rId18" Target="../media/image105.png" Type="http://schemas.openxmlformats.org/officeDocument/2006/relationships/image"/><Relationship Id="rId19" Target="../media/image10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1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08.png" Type="http://schemas.openxmlformats.org/officeDocument/2006/relationships/image"/><Relationship Id="rId16" Target="../media/image109.svg" Type="http://schemas.openxmlformats.org/officeDocument/2006/relationships/image"/><Relationship Id="rId17" Target="../media/image110.png" Type="http://schemas.openxmlformats.org/officeDocument/2006/relationships/image"/><Relationship Id="rId18" Target="../media/image1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7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13.png" Type="http://schemas.openxmlformats.org/officeDocument/2006/relationships/image"/><Relationship Id="rId16" Target="../media/image114.svg" Type="http://schemas.openxmlformats.org/officeDocument/2006/relationships/image"/><Relationship Id="rId17" Target="../media/image115.png" Type="http://schemas.openxmlformats.org/officeDocument/2006/relationships/image"/><Relationship Id="rId18" Target="../media/image116.svg" Type="http://schemas.openxmlformats.org/officeDocument/2006/relationships/image"/><Relationship Id="rId19" Target="../media/image117.png" Type="http://schemas.openxmlformats.org/officeDocument/2006/relationships/image"/><Relationship Id="rId2" Target="../media/image1.png" Type="http://schemas.openxmlformats.org/officeDocument/2006/relationships/image"/><Relationship Id="rId20" Target="../media/image118.sv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2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24.png" Type="http://schemas.openxmlformats.org/officeDocument/2006/relationships/image"/><Relationship Id="rId16" Target="../media/image125.svg" Type="http://schemas.openxmlformats.org/officeDocument/2006/relationships/image"/><Relationship Id="rId17" Target="../media/image126.png" Type="http://schemas.openxmlformats.org/officeDocument/2006/relationships/image"/><Relationship Id="rId18" Target="../media/image127.svg" Type="http://schemas.openxmlformats.org/officeDocument/2006/relationships/image"/><Relationship Id="rId19" Target="../media/image75.png" Type="http://schemas.openxmlformats.org/officeDocument/2006/relationships/image"/><Relationship Id="rId2" Target="../media/image1.png" Type="http://schemas.openxmlformats.org/officeDocument/2006/relationships/image"/><Relationship Id="rId20" Target="../media/image76.sv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94.png" Type="http://schemas.openxmlformats.org/officeDocument/2006/relationships/image"/><Relationship Id="rId14" Target="../media/image9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31.png" Type="http://schemas.openxmlformats.org/officeDocument/2006/relationships/image"/><Relationship Id="rId18" Target="../media/image132.svg" Type="http://schemas.openxmlformats.org/officeDocument/2006/relationships/image"/><Relationship Id="rId19" Target="../media/image133.png" Type="http://schemas.openxmlformats.org/officeDocument/2006/relationships/image"/><Relationship Id="rId2" Target="../media/image1.png" Type="http://schemas.openxmlformats.org/officeDocument/2006/relationships/image"/><Relationship Id="rId20" Target="../media/image134.png" Type="http://schemas.openxmlformats.org/officeDocument/2006/relationships/image"/><Relationship Id="rId3" Target="../media/image2.svg" Type="http://schemas.openxmlformats.org/officeDocument/2006/relationships/image"/><Relationship Id="rId4" Target="../media/image128.png" Type="http://schemas.openxmlformats.org/officeDocument/2006/relationships/image"/><Relationship Id="rId5" Target="../media/image129.svg" Type="http://schemas.openxmlformats.org/officeDocument/2006/relationships/image"/><Relationship Id="rId6" Target="../media/image130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36.png" Type="http://schemas.openxmlformats.org/officeDocument/2006/relationships/image"/><Relationship Id="rId16" Target="../media/image137.svg" Type="http://schemas.openxmlformats.org/officeDocument/2006/relationships/image"/><Relationship Id="rId17" Target="../media/image138.png" Type="http://schemas.openxmlformats.org/officeDocument/2006/relationships/image"/><Relationship Id="rId18" Target="../media/image139.png" Type="http://schemas.openxmlformats.org/officeDocument/2006/relationships/image"/><Relationship Id="rId19" Target="../media/image140.svg" Type="http://schemas.openxmlformats.org/officeDocument/2006/relationships/image"/><Relationship Id="rId2" Target="../media/image1.png" Type="http://schemas.openxmlformats.org/officeDocument/2006/relationships/image"/><Relationship Id="rId20" Target="../media/image141.png" Type="http://schemas.openxmlformats.org/officeDocument/2006/relationships/image"/><Relationship Id="rId21" Target="../media/image142.svg" Type="http://schemas.openxmlformats.org/officeDocument/2006/relationships/image"/><Relationship Id="rId3" Target="../media/image2.svg" Type="http://schemas.openxmlformats.org/officeDocument/2006/relationships/image"/><Relationship Id="rId4" Target="../media/image135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3.pn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44.png" Type="http://schemas.openxmlformats.org/officeDocument/2006/relationships/image"/><Relationship Id="rId16" Target="../media/image145.svg" Type="http://schemas.openxmlformats.org/officeDocument/2006/relationships/image"/><Relationship Id="rId17" Target="../media/image146.png" Type="http://schemas.openxmlformats.org/officeDocument/2006/relationships/image"/><Relationship Id="rId18" Target="../media/image14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0.png" Type="http://schemas.openxmlformats.org/officeDocument/2006/relationships/image"/><Relationship Id="rId11" Target="../media/image151.png" Type="http://schemas.openxmlformats.org/officeDocument/2006/relationships/image"/><Relationship Id="rId12" Target="../media/image15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8.png" Type="http://schemas.openxmlformats.org/officeDocument/2006/relationships/image"/><Relationship Id="rId7" Target="../media/image149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3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48.png" Type="http://schemas.openxmlformats.org/officeDocument/2006/relationships/image"/><Relationship Id="rId8" Target="../media/image14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4328" y="-85486"/>
            <a:ext cx="4993672" cy="4993672"/>
          </a:xfrm>
          <a:custGeom>
            <a:avLst/>
            <a:gdLst/>
            <a:ahLst/>
            <a:cxnLst/>
            <a:rect r="r" b="b" t="t" l="l"/>
            <a:pathLst>
              <a:path h="4993672" w="4993672">
                <a:moveTo>
                  <a:pt x="0" y="0"/>
                </a:moveTo>
                <a:lnTo>
                  <a:pt x="4993672" y="0"/>
                </a:lnTo>
                <a:lnTo>
                  <a:pt x="4993672" y="4993672"/>
                </a:lnTo>
                <a:lnTo>
                  <a:pt x="0" y="499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78495" y="3532603"/>
            <a:ext cx="7253471" cy="7253471"/>
          </a:xfrm>
          <a:custGeom>
            <a:avLst/>
            <a:gdLst/>
            <a:ahLst/>
            <a:cxnLst/>
            <a:rect r="r" b="b" t="t" l="l"/>
            <a:pathLst>
              <a:path h="7253471" w="7253471">
                <a:moveTo>
                  <a:pt x="0" y="0"/>
                </a:moveTo>
                <a:lnTo>
                  <a:pt x="7253470" y="0"/>
                </a:lnTo>
                <a:lnTo>
                  <a:pt x="7253470" y="7253471"/>
                </a:lnTo>
                <a:lnTo>
                  <a:pt x="0" y="7253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31756" y="1293885"/>
            <a:ext cx="7125143" cy="7092965"/>
            <a:chOff x="0" y="0"/>
            <a:chExt cx="9500191" cy="945728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500191" cy="8151873"/>
              <a:chOff x="0" y="0"/>
              <a:chExt cx="6269228" cy="537946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12" y="76"/>
                <a:ext cx="6269216" cy="5379390"/>
              </a:xfrm>
              <a:custGeom>
                <a:avLst/>
                <a:gdLst/>
                <a:ahLst/>
                <a:cxnLst/>
                <a:rect r="r" b="b" t="t" l="l"/>
                <a:pathLst>
                  <a:path h="5379390" w="6269216">
                    <a:moveTo>
                      <a:pt x="5977116" y="5379390"/>
                    </a:moveTo>
                    <a:cubicBezTo>
                      <a:pt x="6137771" y="5379390"/>
                      <a:pt x="6269216" y="5247945"/>
                      <a:pt x="6269216" y="5087290"/>
                    </a:cubicBezTo>
                    <a:lnTo>
                      <a:pt x="6269216" y="237922"/>
                    </a:lnTo>
                    <a:cubicBezTo>
                      <a:pt x="6269216" y="77267"/>
                      <a:pt x="6140565" y="-27000"/>
                      <a:pt x="5983466" y="6147"/>
                    </a:cubicBezTo>
                    <a:lnTo>
                      <a:pt x="204966" y="1224966"/>
                    </a:lnTo>
                    <a:cubicBezTo>
                      <a:pt x="47740" y="1258113"/>
                      <a:pt x="-37350" y="1409243"/>
                      <a:pt x="15863" y="1560881"/>
                    </a:cubicBezTo>
                    <a:lnTo>
                      <a:pt x="1258431" y="5103673"/>
                    </a:lnTo>
                    <a:cubicBezTo>
                      <a:pt x="1311644" y="5255311"/>
                      <a:pt x="1486523" y="5379263"/>
                      <a:pt x="1647178" y="5379263"/>
                    </a:cubicBezTo>
                    <a:lnTo>
                      <a:pt x="5977116" y="5379390"/>
                    </a:lnTo>
                    <a:close/>
                  </a:path>
                </a:pathLst>
              </a:custGeom>
              <a:solidFill>
                <a:srgbClr val="95D5B2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637658" y="785529"/>
              <a:ext cx="7847033" cy="8671757"/>
            </a:xfrm>
            <a:custGeom>
              <a:avLst/>
              <a:gdLst/>
              <a:ahLst/>
              <a:cxnLst/>
              <a:rect r="r" b="b" t="t" l="l"/>
              <a:pathLst>
                <a:path h="8671757" w="7847033">
                  <a:moveTo>
                    <a:pt x="0" y="0"/>
                  </a:moveTo>
                  <a:lnTo>
                    <a:pt x="7847034" y="0"/>
                  </a:lnTo>
                  <a:lnTo>
                    <a:pt x="7847034" y="8671757"/>
                  </a:lnTo>
                  <a:lnTo>
                    <a:pt x="0" y="8671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749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1503861">
            <a:off x="-530214" y="162283"/>
            <a:ext cx="2887484" cy="1086744"/>
          </a:xfrm>
          <a:custGeom>
            <a:avLst/>
            <a:gdLst/>
            <a:ahLst/>
            <a:cxnLst/>
            <a:rect r="r" b="b" t="t" l="l"/>
            <a:pathLst>
              <a:path h="1086744" w="2887484">
                <a:moveTo>
                  <a:pt x="0" y="0"/>
                </a:moveTo>
                <a:lnTo>
                  <a:pt x="2887485" y="0"/>
                </a:lnTo>
                <a:lnTo>
                  <a:pt x="2887485" y="1086745"/>
                </a:lnTo>
                <a:lnTo>
                  <a:pt x="0" y="1086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2074" y="6110601"/>
            <a:ext cx="7253471" cy="7253471"/>
          </a:xfrm>
          <a:custGeom>
            <a:avLst/>
            <a:gdLst/>
            <a:ahLst/>
            <a:cxnLst/>
            <a:rect r="r" b="b" t="t" l="l"/>
            <a:pathLst>
              <a:path h="7253471" w="7253471">
                <a:moveTo>
                  <a:pt x="0" y="0"/>
                </a:moveTo>
                <a:lnTo>
                  <a:pt x="7253471" y="0"/>
                </a:lnTo>
                <a:lnTo>
                  <a:pt x="7253471" y="7253471"/>
                </a:lnTo>
                <a:lnTo>
                  <a:pt x="0" y="7253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551725"/>
            <a:ext cx="2128429" cy="735275"/>
          </a:xfrm>
          <a:custGeom>
            <a:avLst/>
            <a:gdLst/>
            <a:ahLst/>
            <a:cxnLst/>
            <a:rect r="r" b="b" t="t" l="l"/>
            <a:pathLst>
              <a:path h="735275" w="2128429">
                <a:moveTo>
                  <a:pt x="0" y="0"/>
                </a:moveTo>
                <a:lnTo>
                  <a:pt x="2128429" y="0"/>
                </a:lnTo>
                <a:lnTo>
                  <a:pt x="2128429" y="735275"/>
                </a:lnTo>
                <a:lnTo>
                  <a:pt x="0" y="7352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9270915" y="-482456"/>
            <a:ext cx="3439270" cy="1188111"/>
          </a:xfrm>
          <a:custGeom>
            <a:avLst/>
            <a:gdLst/>
            <a:ahLst/>
            <a:cxnLst/>
            <a:rect r="r" b="b" t="t" l="l"/>
            <a:pathLst>
              <a:path h="1188111" w="3439270">
                <a:moveTo>
                  <a:pt x="0" y="1188112"/>
                </a:moveTo>
                <a:lnTo>
                  <a:pt x="3439270" y="1188112"/>
                </a:lnTo>
                <a:lnTo>
                  <a:pt x="3439270" y="0"/>
                </a:lnTo>
                <a:lnTo>
                  <a:pt x="0" y="0"/>
                </a:lnTo>
                <a:lnTo>
                  <a:pt x="0" y="118811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2147415">
            <a:off x="16670129" y="32109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70" y="555239"/>
                </a:lnTo>
                <a:lnTo>
                  <a:pt x="1607270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794588">
            <a:off x="16517662" y="8685554"/>
            <a:ext cx="1853697" cy="954654"/>
          </a:xfrm>
          <a:custGeom>
            <a:avLst/>
            <a:gdLst/>
            <a:ahLst/>
            <a:cxnLst/>
            <a:rect r="r" b="b" t="t" l="l"/>
            <a:pathLst>
              <a:path h="954654" w="1853697">
                <a:moveTo>
                  <a:pt x="0" y="0"/>
                </a:moveTo>
                <a:lnTo>
                  <a:pt x="1853697" y="0"/>
                </a:lnTo>
                <a:lnTo>
                  <a:pt x="1853697" y="954654"/>
                </a:lnTo>
                <a:lnTo>
                  <a:pt x="0" y="954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28429" y="1269422"/>
            <a:ext cx="7151246" cy="293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sz="5488" spc="-30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AI -Based Empl</a:t>
            </a:r>
            <a:r>
              <a:rPr lang="en-US" sz="5488" spc="-30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oyee Wellness Management</a:t>
            </a:r>
          </a:p>
          <a:p>
            <a:pPr algn="ctr">
              <a:lnSpc>
                <a:spcPts val="5488"/>
              </a:lnSpc>
            </a:pPr>
            <a:r>
              <a:rPr lang="en-US" sz="5488" spc="-30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8429" y="4673616"/>
            <a:ext cx="6764504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</a:t>
            </a:r>
            <a:r>
              <a:rPr lang="en-US" sz="2699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upport Employee’s Mental Health and Sentiment Remotely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46084" y="-3906"/>
            <a:ext cx="5859146" cy="106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Healthy</a:t>
            </a: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teams achieve better results.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94661" y="5929011"/>
            <a:ext cx="7242737" cy="3944399"/>
            <a:chOff x="0" y="0"/>
            <a:chExt cx="9656983" cy="525919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656983" cy="5259199"/>
              <a:chOff x="0" y="0"/>
              <a:chExt cx="1907552" cy="1038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07552" cy="1038854"/>
              </a:xfrm>
              <a:custGeom>
                <a:avLst/>
                <a:gdLst/>
                <a:ahLst/>
                <a:cxnLst/>
                <a:rect r="r" b="b" t="t" l="l"/>
                <a:pathLst>
                  <a:path h="1038854" w="1907552">
                    <a:moveTo>
                      <a:pt x="106892" y="0"/>
                    </a:moveTo>
                    <a:lnTo>
                      <a:pt x="1800660" y="0"/>
                    </a:lnTo>
                    <a:cubicBezTo>
                      <a:pt x="1859695" y="0"/>
                      <a:pt x="1907552" y="47857"/>
                      <a:pt x="1907552" y="106892"/>
                    </a:cubicBezTo>
                    <a:lnTo>
                      <a:pt x="1907552" y="931962"/>
                    </a:lnTo>
                    <a:cubicBezTo>
                      <a:pt x="1907552" y="960311"/>
                      <a:pt x="1896290" y="987500"/>
                      <a:pt x="1876244" y="1007546"/>
                    </a:cubicBezTo>
                    <a:cubicBezTo>
                      <a:pt x="1856198" y="1027592"/>
                      <a:pt x="1829009" y="1038854"/>
                      <a:pt x="1800660" y="1038854"/>
                    </a:cubicBezTo>
                    <a:lnTo>
                      <a:pt x="106892" y="1038854"/>
                    </a:lnTo>
                    <a:cubicBezTo>
                      <a:pt x="78543" y="1038854"/>
                      <a:pt x="51354" y="1027592"/>
                      <a:pt x="31308" y="1007546"/>
                    </a:cubicBezTo>
                    <a:cubicBezTo>
                      <a:pt x="11262" y="987500"/>
                      <a:pt x="0" y="960311"/>
                      <a:pt x="0" y="931962"/>
                    </a:cubicBezTo>
                    <a:lnTo>
                      <a:pt x="0" y="106892"/>
                    </a:lnTo>
                    <a:cubicBezTo>
                      <a:pt x="0" y="78543"/>
                      <a:pt x="11262" y="51354"/>
                      <a:pt x="31308" y="31308"/>
                    </a:cubicBezTo>
                    <a:cubicBezTo>
                      <a:pt x="51354" y="11262"/>
                      <a:pt x="78543" y="0"/>
                      <a:pt x="1068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95D5B2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907552" cy="108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923240" y="366952"/>
              <a:ext cx="335190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</a:t>
              </a:r>
              <a:r>
                <a:rPr lang="en-US" sz="24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resented By: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246719" y="1072861"/>
              <a:ext cx="5260074" cy="3998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Rishit Ranjan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Ritheesh Reddy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4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Sanjana Teggi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Simran Hakim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Shivendra Tripathi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Sudip Madhu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4388" y="1022061"/>
              <a:ext cx="3890927" cy="1018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40"/>
                </a:lnSpc>
              </a:pPr>
              <a:r>
                <a:rPr lang="en-US" sz="4600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Team 4</a:t>
              </a: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57360" y="7383919"/>
            <a:ext cx="2824732" cy="2403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66035" y="-1317128"/>
            <a:ext cx="12692655" cy="12692655"/>
          </a:xfrm>
          <a:custGeom>
            <a:avLst/>
            <a:gdLst/>
            <a:ahLst/>
            <a:cxnLst/>
            <a:rect r="r" b="b" t="t" l="l"/>
            <a:pathLst>
              <a:path h="12692655" w="12692655">
                <a:moveTo>
                  <a:pt x="0" y="0"/>
                </a:moveTo>
                <a:lnTo>
                  <a:pt x="12692655" y="0"/>
                </a:lnTo>
                <a:lnTo>
                  <a:pt x="12692655" y="12692656"/>
                </a:lnTo>
                <a:lnTo>
                  <a:pt x="0" y="1269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606" y="3004013"/>
            <a:ext cx="10768513" cy="6777595"/>
            <a:chOff x="0" y="0"/>
            <a:chExt cx="2836152" cy="1785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6152" cy="1785046"/>
            </a:xfrm>
            <a:custGeom>
              <a:avLst/>
              <a:gdLst/>
              <a:ahLst/>
              <a:cxnLst/>
              <a:rect r="r" b="b" t="t" l="l"/>
              <a:pathLst>
                <a:path h="1785046" w="2836152">
                  <a:moveTo>
                    <a:pt x="36666" y="0"/>
                  </a:moveTo>
                  <a:lnTo>
                    <a:pt x="2799486" y="0"/>
                  </a:lnTo>
                  <a:cubicBezTo>
                    <a:pt x="2819736" y="0"/>
                    <a:pt x="2836152" y="16416"/>
                    <a:pt x="2836152" y="36666"/>
                  </a:cubicBezTo>
                  <a:lnTo>
                    <a:pt x="2836152" y="1748380"/>
                  </a:lnTo>
                  <a:cubicBezTo>
                    <a:pt x="2836152" y="1758104"/>
                    <a:pt x="2832289" y="1767430"/>
                    <a:pt x="2825412" y="1774306"/>
                  </a:cubicBezTo>
                  <a:cubicBezTo>
                    <a:pt x="2818536" y="1781183"/>
                    <a:pt x="2809210" y="1785046"/>
                    <a:pt x="2799486" y="1785046"/>
                  </a:cubicBezTo>
                  <a:lnTo>
                    <a:pt x="36666" y="1785046"/>
                  </a:lnTo>
                  <a:cubicBezTo>
                    <a:pt x="26942" y="1785046"/>
                    <a:pt x="17615" y="1781183"/>
                    <a:pt x="10739" y="1774306"/>
                  </a:cubicBezTo>
                  <a:cubicBezTo>
                    <a:pt x="3863" y="1767430"/>
                    <a:pt x="0" y="1758104"/>
                    <a:pt x="0" y="1748380"/>
                  </a:cubicBezTo>
                  <a:lnTo>
                    <a:pt x="0" y="36666"/>
                  </a:lnTo>
                  <a:cubicBezTo>
                    <a:pt x="0" y="26942"/>
                    <a:pt x="3863" y="17615"/>
                    <a:pt x="10739" y="10739"/>
                  </a:cubicBezTo>
                  <a:cubicBezTo>
                    <a:pt x="17615" y="3863"/>
                    <a:pt x="26942" y="0"/>
                    <a:pt x="36666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36152" cy="183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96805" y="2962220"/>
            <a:ext cx="6352223" cy="5712972"/>
            <a:chOff x="0" y="0"/>
            <a:chExt cx="1673013" cy="15046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3014" cy="1504651"/>
            </a:xfrm>
            <a:custGeom>
              <a:avLst/>
              <a:gdLst/>
              <a:ahLst/>
              <a:cxnLst/>
              <a:rect r="r" b="b" t="t" l="l"/>
              <a:pathLst>
                <a:path h="1504651" w="1673014">
                  <a:moveTo>
                    <a:pt x="42657" y="0"/>
                  </a:moveTo>
                  <a:lnTo>
                    <a:pt x="1630356" y="0"/>
                  </a:lnTo>
                  <a:cubicBezTo>
                    <a:pt x="1653915" y="0"/>
                    <a:pt x="1673014" y="19098"/>
                    <a:pt x="1673014" y="42657"/>
                  </a:cubicBezTo>
                  <a:lnTo>
                    <a:pt x="1673014" y="1461994"/>
                  </a:lnTo>
                  <a:cubicBezTo>
                    <a:pt x="1673014" y="1473307"/>
                    <a:pt x="1668519" y="1484157"/>
                    <a:pt x="1660520" y="1492157"/>
                  </a:cubicBezTo>
                  <a:cubicBezTo>
                    <a:pt x="1652520" y="1500157"/>
                    <a:pt x="1641670" y="1504651"/>
                    <a:pt x="1630356" y="1504651"/>
                  </a:cubicBezTo>
                  <a:lnTo>
                    <a:pt x="42657" y="1504651"/>
                  </a:lnTo>
                  <a:cubicBezTo>
                    <a:pt x="19098" y="1504651"/>
                    <a:pt x="0" y="1485553"/>
                    <a:pt x="0" y="1461994"/>
                  </a:cubicBezTo>
                  <a:lnTo>
                    <a:pt x="0" y="42657"/>
                  </a:lnTo>
                  <a:cubicBezTo>
                    <a:pt x="0" y="19098"/>
                    <a:pt x="19098" y="0"/>
                    <a:pt x="42657" y="0"/>
                  </a:cubicBezTo>
                  <a:close/>
                </a:path>
              </a:pathLst>
            </a:custGeom>
            <a:solidFill>
              <a:srgbClr val="95D5B2"/>
            </a:solidFill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73013" cy="155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1672838" y="3180046"/>
            <a:ext cx="849960" cy="849960"/>
          </a:xfrm>
          <a:custGeom>
            <a:avLst/>
            <a:gdLst/>
            <a:ahLst/>
            <a:cxnLst/>
            <a:rect r="r" b="b" t="t" l="l"/>
            <a:pathLst>
              <a:path h="849960" w="849960">
                <a:moveTo>
                  <a:pt x="0" y="0"/>
                </a:moveTo>
                <a:lnTo>
                  <a:pt x="849960" y="0"/>
                </a:lnTo>
                <a:lnTo>
                  <a:pt x="849960" y="849960"/>
                </a:lnTo>
                <a:lnTo>
                  <a:pt x="0" y="849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62902" y="2273703"/>
            <a:ext cx="51077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2334996">
            <a:off x="-754924" y="36248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0"/>
                </a:moveTo>
                <a:lnTo>
                  <a:pt x="2323356" y="0"/>
                </a:lnTo>
                <a:lnTo>
                  <a:pt x="2323356" y="874427"/>
                </a:lnTo>
                <a:lnTo>
                  <a:pt x="0" y="874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10683641">
            <a:off x="184540" y="980864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95434" y="4395886"/>
            <a:ext cx="5754965" cy="4114800"/>
          </a:xfrm>
          <a:custGeom>
            <a:avLst/>
            <a:gdLst/>
            <a:ahLst/>
            <a:cxnLst/>
            <a:rect r="r" b="b" t="t" l="l"/>
            <a:pathLst>
              <a:path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945558">
            <a:off x="16164205" y="9934955"/>
            <a:ext cx="3401729" cy="1280287"/>
          </a:xfrm>
          <a:custGeom>
            <a:avLst/>
            <a:gdLst/>
            <a:ahLst/>
            <a:cxnLst/>
            <a:rect r="r" b="b" t="t" l="l"/>
            <a:pathLst>
              <a:path h="1280287" w="3401729">
                <a:moveTo>
                  <a:pt x="0" y="0"/>
                </a:moveTo>
                <a:lnTo>
                  <a:pt x="3401729" y="0"/>
                </a:lnTo>
                <a:lnTo>
                  <a:pt x="3401729" y="1280287"/>
                </a:lnTo>
                <a:lnTo>
                  <a:pt x="0" y="128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8704403" y="155654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2902" y="1103380"/>
            <a:ext cx="10540070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0825" y="3141910"/>
            <a:ext cx="8520107" cy="64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Current System’s Limitations and Issues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768529">
            <a:off x="9732369" y="2377733"/>
            <a:ext cx="1454379" cy="1294397"/>
          </a:xfrm>
          <a:custGeom>
            <a:avLst/>
            <a:gdLst/>
            <a:ahLst/>
            <a:cxnLst/>
            <a:rect r="r" b="b" t="t" l="l"/>
            <a:pathLst>
              <a:path h="1294397" w="1454379">
                <a:moveTo>
                  <a:pt x="0" y="0"/>
                </a:moveTo>
                <a:lnTo>
                  <a:pt x="1454379" y="0"/>
                </a:lnTo>
                <a:lnTo>
                  <a:pt x="1454379" y="1294397"/>
                </a:lnTo>
                <a:lnTo>
                  <a:pt x="0" y="12943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7229" y="3199340"/>
            <a:ext cx="727786" cy="727786"/>
          </a:xfrm>
          <a:custGeom>
            <a:avLst/>
            <a:gdLst/>
            <a:ahLst/>
            <a:cxnLst/>
            <a:rect r="r" b="b" t="t" l="l"/>
            <a:pathLst>
              <a:path h="727786" w="727786">
                <a:moveTo>
                  <a:pt x="0" y="0"/>
                </a:moveTo>
                <a:lnTo>
                  <a:pt x="727786" y="0"/>
                </a:lnTo>
                <a:lnTo>
                  <a:pt x="727786" y="727785"/>
                </a:lnTo>
                <a:lnTo>
                  <a:pt x="0" y="7277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496805" y="184177"/>
            <a:ext cx="2154151" cy="2089527"/>
          </a:xfrm>
          <a:custGeom>
            <a:avLst/>
            <a:gdLst/>
            <a:ahLst/>
            <a:cxnLst/>
            <a:rect r="r" b="b" t="t" l="l"/>
            <a:pathLst>
              <a:path h="2089527" w="2154151">
                <a:moveTo>
                  <a:pt x="0" y="0"/>
                </a:moveTo>
                <a:lnTo>
                  <a:pt x="2154151" y="0"/>
                </a:lnTo>
                <a:lnTo>
                  <a:pt x="2154151" y="2089526"/>
                </a:lnTo>
                <a:lnTo>
                  <a:pt x="0" y="20895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5606" y="4106492"/>
            <a:ext cx="10381275" cy="545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Lack of a secure and centralized login and wellness management system.</a:t>
            </a:r>
          </a:p>
          <a:p>
            <a:pPr algn="l">
              <a:lnSpc>
                <a:spcPts val="3939"/>
              </a:lnSpc>
            </a:pPr>
          </a:p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Difficulty in managing user/admin access and employee wellness records.</a:t>
            </a:r>
          </a:p>
          <a:p>
            <a:pPr algn="l">
              <a:lnSpc>
                <a:spcPts val="3939"/>
              </a:lnSpc>
            </a:pPr>
          </a:p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Limited real-time analysis of workforce performance and health trends.</a:t>
            </a:r>
          </a:p>
          <a:p>
            <a:pPr algn="l">
              <a:lnSpc>
                <a:spcPts val="3939"/>
              </a:lnSpc>
            </a:pPr>
          </a:p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Need for instant wellness guidance through an intelligent chatbot with natural language response.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26994" y="-3805314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7"/>
                </a:lnTo>
                <a:lnTo>
                  <a:pt x="0" y="9245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0362" y="5019427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6"/>
                </a:lnTo>
                <a:lnTo>
                  <a:pt x="0" y="924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77183" y="7555221"/>
            <a:ext cx="4421635" cy="4421635"/>
          </a:xfrm>
          <a:custGeom>
            <a:avLst/>
            <a:gdLst/>
            <a:ahLst/>
            <a:cxnLst/>
            <a:rect r="r" b="b" t="t" l="l"/>
            <a:pathLst>
              <a:path h="4421635" w="4421635">
                <a:moveTo>
                  <a:pt x="0" y="0"/>
                </a:moveTo>
                <a:lnTo>
                  <a:pt x="4421634" y="0"/>
                </a:lnTo>
                <a:lnTo>
                  <a:pt x="4421634" y="4421634"/>
                </a:lnTo>
                <a:lnTo>
                  <a:pt x="0" y="442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44249" y="3806298"/>
            <a:ext cx="10827274" cy="6404502"/>
            <a:chOff x="0" y="0"/>
            <a:chExt cx="2851628" cy="1686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1628" cy="1686783"/>
            </a:xfrm>
            <a:custGeom>
              <a:avLst/>
              <a:gdLst/>
              <a:ahLst/>
              <a:cxnLst/>
              <a:rect r="r" b="b" t="t" l="l"/>
              <a:pathLst>
                <a:path h="1686783" w="2851628">
                  <a:moveTo>
                    <a:pt x="36467" y="0"/>
                  </a:moveTo>
                  <a:lnTo>
                    <a:pt x="2815161" y="0"/>
                  </a:lnTo>
                  <a:cubicBezTo>
                    <a:pt x="2824832" y="0"/>
                    <a:pt x="2834108" y="3842"/>
                    <a:pt x="2840947" y="10681"/>
                  </a:cubicBezTo>
                  <a:cubicBezTo>
                    <a:pt x="2847786" y="17520"/>
                    <a:pt x="2851628" y="26795"/>
                    <a:pt x="2851628" y="36467"/>
                  </a:cubicBezTo>
                  <a:lnTo>
                    <a:pt x="2851628" y="1650316"/>
                  </a:lnTo>
                  <a:cubicBezTo>
                    <a:pt x="2851628" y="1659987"/>
                    <a:pt x="2847786" y="1669263"/>
                    <a:pt x="2840947" y="1676102"/>
                  </a:cubicBezTo>
                  <a:cubicBezTo>
                    <a:pt x="2834108" y="1682940"/>
                    <a:pt x="2824832" y="1686783"/>
                    <a:pt x="2815161" y="1686783"/>
                  </a:cubicBezTo>
                  <a:lnTo>
                    <a:pt x="36467" y="1686783"/>
                  </a:lnTo>
                  <a:cubicBezTo>
                    <a:pt x="26795" y="1686783"/>
                    <a:pt x="17520" y="1682940"/>
                    <a:pt x="10681" y="1676102"/>
                  </a:cubicBezTo>
                  <a:cubicBezTo>
                    <a:pt x="3842" y="1669263"/>
                    <a:pt x="0" y="1659987"/>
                    <a:pt x="0" y="1650316"/>
                  </a:cubicBezTo>
                  <a:lnTo>
                    <a:pt x="0" y="36467"/>
                  </a:lnTo>
                  <a:cubicBezTo>
                    <a:pt x="0" y="26795"/>
                    <a:pt x="3842" y="17520"/>
                    <a:pt x="10681" y="10681"/>
                  </a:cubicBezTo>
                  <a:cubicBezTo>
                    <a:pt x="17520" y="3842"/>
                    <a:pt x="26795" y="0"/>
                    <a:pt x="36467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51628" cy="173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9116767">
            <a:off x="-1096802" y="9439514"/>
            <a:ext cx="2819662" cy="1061218"/>
          </a:xfrm>
          <a:custGeom>
            <a:avLst/>
            <a:gdLst/>
            <a:ahLst/>
            <a:cxnLst/>
            <a:rect r="r" b="b" t="t" l="l"/>
            <a:pathLst>
              <a:path h="1061218" w="2819662">
                <a:moveTo>
                  <a:pt x="0" y="1061218"/>
                </a:moveTo>
                <a:lnTo>
                  <a:pt x="2819662" y="1061218"/>
                </a:lnTo>
                <a:lnTo>
                  <a:pt x="2819662" y="0"/>
                </a:lnTo>
                <a:lnTo>
                  <a:pt x="0" y="0"/>
                </a:lnTo>
                <a:lnTo>
                  <a:pt x="0" y="106121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313029" y="6731088"/>
            <a:ext cx="36015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14619" y="9641965"/>
            <a:ext cx="1646628" cy="568835"/>
          </a:xfrm>
          <a:custGeom>
            <a:avLst/>
            <a:gdLst/>
            <a:ahLst/>
            <a:cxnLst/>
            <a:rect r="r" b="b" t="t" l="l"/>
            <a:pathLst>
              <a:path h="568835" w="1646628">
                <a:moveTo>
                  <a:pt x="0" y="0"/>
                </a:moveTo>
                <a:lnTo>
                  <a:pt x="1646628" y="0"/>
                </a:lnTo>
                <a:lnTo>
                  <a:pt x="1646628" y="568835"/>
                </a:lnTo>
                <a:lnTo>
                  <a:pt x="0" y="568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3029" y="5567768"/>
            <a:ext cx="6240013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Introduction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13029" y="166731"/>
            <a:ext cx="7091686" cy="3747831"/>
            <a:chOff x="0" y="0"/>
            <a:chExt cx="2139087" cy="1130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9086" cy="1130470"/>
            </a:xfrm>
            <a:custGeom>
              <a:avLst/>
              <a:gdLst/>
              <a:ahLst/>
              <a:cxnLst/>
              <a:rect r="r" b="b" t="t" l="l"/>
              <a:pathLst>
                <a:path h="1130470" w="213908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007769"/>
                  </a:lnTo>
                  <a:cubicBezTo>
                    <a:pt x="1" y="1075535"/>
                    <a:pt x="54936" y="1130470"/>
                    <a:pt x="122702" y="1130470"/>
                  </a:cubicBezTo>
                  <a:lnTo>
                    <a:pt x="2016383" y="1130470"/>
                  </a:lnTo>
                  <a:cubicBezTo>
                    <a:pt x="2084149" y="1130470"/>
                    <a:pt x="2139085" y="1075535"/>
                    <a:pt x="2139086" y="1007769"/>
                  </a:cubicBezTo>
                  <a:lnTo>
                    <a:pt x="2139086" y="122701"/>
                  </a:lnTo>
                  <a:cubicBezTo>
                    <a:pt x="2139085" y="54935"/>
                    <a:pt x="2084150" y="1"/>
                    <a:pt x="2016384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lnTo>
                    <a:pt x="0" y="0"/>
                  </a:lnTo>
                  <a:cubicBezTo>
                    <a:pt x="0" y="0"/>
                    <a:pt x="473267" y="77131"/>
                    <a:pt x="473267" y="77131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-2700000">
            <a:off x="572072" y="153574"/>
            <a:ext cx="967613" cy="967613"/>
          </a:xfrm>
          <a:custGeom>
            <a:avLst/>
            <a:gdLst/>
            <a:ahLst/>
            <a:cxnLst/>
            <a:rect r="r" b="b" t="t" l="l"/>
            <a:pathLst>
              <a:path h="967613" w="967613">
                <a:moveTo>
                  <a:pt x="0" y="0"/>
                </a:moveTo>
                <a:lnTo>
                  <a:pt x="967613" y="0"/>
                </a:lnTo>
                <a:lnTo>
                  <a:pt x="967613" y="967613"/>
                </a:lnTo>
                <a:lnTo>
                  <a:pt x="0" y="9676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41454" y="294905"/>
            <a:ext cx="3192957" cy="3587592"/>
          </a:xfrm>
          <a:custGeom>
            <a:avLst/>
            <a:gdLst/>
            <a:ahLst/>
            <a:cxnLst/>
            <a:rect r="r" b="b" t="t" l="l"/>
            <a:pathLst>
              <a:path h="3587592" w="3192957">
                <a:moveTo>
                  <a:pt x="0" y="0"/>
                </a:moveTo>
                <a:lnTo>
                  <a:pt x="3192957" y="0"/>
                </a:lnTo>
                <a:lnTo>
                  <a:pt x="3192957" y="3587593"/>
                </a:lnTo>
                <a:lnTo>
                  <a:pt x="0" y="3587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7291561" y="4884742"/>
            <a:ext cx="10732648" cy="522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559" indent="-294279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mployee wellness is essential for strong productivity and steady growth. The system helps manage health data and spot risks like stress while offering personal wellness tips.</a:t>
            </a:r>
          </a:p>
          <a:p>
            <a:pPr algn="l" marL="588559" indent="-294279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Employee wellness plays a big role in performance and growth. This system handles health data, predicts risks, and gives each person wellness ideas that support their wellbeing.</a:t>
            </a:r>
          </a:p>
          <a:p>
            <a:pPr algn="l" marL="588559" indent="-294279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Supporting employee wellness leads to better focus and stronger results. The system works with wellness data, identifies stress risks, and shares recommendations and the sentiment to help everyone stay healthy.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586574" y="4085508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7"/>
                </a:lnTo>
                <a:lnTo>
                  <a:pt x="0" y="7815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414867" y="4169958"/>
            <a:ext cx="550100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Knowing about the Project</a:t>
            </a:r>
          </a:p>
        </p:txBody>
      </p:sp>
      <p:sp>
        <p:nvSpPr>
          <p:cNvPr name="Freeform 19" id="19"/>
          <p:cNvSpPr/>
          <p:nvPr/>
        </p:nvSpPr>
        <p:spPr>
          <a:xfrm flipH="false" flipV="true" rot="-1503861">
            <a:off x="16666164" y="-146371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643787">
            <a:off x="10105288" y="-167136"/>
            <a:ext cx="2674975" cy="924082"/>
          </a:xfrm>
          <a:custGeom>
            <a:avLst/>
            <a:gdLst/>
            <a:ahLst/>
            <a:cxnLst/>
            <a:rect r="r" b="b" t="t" l="l"/>
            <a:pathLst>
              <a:path h="924082" w="2674975">
                <a:moveTo>
                  <a:pt x="0" y="0"/>
                </a:moveTo>
                <a:lnTo>
                  <a:pt x="2674974" y="0"/>
                </a:lnTo>
                <a:lnTo>
                  <a:pt x="2674974" y="924082"/>
                </a:lnTo>
                <a:lnTo>
                  <a:pt x="0" y="924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768529">
            <a:off x="16576391" y="3151804"/>
            <a:ext cx="1482881" cy="1319764"/>
          </a:xfrm>
          <a:custGeom>
            <a:avLst/>
            <a:gdLst/>
            <a:ahLst/>
            <a:cxnLst/>
            <a:rect r="r" b="b" t="t" l="l"/>
            <a:pathLst>
              <a:path h="1319764" w="1482881">
                <a:moveTo>
                  <a:pt x="0" y="0"/>
                </a:moveTo>
                <a:lnTo>
                  <a:pt x="1482881" y="0"/>
                </a:lnTo>
                <a:lnTo>
                  <a:pt x="1482881" y="1319763"/>
                </a:lnTo>
                <a:lnTo>
                  <a:pt x="0" y="13197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7728" y="5347585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6"/>
                </a:lnTo>
                <a:lnTo>
                  <a:pt x="0" y="924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8256" y="2786562"/>
            <a:ext cx="9815301" cy="7137382"/>
            <a:chOff x="0" y="0"/>
            <a:chExt cx="2585100" cy="18798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85100" cy="1879804"/>
            </a:xfrm>
            <a:custGeom>
              <a:avLst/>
              <a:gdLst/>
              <a:ahLst/>
              <a:cxnLst/>
              <a:rect r="r" b="b" t="t" l="l"/>
              <a:pathLst>
                <a:path h="1879804" w="2585100">
                  <a:moveTo>
                    <a:pt x="40227" y="0"/>
                  </a:moveTo>
                  <a:lnTo>
                    <a:pt x="2544873" y="0"/>
                  </a:lnTo>
                  <a:cubicBezTo>
                    <a:pt x="2555542" y="0"/>
                    <a:pt x="2565774" y="4238"/>
                    <a:pt x="2573318" y="11782"/>
                  </a:cubicBezTo>
                  <a:cubicBezTo>
                    <a:pt x="2580862" y="19326"/>
                    <a:pt x="2585100" y="29558"/>
                    <a:pt x="2585100" y="40227"/>
                  </a:cubicBezTo>
                  <a:lnTo>
                    <a:pt x="2585100" y="1839577"/>
                  </a:lnTo>
                  <a:cubicBezTo>
                    <a:pt x="2585100" y="1850246"/>
                    <a:pt x="2580862" y="1860478"/>
                    <a:pt x="2573318" y="1868022"/>
                  </a:cubicBezTo>
                  <a:cubicBezTo>
                    <a:pt x="2565774" y="1875566"/>
                    <a:pt x="2555542" y="1879804"/>
                    <a:pt x="2544873" y="1879804"/>
                  </a:cubicBezTo>
                  <a:lnTo>
                    <a:pt x="40227" y="1879804"/>
                  </a:lnTo>
                  <a:cubicBezTo>
                    <a:pt x="29558" y="1879804"/>
                    <a:pt x="19326" y="1875566"/>
                    <a:pt x="11782" y="1868022"/>
                  </a:cubicBezTo>
                  <a:cubicBezTo>
                    <a:pt x="4238" y="1860478"/>
                    <a:pt x="0" y="1850246"/>
                    <a:pt x="0" y="1839577"/>
                  </a:cubicBezTo>
                  <a:lnTo>
                    <a:pt x="0" y="40227"/>
                  </a:lnTo>
                  <a:cubicBezTo>
                    <a:pt x="0" y="29558"/>
                    <a:pt x="4238" y="19326"/>
                    <a:pt x="11782" y="11782"/>
                  </a:cubicBezTo>
                  <a:cubicBezTo>
                    <a:pt x="19326" y="4238"/>
                    <a:pt x="29558" y="0"/>
                    <a:pt x="40227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585100" cy="1927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33483" y="342103"/>
            <a:ext cx="9360218" cy="147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Project Objective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6073" y="3102753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26994" y="-3805314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7"/>
                </a:lnTo>
                <a:lnTo>
                  <a:pt x="0" y="9245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643787">
            <a:off x="10105288" y="-167136"/>
            <a:ext cx="2674975" cy="924082"/>
          </a:xfrm>
          <a:custGeom>
            <a:avLst/>
            <a:gdLst/>
            <a:ahLst/>
            <a:cxnLst/>
            <a:rect r="r" b="b" t="t" l="l"/>
            <a:pathLst>
              <a:path h="924082" w="2674975">
                <a:moveTo>
                  <a:pt x="0" y="0"/>
                </a:moveTo>
                <a:lnTo>
                  <a:pt x="2674974" y="0"/>
                </a:lnTo>
                <a:lnTo>
                  <a:pt x="2674974" y="924082"/>
                </a:lnTo>
                <a:lnTo>
                  <a:pt x="0" y="924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60243" y="9685705"/>
            <a:ext cx="1646628" cy="568835"/>
          </a:xfrm>
          <a:custGeom>
            <a:avLst/>
            <a:gdLst/>
            <a:ahLst/>
            <a:cxnLst/>
            <a:rect r="r" b="b" t="t" l="l"/>
            <a:pathLst>
              <a:path h="568835" w="1646628">
                <a:moveTo>
                  <a:pt x="0" y="0"/>
                </a:moveTo>
                <a:lnTo>
                  <a:pt x="1646628" y="0"/>
                </a:lnTo>
                <a:lnTo>
                  <a:pt x="1646628" y="568835"/>
                </a:lnTo>
                <a:lnTo>
                  <a:pt x="0" y="568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3027307">
            <a:off x="16507861" y="9489020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8513133">
            <a:off x="-797667" y="101792"/>
            <a:ext cx="2819662" cy="1061218"/>
          </a:xfrm>
          <a:custGeom>
            <a:avLst/>
            <a:gdLst/>
            <a:ahLst/>
            <a:cxnLst/>
            <a:rect r="r" b="b" t="t" l="l"/>
            <a:pathLst>
              <a:path h="1061218" w="2819662">
                <a:moveTo>
                  <a:pt x="0" y="1061218"/>
                </a:moveTo>
                <a:lnTo>
                  <a:pt x="2819663" y="1061218"/>
                </a:lnTo>
                <a:lnTo>
                  <a:pt x="2819663" y="0"/>
                </a:lnTo>
                <a:lnTo>
                  <a:pt x="0" y="0"/>
                </a:lnTo>
                <a:lnTo>
                  <a:pt x="0" y="106121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90395" y="606665"/>
            <a:ext cx="1599712" cy="1599712"/>
          </a:xfrm>
          <a:custGeom>
            <a:avLst/>
            <a:gdLst/>
            <a:ahLst/>
            <a:cxnLst/>
            <a:rect r="r" b="b" t="t" l="l"/>
            <a:pathLst>
              <a:path h="1599712" w="1599712">
                <a:moveTo>
                  <a:pt x="0" y="0"/>
                </a:moveTo>
                <a:lnTo>
                  <a:pt x="1599711" y="0"/>
                </a:lnTo>
                <a:lnTo>
                  <a:pt x="1599711" y="1599712"/>
                </a:lnTo>
                <a:lnTo>
                  <a:pt x="0" y="15997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94923" y="3903349"/>
            <a:ext cx="6305741" cy="4193318"/>
          </a:xfrm>
          <a:custGeom>
            <a:avLst/>
            <a:gdLst/>
            <a:ahLst/>
            <a:cxnLst/>
            <a:rect r="r" b="b" t="t" l="l"/>
            <a:pathLst>
              <a:path h="4193318" w="6305741">
                <a:moveTo>
                  <a:pt x="0" y="0"/>
                </a:moveTo>
                <a:lnTo>
                  <a:pt x="6305741" y="0"/>
                </a:lnTo>
                <a:lnTo>
                  <a:pt x="6305741" y="4193318"/>
                </a:lnTo>
                <a:lnTo>
                  <a:pt x="0" y="41933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2164" y="4052321"/>
            <a:ext cx="9527484" cy="530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088" indent="-277044" lvl="1">
              <a:lnSpc>
                <a:spcPts val="4465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Personalized Employee Dashboards: Tracks vitals, sets goals, and delivers custom AI insights.</a:t>
            </a:r>
          </a:p>
          <a:p>
            <a:pPr algn="l" marL="554088" indent="-277044" lvl="1">
              <a:lnSpc>
                <a:spcPts val="4183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Proactive Admin Analytics: Enables predictive risk modeling, sentiment tracking, and key KPIs.</a:t>
            </a:r>
          </a:p>
          <a:p>
            <a:pPr algn="l" marL="554088" indent="-277044" lvl="1">
              <a:lnSpc>
                <a:spcPts val="4337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24/7 AI Wellness Assistant: Provides instant, contextual advice on diet, stress, and exercise.</a:t>
            </a:r>
          </a:p>
          <a:p>
            <a:pPr algn="l" marL="554088" indent="-277044" lvl="1">
              <a:lnSpc>
                <a:spcPts val="4337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Secure &amp; Scalable Infrastructure: Ensures da</a:t>
            </a: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ta privacy, role-based access, and centralized analytics.</a:t>
            </a:r>
          </a:p>
          <a:p>
            <a:pPr algn="l" marL="576351" indent="-288175" lvl="1">
              <a:lnSpc>
                <a:spcPts val="3790"/>
              </a:lnSpc>
              <a:buAutoNum type="arabicPeriod" startAt="1"/>
            </a:pPr>
            <a:r>
              <a:rPr lang="en-US" sz="26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Automated Admin &amp; Emergency Response: Streamlines claims, scheduling, and instant SOS alerts.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4396" y="3093793"/>
            <a:ext cx="536626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Objectives of the Project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768529">
            <a:off x="9360277" y="2287707"/>
            <a:ext cx="1450806" cy="1291217"/>
          </a:xfrm>
          <a:custGeom>
            <a:avLst/>
            <a:gdLst/>
            <a:ahLst/>
            <a:cxnLst/>
            <a:rect r="r" b="b" t="t" l="l"/>
            <a:pathLst>
              <a:path h="1291217" w="1450806">
                <a:moveTo>
                  <a:pt x="0" y="0"/>
                </a:moveTo>
                <a:lnTo>
                  <a:pt x="1450806" y="0"/>
                </a:lnTo>
                <a:lnTo>
                  <a:pt x="1450806" y="1291217"/>
                </a:lnTo>
                <a:lnTo>
                  <a:pt x="0" y="1291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2443008" y="1995285"/>
            <a:ext cx="36015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8344" y="2231442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230" y="-2914734"/>
            <a:ext cx="7886867" cy="7886867"/>
          </a:xfrm>
          <a:custGeom>
            <a:avLst/>
            <a:gdLst/>
            <a:ahLst/>
            <a:cxnLst/>
            <a:rect r="r" b="b" t="t" l="l"/>
            <a:pathLst>
              <a:path h="7886867" w="7886867">
                <a:moveTo>
                  <a:pt x="0" y="0"/>
                </a:moveTo>
                <a:lnTo>
                  <a:pt x="7886868" y="0"/>
                </a:lnTo>
                <a:lnTo>
                  <a:pt x="7886868" y="7886868"/>
                </a:lnTo>
                <a:lnTo>
                  <a:pt x="0" y="78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19473" y="1407409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-67722">
            <a:off x="12158566" y="971598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903" y="2056341"/>
            <a:ext cx="9052097" cy="7971608"/>
            <a:chOff x="0" y="0"/>
            <a:chExt cx="2384091" cy="20995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4091" cy="2099518"/>
            </a:xfrm>
            <a:custGeom>
              <a:avLst/>
              <a:gdLst/>
              <a:ahLst/>
              <a:cxnLst/>
              <a:rect r="r" b="b" t="t" l="l"/>
              <a:pathLst>
                <a:path h="2099518" w="2384091">
                  <a:moveTo>
                    <a:pt x="43618" y="0"/>
                  </a:moveTo>
                  <a:lnTo>
                    <a:pt x="2340473" y="0"/>
                  </a:lnTo>
                  <a:cubicBezTo>
                    <a:pt x="2352041" y="0"/>
                    <a:pt x="2363136" y="4595"/>
                    <a:pt x="2371316" y="12776"/>
                  </a:cubicBezTo>
                  <a:cubicBezTo>
                    <a:pt x="2379496" y="20956"/>
                    <a:pt x="2384091" y="32050"/>
                    <a:pt x="2384091" y="43618"/>
                  </a:cubicBezTo>
                  <a:lnTo>
                    <a:pt x="2384091" y="2055900"/>
                  </a:lnTo>
                  <a:cubicBezTo>
                    <a:pt x="2384091" y="2079990"/>
                    <a:pt x="2364563" y="2099518"/>
                    <a:pt x="2340473" y="2099518"/>
                  </a:cubicBezTo>
                  <a:lnTo>
                    <a:pt x="43618" y="2099518"/>
                  </a:lnTo>
                  <a:cubicBezTo>
                    <a:pt x="19529" y="2099518"/>
                    <a:pt x="0" y="2079990"/>
                    <a:pt x="0" y="2055900"/>
                  </a:cubicBezTo>
                  <a:lnTo>
                    <a:pt x="0" y="43618"/>
                  </a:lnTo>
                  <a:cubicBezTo>
                    <a:pt x="0" y="19529"/>
                    <a:pt x="19529" y="0"/>
                    <a:pt x="43618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84091" cy="2147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50566" y="3262455"/>
            <a:ext cx="8937434" cy="5029032"/>
            <a:chOff x="0" y="0"/>
            <a:chExt cx="1290972" cy="726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0972" cy="726421"/>
            </a:xfrm>
            <a:custGeom>
              <a:avLst/>
              <a:gdLst/>
              <a:ahLst/>
              <a:cxnLst/>
              <a:rect r="r" b="b" t="t" l="l"/>
              <a:pathLst>
                <a:path h="726421" w="1290972">
                  <a:moveTo>
                    <a:pt x="0" y="0"/>
                  </a:moveTo>
                  <a:lnTo>
                    <a:pt x="1290972" y="0"/>
                  </a:lnTo>
                  <a:lnTo>
                    <a:pt x="1290972" y="726421"/>
                  </a:lnTo>
                  <a:lnTo>
                    <a:pt x="0" y="726421"/>
                  </a:lnTo>
                  <a:close/>
                </a:path>
              </a:pathLst>
            </a:custGeom>
            <a:blipFill>
              <a:blip r:embed="rId6"/>
              <a:stretch>
                <a:fillRect l="-1564" t="0" r="-1564" b="0"/>
              </a:stretch>
            </a:blipFill>
            <a:ln w="47625" cap="sq">
              <a:solidFill>
                <a:srgbClr val="34C473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true" rot="-10800000">
            <a:off x="16455665" y="103693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11862" y="103693"/>
            <a:ext cx="3359286" cy="2419121"/>
          </a:xfrm>
          <a:custGeom>
            <a:avLst/>
            <a:gdLst/>
            <a:ahLst/>
            <a:cxnLst/>
            <a:rect r="r" b="b" t="t" l="l"/>
            <a:pathLst>
              <a:path h="2419121" w="3359286">
                <a:moveTo>
                  <a:pt x="0" y="0"/>
                </a:moveTo>
                <a:lnTo>
                  <a:pt x="3359286" y="0"/>
                </a:lnTo>
                <a:lnTo>
                  <a:pt x="3359286" y="2419120"/>
                </a:lnTo>
                <a:lnTo>
                  <a:pt x="0" y="2419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14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9473" y="409169"/>
            <a:ext cx="8782839" cy="86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8"/>
              </a:lnSpc>
            </a:pPr>
            <a:r>
              <a:rPr lang="en-US" sz="5488" spc="109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531" y="2119719"/>
            <a:ext cx="6987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231F20"/>
                </a:solidFill>
                <a:latin typeface="Agrandir Bold"/>
                <a:ea typeface="Agrandir Bold"/>
                <a:cs typeface="Agrandir Bold"/>
                <a:sym typeface="Agrandir Bold"/>
              </a:rPr>
              <a:t> Explaining the structure and flow of the system.</a:t>
            </a:r>
          </a:p>
        </p:txBody>
      </p:sp>
      <p:sp>
        <p:nvSpPr>
          <p:cNvPr name="Freeform 15" id="15"/>
          <p:cNvSpPr/>
          <p:nvPr/>
        </p:nvSpPr>
        <p:spPr>
          <a:xfrm flipH="false" flipV="true" rot="3027307">
            <a:off x="16362230" y="9513332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1684521">
            <a:off x="-1278293" y="-118841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5098" y="3138894"/>
            <a:ext cx="8775108" cy="67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748" indent="-259874" lvl="1">
              <a:lnSpc>
                <a:spcPts val="3370"/>
              </a:lnSpc>
              <a:buFont typeface="Arial"/>
              <a:buChar char="•"/>
            </a:pPr>
            <a:r>
              <a:rPr lang="en-US" sz="24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</a:t>
            </a:r>
            <a:r>
              <a:rPr lang="en-US" sz="24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application is built on a modern, decoupled architecture, commonly known as a Backend for Frontend (BFF) pattern. </a:t>
            </a:r>
          </a:p>
          <a:p>
            <a:pPr algn="l">
              <a:lnSpc>
                <a:spcPts val="3370"/>
              </a:lnSpc>
            </a:pPr>
          </a:p>
          <a:p>
            <a:pPr algn="l" marL="519748" indent="-259874" lvl="1">
              <a:lnSpc>
                <a:spcPts val="3370"/>
              </a:lnSpc>
              <a:buFont typeface="Arial"/>
              <a:buChar char="•"/>
            </a:pPr>
            <a:r>
              <a:rPr lang="en-US" sz="24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This means the React frontend is a distinct application that communicates with a dedicated Flask backend via a REST API</a:t>
            </a:r>
          </a:p>
          <a:p>
            <a:pPr algn="l">
              <a:lnSpc>
                <a:spcPts val="3898"/>
              </a:lnSpc>
            </a:pPr>
          </a:p>
          <a:p>
            <a:pPr algn="l" marL="519748" indent="-259874" lvl="1">
              <a:lnSpc>
                <a:spcPts val="3370"/>
              </a:lnSpc>
              <a:buFont typeface="Arial"/>
              <a:buChar char="•"/>
            </a:pPr>
            <a:r>
              <a:rPr lang="en-US" sz="24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Microservice-Ready AI Integration: Isolates LLM interactions and machine learning model inference into modular background services to maintain high responsiveness and system efficiency.</a:t>
            </a:r>
          </a:p>
          <a:p>
            <a:pPr algn="l">
              <a:lnSpc>
                <a:spcPts val="3370"/>
              </a:lnSpc>
            </a:pPr>
          </a:p>
          <a:p>
            <a:pPr algn="l" marL="519748" indent="-259874" lvl="1">
              <a:lnSpc>
                <a:spcPts val="3370"/>
              </a:lnSpc>
              <a:buFont typeface="Arial"/>
              <a:buChar char="•"/>
            </a:pPr>
            <a:r>
              <a:rPr lang="en-US" sz="24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Stateless Token Authentication: Utilizes secure JWT authorization across API requests, ensuring strict role-based access control and seamless horizontal scaling.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72723" y="2221917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6" y="0"/>
                </a:lnTo>
                <a:lnTo>
                  <a:pt x="781546" y="781547"/>
                </a:lnTo>
                <a:lnTo>
                  <a:pt x="0" y="7815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768529">
            <a:off x="8289186" y="1659811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6379" y="53335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230" y="-2914734"/>
            <a:ext cx="7886867" cy="7886867"/>
          </a:xfrm>
          <a:custGeom>
            <a:avLst/>
            <a:gdLst/>
            <a:ahLst/>
            <a:cxnLst/>
            <a:rect r="r" b="b" t="t" l="l"/>
            <a:pathLst>
              <a:path h="7886867" w="7886867">
                <a:moveTo>
                  <a:pt x="0" y="0"/>
                </a:moveTo>
                <a:lnTo>
                  <a:pt x="7886868" y="0"/>
                </a:lnTo>
                <a:lnTo>
                  <a:pt x="7886868" y="7886868"/>
                </a:lnTo>
                <a:lnTo>
                  <a:pt x="0" y="78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557734" y="1490058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3008382" y="984251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599459">
            <a:off x="-1796507" y="-51139"/>
            <a:ext cx="3179613" cy="1196691"/>
          </a:xfrm>
          <a:custGeom>
            <a:avLst/>
            <a:gdLst/>
            <a:ahLst/>
            <a:cxnLst/>
            <a:rect r="r" b="b" t="t" l="l"/>
            <a:pathLst>
              <a:path h="1196691" w="3179613">
                <a:moveTo>
                  <a:pt x="0" y="0"/>
                </a:moveTo>
                <a:lnTo>
                  <a:pt x="3179613" y="0"/>
                </a:lnTo>
                <a:lnTo>
                  <a:pt x="3179613" y="1196691"/>
                </a:lnTo>
                <a:lnTo>
                  <a:pt x="0" y="1196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5810037" y="96281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772179">
            <a:off x="16364282" y="9563720"/>
            <a:ext cx="2956793" cy="1112829"/>
          </a:xfrm>
          <a:custGeom>
            <a:avLst/>
            <a:gdLst/>
            <a:ahLst/>
            <a:cxnLst/>
            <a:rect r="r" b="b" t="t" l="l"/>
            <a:pathLst>
              <a:path h="1112829" w="2956793">
                <a:moveTo>
                  <a:pt x="0" y="0"/>
                </a:moveTo>
                <a:lnTo>
                  <a:pt x="2956794" y="0"/>
                </a:lnTo>
                <a:lnTo>
                  <a:pt x="2956794" y="1112830"/>
                </a:lnTo>
                <a:lnTo>
                  <a:pt x="0" y="1112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10800000">
            <a:off x="754099" y="984251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768529">
            <a:off x="9554247" y="2010131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8"/>
                </a:lnTo>
                <a:lnTo>
                  <a:pt x="0" y="1192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96281"/>
            <a:ext cx="1702379" cy="1702379"/>
          </a:xfrm>
          <a:custGeom>
            <a:avLst/>
            <a:gdLst/>
            <a:ahLst/>
            <a:cxnLst/>
            <a:rect r="r" b="b" t="t" l="l"/>
            <a:pathLst>
              <a:path h="1702379" w="1702379">
                <a:moveTo>
                  <a:pt x="0" y="0"/>
                </a:moveTo>
                <a:lnTo>
                  <a:pt x="1702379" y="0"/>
                </a:lnTo>
                <a:lnTo>
                  <a:pt x="1702379" y="1702380"/>
                </a:lnTo>
                <a:lnTo>
                  <a:pt x="0" y="1702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58955" y="2148367"/>
            <a:ext cx="10074346" cy="7344443"/>
            <a:chOff x="0" y="0"/>
            <a:chExt cx="13432461" cy="979259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32461" cy="9792590"/>
              <a:chOff x="0" y="0"/>
              <a:chExt cx="2500640" cy="182302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00640" cy="1823027"/>
              </a:xfrm>
              <a:custGeom>
                <a:avLst/>
                <a:gdLst/>
                <a:ahLst/>
                <a:cxnLst/>
                <a:rect r="r" b="b" t="t" l="l"/>
                <a:pathLst>
                  <a:path h="1823027" w="2500640">
                    <a:moveTo>
                      <a:pt x="26897" y="0"/>
                    </a:moveTo>
                    <a:lnTo>
                      <a:pt x="2473744" y="0"/>
                    </a:lnTo>
                    <a:cubicBezTo>
                      <a:pt x="2488598" y="0"/>
                      <a:pt x="2500640" y="12042"/>
                      <a:pt x="2500640" y="26897"/>
                    </a:cubicBezTo>
                    <a:lnTo>
                      <a:pt x="2500640" y="1796131"/>
                    </a:lnTo>
                    <a:cubicBezTo>
                      <a:pt x="2500640" y="1810985"/>
                      <a:pt x="2488598" y="1823027"/>
                      <a:pt x="2473744" y="1823027"/>
                    </a:cubicBezTo>
                    <a:lnTo>
                      <a:pt x="26897" y="1823027"/>
                    </a:lnTo>
                    <a:cubicBezTo>
                      <a:pt x="19763" y="1823027"/>
                      <a:pt x="12922" y="1820194"/>
                      <a:pt x="7878" y="1815150"/>
                    </a:cubicBezTo>
                    <a:cubicBezTo>
                      <a:pt x="2834" y="1810105"/>
                      <a:pt x="0" y="1803264"/>
                      <a:pt x="0" y="1796131"/>
                    </a:cubicBezTo>
                    <a:lnTo>
                      <a:pt x="0" y="26897"/>
                    </a:lnTo>
                    <a:cubicBezTo>
                      <a:pt x="0" y="12042"/>
                      <a:pt x="12042" y="0"/>
                      <a:pt x="268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34C473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500640" cy="1870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484401" y="219575"/>
              <a:ext cx="11202294" cy="1429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4"/>
                </a:lnSpc>
              </a:pPr>
              <a:r>
                <a:rPr lang="en-US" sz="2989" b="true">
                  <a:solidFill>
                    <a:srgbClr val="231F2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How the system was developed and works step-by-step.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69963" y="1829666"/>
              <a:ext cx="12575321" cy="757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5642" indent="-292821" lvl="1">
                <a:lnSpc>
                  <a:spcPts val="3797"/>
                </a:lnSpc>
                <a:buFont typeface="Arial"/>
                <a:buChar char="•"/>
              </a:pPr>
              <a:r>
                <a:rPr lang="en-US" sz="2712">
                  <a:solidFill>
                    <a:srgbClr val="231F2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The system was developed in a modular way, starting with secure user authentication and role-based access for employees and admins.</a:t>
              </a:r>
            </a:p>
            <a:p>
              <a:pPr algn="l">
                <a:lnSpc>
                  <a:spcPts val="3797"/>
                </a:lnSpc>
              </a:pPr>
            </a:p>
            <a:p>
              <a:pPr algn="l" marL="585642" indent="-292821" lvl="1">
                <a:lnSpc>
                  <a:spcPts val="3797"/>
                </a:lnSpc>
                <a:buFont typeface="Arial"/>
                <a:buChar char="•"/>
              </a:pPr>
              <a:r>
                <a:rPr lang="en-US" sz="2712">
                  <a:solidFill>
                    <a:srgbClr val="231F2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After that, the frontend, backend, and database were connected to manage wellness records, analytics, and user interactions smoothly.</a:t>
              </a:r>
            </a:p>
            <a:p>
              <a:pPr algn="l">
                <a:lnSpc>
                  <a:spcPts val="3797"/>
                </a:lnSpc>
              </a:pPr>
            </a:p>
            <a:p>
              <a:pPr algn="l" marL="585642" indent="-292821" lvl="1">
                <a:lnSpc>
                  <a:spcPts val="3797"/>
                </a:lnSpc>
                <a:buFont typeface="Arial"/>
                <a:buChar char="•"/>
              </a:pPr>
              <a:r>
                <a:rPr lang="en-US" sz="2712">
                  <a:solidFill>
                    <a:srgbClr val="231F2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Finally, AI-based features such as risk prediction, recommendations, sentiment analysis, performance analytics, and chatbot support were added to make the platform smarter and more useful.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91878" y="2349912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7"/>
                </a:lnTo>
                <a:lnTo>
                  <a:pt x="0" y="7815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63585" y="2834246"/>
            <a:ext cx="5779094" cy="4825543"/>
          </a:xfrm>
          <a:custGeom>
            <a:avLst/>
            <a:gdLst/>
            <a:ahLst/>
            <a:cxnLst/>
            <a:rect r="r" b="b" t="t" l="l"/>
            <a:pathLst>
              <a:path h="4825543" w="5779094">
                <a:moveTo>
                  <a:pt x="0" y="0"/>
                </a:moveTo>
                <a:lnTo>
                  <a:pt x="5779094" y="0"/>
                </a:lnTo>
                <a:lnTo>
                  <a:pt x="5779094" y="4825543"/>
                </a:lnTo>
                <a:lnTo>
                  <a:pt x="0" y="4825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91878" y="231488"/>
            <a:ext cx="960849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34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8344" y="2231442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230" y="-2914734"/>
            <a:ext cx="7886867" cy="7886867"/>
          </a:xfrm>
          <a:custGeom>
            <a:avLst/>
            <a:gdLst/>
            <a:ahLst/>
            <a:cxnLst/>
            <a:rect r="r" b="b" t="t" l="l"/>
            <a:pathLst>
              <a:path h="7886867" w="7886867">
                <a:moveTo>
                  <a:pt x="0" y="0"/>
                </a:moveTo>
                <a:lnTo>
                  <a:pt x="7886868" y="0"/>
                </a:lnTo>
                <a:lnTo>
                  <a:pt x="7886868" y="7886868"/>
                </a:lnTo>
                <a:lnTo>
                  <a:pt x="0" y="78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19473" y="1407409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-67722">
            <a:off x="12158566" y="971598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6840" y="2414885"/>
            <a:ext cx="8861631" cy="7735602"/>
            <a:chOff x="0" y="0"/>
            <a:chExt cx="2333928" cy="2037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928" cy="2037360"/>
            </a:xfrm>
            <a:custGeom>
              <a:avLst/>
              <a:gdLst/>
              <a:ahLst/>
              <a:cxnLst/>
              <a:rect r="r" b="b" t="t" l="l"/>
              <a:pathLst>
                <a:path h="2037360" w="2333928">
                  <a:moveTo>
                    <a:pt x="44556" y="0"/>
                  </a:moveTo>
                  <a:lnTo>
                    <a:pt x="2289372" y="0"/>
                  </a:lnTo>
                  <a:cubicBezTo>
                    <a:pt x="2313979" y="0"/>
                    <a:pt x="2333928" y="19948"/>
                    <a:pt x="2333928" y="44556"/>
                  </a:cubicBezTo>
                  <a:lnTo>
                    <a:pt x="2333928" y="1992804"/>
                  </a:lnTo>
                  <a:cubicBezTo>
                    <a:pt x="2333928" y="2004621"/>
                    <a:pt x="2329233" y="2015954"/>
                    <a:pt x="2320877" y="2024310"/>
                  </a:cubicBezTo>
                  <a:cubicBezTo>
                    <a:pt x="2312521" y="2032666"/>
                    <a:pt x="2301189" y="2037360"/>
                    <a:pt x="2289372" y="2037360"/>
                  </a:cubicBezTo>
                  <a:lnTo>
                    <a:pt x="44556" y="2037360"/>
                  </a:lnTo>
                  <a:cubicBezTo>
                    <a:pt x="19948" y="2037360"/>
                    <a:pt x="0" y="2017412"/>
                    <a:pt x="0" y="1992804"/>
                  </a:cubicBezTo>
                  <a:lnTo>
                    <a:pt x="0" y="44556"/>
                  </a:lnTo>
                  <a:cubicBezTo>
                    <a:pt x="0" y="19948"/>
                    <a:pt x="19948" y="0"/>
                    <a:pt x="44556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33928" cy="2084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95281" y="3398055"/>
            <a:ext cx="8551734" cy="4812002"/>
            <a:chOff x="0" y="0"/>
            <a:chExt cx="1290972" cy="726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0972" cy="726421"/>
            </a:xfrm>
            <a:custGeom>
              <a:avLst/>
              <a:gdLst/>
              <a:ahLst/>
              <a:cxnLst/>
              <a:rect r="r" b="b" t="t" l="l"/>
              <a:pathLst>
                <a:path h="726421" w="1290972">
                  <a:moveTo>
                    <a:pt x="0" y="0"/>
                  </a:moveTo>
                  <a:lnTo>
                    <a:pt x="1290972" y="0"/>
                  </a:lnTo>
                  <a:lnTo>
                    <a:pt x="1290972" y="726421"/>
                  </a:lnTo>
                  <a:lnTo>
                    <a:pt x="0" y="726421"/>
                  </a:lnTo>
                  <a:close/>
                </a:path>
              </a:pathLst>
            </a:custGeom>
            <a:blipFill>
              <a:blip r:embed="rId6"/>
              <a:stretch>
                <a:fillRect l="-1564" t="0" r="-1564" b="0"/>
              </a:stretch>
            </a:blipFill>
            <a:ln w="47625" cap="sq">
              <a:solidFill>
                <a:srgbClr val="34C473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true" rot="-10800000">
            <a:off x="16455665" y="103693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3027307">
            <a:off x="16362230" y="9513332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684521">
            <a:off x="-1278293" y="-118841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452" y="2606984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6" y="0"/>
                </a:lnTo>
                <a:lnTo>
                  <a:pt x="781546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768529">
            <a:off x="8330448" y="1953485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19473" y="409169"/>
            <a:ext cx="10598192" cy="86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8"/>
              </a:lnSpc>
            </a:pPr>
            <a:r>
              <a:rPr lang="en-US" sz="5488" spc="109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User Authentication 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946" y="3655230"/>
            <a:ext cx="8325383" cy="621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303" indent="-293151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Auth &amp; Profile: User registers/logs in using JWT authentication → Dashboard loads.</a:t>
            </a:r>
          </a:p>
          <a:p>
            <a:pPr algn="l">
              <a:lnSpc>
                <a:spcPts val="3801"/>
              </a:lnSpc>
            </a:pPr>
          </a:p>
          <a:p>
            <a:pPr algn="l" marL="586303" indent="-293151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Data Input: User logs daily habits, sleep, exercise, and mental health feedback. </a:t>
            </a:r>
          </a:p>
          <a:p>
            <a:pPr algn="l">
              <a:lnSpc>
                <a:spcPts val="3801"/>
              </a:lnSpc>
            </a:pPr>
          </a:p>
          <a:p>
            <a:pPr algn="l" marL="586303" indent="-293151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Interaction: User requests personalized meal/fitness plans or chats with the InfyWell AI Assistant.</a:t>
            </a:r>
          </a:p>
          <a:p>
            <a:pPr algn="l">
              <a:lnSpc>
                <a:spcPts val="3801"/>
              </a:lnSpc>
            </a:pPr>
          </a:p>
          <a:p>
            <a:pPr algn="l" marL="586303" indent="-293151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Action &amp; Emergency: User books checkup appointments or triggers an Emergency SOS alert.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3026" y="2640569"/>
            <a:ext cx="35580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231F20"/>
                </a:solidFill>
                <a:latin typeface="Agrandir Bold"/>
                <a:ea typeface="Agrandir Bold"/>
                <a:cs typeface="Agrandir Bold"/>
                <a:sym typeface="Agrandir Bold"/>
              </a:rPr>
              <a:t>Employee Journey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8344" y="2231442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230" y="-2914734"/>
            <a:ext cx="7886867" cy="7886867"/>
          </a:xfrm>
          <a:custGeom>
            <a:avLst/>
            <a:gdLst/>
            <a:ahLst/>
            <a:cxnLst/>
            <a:rect r="r" b="b" t="t" l="l"/>
            <a:pathLst>
              <a:path h="7886867" w="7886867">
                <a:moveTo>
                  <a:pt x="0" y="0"/>
                </a:moveTo>
                <a:lnTo>
                  <a:pt x="7886868" y="0"/>
                </a:lnTo>
                <a:lnTo>
                  <a:pt x="7886868" y="7886868"/>
                </a:lnTo>
                <a:lnTo>
                  <a:pt x="0" y="78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19473" y="1416934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-67722">
            <a:off x="12158566" y="971598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6840" y="2414885"/>
            <a:ext cx="8861631" cy="7735602"/>
            <a:chOff x="0" y="0"/>
            <a:chExt cx="2333928" cy="2037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928" cy="2037360"/>
            </a:xfrm>
            <a:custGeom>
              <a:avLst/>
              <a:gdLst/>
              <a:ahLst/>
              <a:cxnLst/>
              <a:rect r="r" b="b" t="t" l="l"/>
              <a:pathLst>
                <a:path h="2037360" w="2333928">
                  <a:moveTo>
                    <a:pt x="44556" y="0"/>
                  </a:moveTo>
                  <a:lnTo>
                    <a:pt x="2289372" y="0"/>
                  </a:lnTo>
                  <a:cubicBezTo>
                    <a:pt x="2313979" y="0"/>
                    <a:pt x="2333928" y="19948"/>
                    <a:pt x="2333928" y="44556"/>
                  </a:cubicBezTo>
                  <a:lnTo>
                    <a:pt x="2333928" y="1992804"/>
                  </a:lnTo>
                  <a:cubicBezTo>
                    <a:pt x="2333928" y="2004621"/>
                    <a:pt x="2329233" y="2015954"/>
                    <a:pt x="2320877" y="2024310"/>
                  </a:cubicBezTo>
                  <a:cubicBezTo>
                    <a:pt x="2312521" y="2032666"/>
                    <a:pt x="2301189" y="2037360"/>
                    <a:pt x="2289372" y="2037360"/>
                  </a:cubicBezTo>
                  <a:lnTo>
                    <a:pt x="44556" y="2037360"/>
                  </a:lnTo>
                  <a:cubicBezTo>
                    <a:pt x="19948" y="2037360"/>
                    <a:pt x="0" y="2017412"/>
                    <a:pt x="0" y="1992804"/>
                  </a:cubicBezTo>
                  <a:lnTo>
                    <a:pt x="0" y="44556"/>
                  </a:lnTo>
                  <a:cubicBezTo>
                    <a:pt x="0" y="19948"/>
                    <a:pt x="19948" y="0"/>
                    <a:pt x="44556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33928" cy="2084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95281" y="3398055"/>
            <a:ext cx="8792719" cy="4947602"/>
            <a:chOff x="0" y="0"/>
            <a:chExt cx="1290972" cy="726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0972" cy="726421"/>
            </a:xfrm>
            <a:custGeom>
              <a:avLst/>
              <a:gdLst/>
              <a:ahLst/>
              <a:cxnLst/>
              <a:rect r="r" b="b" t="t" l="l"/>
              <a:pathLst>
                <a:path h="726421" w="1290972">
                  <a:moveTo>
                    <a:pt x="0" y="0"/>
                  </a:moveTo>
                  <a:lnTo>
                    <a:pt x="1290972" y="0"/>
                  </a:lnTo>
                  <a:lnTo>
                    <a:pt x="1290972" y="726421"/>
                  </a:lnTo>
                  <a:lnTo>
                    <a:pt x="0" y="726421"/>
                  </a:lnTo>
                  <a:close/>
                </a:path>
              </a:pathLst>
            </a:custGeom>
            <a:blipFill>
              <a:blip r:embed="rId6"/>
              <a:stretch>
                <a:fillRect l="-1564" t="0" r="-1564" b="0"/>
              </a:stretch>
            </a:blipFill>
            <a:ln w="47625" cap="sq">
              <a:solidFill>
                <a:srgbClr val="34C473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true" rot="-10800000">
            <a:off x="16455665" y="103693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3027307">
            <a:off x="16362230" y="9513332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684521">
            <a:off x="-1278293" y="-118841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452" y="2606984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6" y="0"/>
                </a:lnTo>
                <a:lnTo>
                  <a:pt x="781546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768529">
            <a:off x="8330448" y="1953485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19473" y="418694"/>
            <a:ext cx="5309015" cy="87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8"/>
              </a:lnSpc>
            </a:pPr>
            <a:r>
              <a:rPr lang="en-US" sz="5688" spc="113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Admin </a:t>
            </a:r>
            <a:r>
              <a:rPr lang="en-US" sz="5688" spc="113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2204" y="3350430"/>
            <a:ext cx="7597294" cy="654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5028" indent="-267514" lvl="1">
              <a:lnSpc>
                <a:spcPts val="3469"/>
              </a:lnSpc>
              <a:buFont typeface="Arial"/>
              <a:buChar char="•"/>
            </a:pPr>
            <a:r>
              <a:rPr lang="en-US" sz="2478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Dashboard </a:t>
            </a:r>
            <a:r>
              <a:rPr lang="en-US" sz="2478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Access: Admin authenticates → Views organization-wide health records and department filters. </a:t>
            </a:r>
          </a:p>
          <a:p>
            <a:pPr algn="l">
              <a:lnSpc>
                <a:spcPts val="3469"/>
              </a:lnSpc>
            </a:pPr>
          </a:p>
          <a:p>
            <a:pPr algn="l" marL="535028" indent="-267514" lvl="1">
              <a:lnSpc>
                <a:spcPts val="3469"/>
              </a:lnSpc>
              <a:buFont typeface="Arial"/>
              <a:buChar char="•"/>
            </a:pPr>
            <a:r>
              <a:rPr lang="en-US" sz="2478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Analytics Monitoring: Admin monitors burnout risk trends, absenteeism rates (3.6%), and overall workforce risk metrics. </a:t>
            </a:r>
          </a:p>
          <a:p>
            <a:pPr algn="l">
              <a:lnSpc>
                <a:spcPts val="3469"/>
              </a:lnSpc>
            </a:pPr>
          </a:p>
          <a:p>
            <a:pPr algn="l" marL="535028" indent="-267514" lvl="1">
              <a:lnSpc>
                <a:spcPts val="3469"/>
              </a:lnSpc>
              <a:buFont typeface="Arial"/>
              <a:buChar char="•"/>
            </a:pPr>
            <a:r>
              <a:rPr lang="en-US" sz="2478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Sys</a:t>
            </a:r>
            <a:r>
              <a:rPr lang="en-US" sz="2478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tem Management: Admin adjusts risk thresholds (e.g., High Risk = 70), configures privacy settings, manages insurance claims, and sends broadcast notifications.</a:t>
            </a:r>
          </a:p>
          <a:p>
            <a:pPr algn="l">
              <a:lnSpc>
                <a:spcPts val="3469"/>
              </a:lnSpc>
            </a:pPr>
          </a:p>
          <a:p>
            <a:pPr algn="l" marL="535028" indent="-267514" lvl="1">
              <a:lnSpc>
                <a:spcPts val="3469"/>
              </a:lnSpc>
              <a:buFont typeface="Arial"/>
              <a:buChar char="•"/>
            </a:pPr>
            <a:r>
              <a:rPr lang="en-US" sz="2478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Emergency Handling: Admin receives real-time SOS alerts and health checkup logs.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3026" y="2640569"/>
            <a:ext cx="561992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231F20"/>
                </a:solidFill>
                <a:latin typeface="Agrandir Bold"/>
                <a:ea typeface="Agrandir Bold"/>
                <a:cs typeface="Agrandir Bold"/>
                <a:sym typeface="Agrandir Bold"/>
              </a:rPr>
              <a:t>HR/Management Overview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8344" y="2231442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230" y="-2914734"/>
            <a:ext cx="7886867" cy="7886867"/>
          </a:xfrm>
          <a:custGeom>
            <a:avLst/>
            <a:gdLst/>
            <a:ahLst/>
            <a:cxnLst/>
            <a:rect r="r" b="b" t="t" l="l"/>
            <a:pathLst>
              <a:path h="7886867" w="7886867">
                <a:moveTo>
                  <a:pt x="0" y="0"/>
                </a:moveTo>
                <a:lnTo>
                  <a:pt x="7886868" y="0"/>
                </a:lnTo>
                <a:lnTo>
                  <a:pt x="7886868" y="7886868"/>
                </a:lnTo>
                <a:lnTo>
                  <a:pt x="0" y="78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19473" y="1407409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-67722">
            <a:off x="12158566" y="971598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575" y="2107617"/>
            <a:ext cx="8861631" cy="8055558"/>
            <a:chOff x="0" y="0"/>
            <a:chExt cx="2333928" cy="21216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928" cy="2121628"/>
            </a:xfrm>
            <a:custGeom>
              <a:avLst/>
              <a:gdLst/>
              <a:ahLst/>
              <a:cxnLst/>
              <a:rect r="r" b="b" t="t" l="l"/>
              <a:pathLst>
                <a:path h="2121628" w="2333928">
                  <a:moveTo>
                    <a:pt x="44556" y="0"/>
                  </a:moveTo>
                  <a:lnTo>
                    <a:pt x="2289372" y="0"/>
                  </a:lnTo>
                  <a:cubicBezTo>
                    <a:pt x="2313979" y="0"/>
                    <a:pt x="2333928" y="19948"/>
                    <a:pt x="2333928" y="44556"/>
                  </a:cubicBezTo>
                  <a:lnTo>
                    <a:pt x="2333928" y="2077073"/>
                  </a:lnTo>
                  <a:cubicBezTo>
                    <a:pt x="2333928" y="2088890"/>
                    <a:pt x="2329233" y="2100222"/>
                    <a:pt x="2320877" y="2108578"/>
                  </a:cubicBezTo>
                  <a:cubicBezTo>
                    <a:pt x="2312521" y="2116934"/>
                    <a:pt x="2301189" y="2121628"/>
                    <a:pt x="2289372" y="2121628"/>
                  </a:cubicBezTo>
                  <a:lnTo>
                    <a:pt x="44556" y="2121628"/>
                  </a:lnTo>
                  <a:cubicBezTo>
                    <a:pt x="19948" y="2121628"/>
                    <a:pt x="0" y="2101680"/>
                    <a:pt x="0" y="2077073"/>
                  </a:cubicBezTo>
                  <a:lnTo>
                    <a:pt x="0" y="44556"/>
                  </a:lnTo>
                  <a:cubicBezTo>
                    <a:pt x="0" y="19948"/>
                    <a:pt x="19948" y="0"/>
                    <a:pt x="44556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33928" cy="2169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3388530"/>
            <a:ext cx="9093730" cy="4934984"/>
            <a:chOff x="0" y="0"/>
            <a:chExt cx="1290972" cy="7005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0972" cy="700584"/>
            </a:xfrm>
            <a:custGeom>
              <a:avLst/>
              <a:gdLst/>
              <a:ahLst/>
              <a:cxnLst/>
              <a:rect r="r" b="b" t="t" l="l"/>
              <a:pathLst>
                <a:path h="700584" w="1290972">
                  <a:moveTo>
                    <a:pt x="0" y="0"/>
                  </a:moveTo>
                  <a:lnTo>
                    <a:pt x="1290972" y="0"/>
                  </a:lnTo>
                  <a:lnTo>
                    <a:pt x="1290972" y="700584"/>
                  </a:lnTo>
                  <a:lnTo>
                    <a:pt x="0" y="700584"/>
                  </a:lnTo>
                  <a:close/>
                </a:path>
              </a:pathLst>
            </a:custGeom>
            <a:blipFill>
              <a:blip r:embed="rId6"/>
              <a:stretch>
                <a:fillRect l="0" t="-271" r="0" b="-271"/>
              </a:stretch>
            </a:blipFill>
            <a:ln w="47625" cap="sq">
              <a:solidFill>
                <a:srgbClr val="34C473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true" rot="-10800000">
            <a:off x="16455665" y="103693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3027307">
            <a:off x="16362230" y="9513332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684521">
            <a:off x="-1278293" y="-118841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6656" y="2311213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6" y="0"/>
                </a:lnTo>
                <a:lnTo>
                  <a:pt x="781546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768529">
            <a:off x="8026988" y="1777024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19473" y="409169"/>
            <a:ext cx="10598192" cy="86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8"/>
              </a:lnSpc>
            </a:pPr>
            <a:r>
              <a:rPr lang="en-US" sz="5488" spc="109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AI Chat Interaction </a:t>
            </a:r>
            <a:r>
              <a:rPr lang="en-US" sz="5488" spc="109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2422" y="2978459"/>
            <a:ext cx="8554132" cy="70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339" indent="-285169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Data Ing</a:t>
            </a: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estion: Collects raw health metrics, BMI, blood pressure, and text feedback from MongoDB. </a:t>
            </a:r>
          </a:p>
          <a:p>
            <a:pPr algn="l" marL="570339" indent="-285169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Inference Pipeline:</a:t>
            </a:r>
          </a:p>
          <a:p>
            <a:pPr algn="l" marL="591928" indent="-295964" lvl="1">
              <a:lnSpc>
                <a:spcPts val="3838"/>
              </a:lnSpc>
              <a:buFont typeface="Arial"/>
              <a:buChar char="•"/>
            </a:pPr>
            <a:r>
              <a:rPr lang="en-US" sz="27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ML Models (Random Forest/Decision Tree): Calculates risk severity scores (&lt;45% Low, 45-60% Moderate, &gt;75% High). </a:t>
            </a:r>
          </a:p>
          <a:p>
            <a:pPr algn="l" marL="570339" indent="-285169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NLP Engine: Performs </a:t>
            </a: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entiment and emotion analysis on employee feedback/logs. </a:t>
            </a:r>
          </a:p>
          <a:p>
            <a:pPr algn="l" marL="570339" indent="-285169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Ollama LLM Service: Ingests health context and user prompts to generate personalized daily tips, diets, and conversational advice. </a:t>
            </a:r>
          </a:p>
          <a:p>
            <a:pPr algn="l" marL="570339" indent="-285169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Output D</a:t>
            </a:r>
            <a:r>
              <a:rPr lang="en-US" sz="2641">
                <a:solidFill>
                  <a:srgbClr val="231F20"/>
                </a:solidFill>
                <a:latin typeface="Canva Sans"/>
                <a:ea typeface="Canva Sans"/>
                <a:cs typeface="Canva Sans"/>
                <a:sym typeface="Canva Sans"/>
              </a:rPr>
              <a:t>elivery: Renders predicted risks and recommendations back to React Frontend dashboards in real time.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5225" y="2359334"/>
            <a:ext cx="5619923" cy="6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231F2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Processing Engine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6379" y="53335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5107" y="2174043"/>
            <a:ext cx="10899006" cy="7668473"/>
            <a:chOff x="0" y="0"/>
            <a:chExt cx="2705336" cy="1903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5336" cy="1903458"/>
            </a:xfrm>
            <a:custGeom>
              <a:avLst/>
              <a:gdLst/>
              <a:ahLst/>
              <a:cxnLst/>
              <a:rect r="r" b="b" t="t" l="l"/>
              <a:pathLst>
                <a:path h="1903458" w="2705336">
                  <a:moveTo>
                    <a:pt x="24862" y="0"/>
                  </a:moveTo>
                  <a:lnTo>
                    <a:pt x="2680475" y="0"/>
                  </a:lnTo>
                  <a:cubicBezTo>
                    <a:pt x="2694206" y="0"/>
                    <a:pt x="2705336" y="11131"/>
                    <a:pt x="2705336" y="24862"/>
                  </a:cubicBezTo>
                  <a:lnTo>
                    <a:pt x="2705336" y="1878596"/>
                  </a:lnTo>
                  <a:cubicBezTo>
                    <a:pt x="2705336" y="1885190"/>
                    <a:pt x="2702717" y="1891514"/>
                    <a:pt x="2698055" y="1896176"/>
                  </a:cubicBezTo>
                  <a:cubicBezTo>
                    <a:pt x="2693392" y="1900838"/>
                    <a:pt x="2687069" y="1903458"/>
                    <a:pt x="2680475" y="1903458"/>
                  </a:cubicBezTo>
                  <a:lnTo>
                    <a:pt x="24862" y="1903458"/>
                  </a:lnTo>
                  <a:cubicBezTo>
                    <a:pt x="11131" y="1903458"/>
                    <a:pt x="0" y="1892327"/>
                    <a:pt x="0" y="1878596"/>
                  </a:cubicBezTo>
                  <a:lnTo>
                    <a:pt x="0" y="24862"/>
                  </a:lnTo>
                  <a:cubicBezTo>
                    <a:pt x="0" y="11131"/>
                    <a:pt x="11131" y="0"/>
                    <a:pt x="24862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5336" cy="1951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37643" y="2404309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772179">
            <a:off x="16364282" y="9563720"/>
            <a:ext cx="2956793" cy="1112829"/>
          </a:xfrm>
          <a:custGeom>
            <a:avLst/>
            <a:gdLst/>
            <a:ahLst/>
            <a:cxnLst/>
            <a:rect r="r" b="b" t="t" l="l"/>
            <a:pathLst>
              <a:path h="1112829" w="2956793">
                <a:moveTo>
                  <a:pt x="0" y="0"/>
                </a:moveTo>
                <a:lnTo>
                  <a:pt x="2956794" y="0"/>
                </a:lnTo>
                <a:lnTo>
                  <a:pt x="2956794" y="1112830"/>
                </a:lnTo>
                <a:lnTo>
                  <a:pt x="0" y="1112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8109752" y="5333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531633" y="1876662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true" rot="10662466">
            <a:off x="12499888" y="9736013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40548" y="3467362"/>
            <a:ext cx="4903971" cy="5081835"/>
          </a:xfrm>
          <a:custGeom>
            <a:avLst/>
            <a:gdLst/>
            <a:ahLst/>
            <a:cxnLst/>
            <a:rect r="r" b="b" t="t" l="l"/>
            <a:pathLst>
              <a:path h="5081835" w="4903971">
                <a:moveTo>
                  <a:pt x="0" y="0"/>
                </a:moveTo>
                <a:lnTo>
                  <a:pt x="4903971" y="0"/>
                </a:lnTo>
                <a:lnTo>
                  <a:pt x="4903971" y="5081835"/>
                </a:lnTo>
                <a:lnTo>
                  <a:pt x="0" y="5081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599459">
            <a:off x="-1796507" y="-51139"/>
            <a:ext cx="3179613" cy="1196691"/>
          </a:xfrm>
          <a:custGeom>
            <a:avLst/>
            <a:gdLst/>
            <a:ahLst/>
            <a:cxnLst/>
            <a:rect r="r" b="b" t="t" l="l"/>
            <a:pathLst>
              <a:path h="1196691" w="3179613">
                <a:moveTo>
                  <a:pt x="0" y="0"/>
                </a:moveTo>
                <a:lnTo>
                  <a:pt x="3179613" y="0"/>
                </a:lnTo>
                <a:lnTo>
                  <a:pt x="3179613" y="1196691"/>
                </a:lnTo>
                <a:lnTo>
                  <a:pt x="0" y="1196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-10800000">
            <a:off x="754099" y="984251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89427" y="311548"/>
            <a:ext cx="2948941" cy="1843088"/>
          </a:xfrm>
          <a:custGeom>
            <a:avLst/>
            <a:gdLst/>
            <a:ahLst/>
            <a:cxnLst/>
            <a:rect r="r" b="b" t="t" l="l"/>
            <a:pathLst>
              <a:path h="1843088" w="2948941">
                <a:moveTo>
                  <a:pt x="0" y="0"/>
                </a:moveTo>
                <a:lnTo>
                  <a:pt x="2948941" y="0"/>
                </a:lnTo>
                <a:lnTo>
                  <a:pt x="2948941" y="1843089"/>
                </a:lnTo>
                <a:lnTo>
                  <a:pt x="0" y="18430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91878" y="515231"/>
            <a:ext cx="10513100" cy="117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6100" spc="122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Software Specification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4793" y="3723027"/>
            <a:ext cx="9851586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Flask API with Python and NodeJs.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Database: MongoDB.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Authentication: JWT and bcrypt for secure login and password handling.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Tools/Libraries: React Router, Flask-CORS, PyMongo, and ML libraries for wellness analytics.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03227" y="2335643"/>
            <a:ext cx="8816266" cy="134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35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Software Requirements to run on local machine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39136" y="-203514"/>
            <a:ext cx="10478271" cy="1047827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8D1D9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56681" y="1028700"/>
            <a:ext cx="7002619" cy="6267344"/>
          </a:xfrm>
          <a:custGeom>
            <a:avLst/>
            <a:gdLst/>
            <a:ahLst/>
            <a:cxnLst/>
            <a:rect r="r" b="b" t="t" l="l"/>
            <a:pathLst>
              <a:path h="6267344" w="7002619">
                <a:moveTo>
                  <a:pt x="0" y="0"/>
                </a:moveTo>
                <a:lnTo>
                  <a:pt x="7002619" y="0"/>
                </a:lnTo>
                <a:lnTo>
                  <a:pt x="7002619" y="6267344"/>
                </a:lnTo>
                <a:lnTo>
                  <a:pt x="0" y="6267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7866318" y="4618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480622" y="971951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45366" y="3991314"/>
            <a:ext cx="2282640" cy="2088615"/>
          </a:xfrm>
          <a:custGeom>
            <a:avLst/>
            <a:gdLst/>
            <a:ahLst/>
            <a:cxnLst/>
            <a:rect r="r" b="b" t="t" l="l"/>
            <a:pathLst>
              <a:path h="2088615" w="2282640">
                <a:moveTo>
                  <a:pt x="0" y="0"/>
                </a:moveTo>
                <a:lnTo>
                  <a:pt x="2282640" y="0"/>
                </a:lnTo>
                <a:lnTo>
                  <a:pt x="2282640" y="2088615"/>
                </a:lnTo>
                <a:lnTo>
                  <a:pt x="0" y="2088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00017" y="7590991"/>
            <a:ext cx="3059283" cy="1667309"/>
          </a:xfrm>
          <a:custGeom>
            <a:avLst/>
            <a:gdLst/>
            <a:ahLst/>
            <a:cxnLst/>
            <a:rect r="r" b="b" t="t" l="l"/>
            <a:pathLst>
              <a:path h="1667309" w="3059283">
                <a:moveTo>
                  <a:pt x="0" y="0"/>
                </a:moveTo>
                <a:lnTo>
                  <a:pt x="3059283" y="0"/>
                </a:lnTo>
                <a:lnTo>
                  <a:pt x="3059283" y="1667309"/>
                </a:lnTo>
                <a:lnTo>
                  <a:pt x="0" y="16673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231340">
            <a:off x="73577" y="8715076"/>
            <a:ext cx="1855492" cy="1605000"/>
          </a:xfrm>
          <a:custGeom>
            <a:avLst/>
            <a:gdLst/>
            <a:ahLst/>
            <a:cxnLst/>
            <a:rect r="r" b="b" t="t" l="l"/>
            <a:pathLst>
              <a:path h="1605000" w="1855492">
                <a:moveTo>
                  <a:pt x="0" y="0"/>
                </a:moveTo>
                <a:lnTo>
                  <a:pt x="1855492" y="0"/>
                </a:lnTo>
                <a:lnTo>
                  <a:pt x="1855492" y="1605000"/>
                </a:lnTo>
                <a:lnTo>
                  <a:pt x="0" y="1605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59285">
            <a:off x="3949221" y="7200900"/>
            <a:ext cx="3950208" cy="4114800"/>
          </a:xfrm>
          <a:custGeom>
            <a:avLst/>
            <a:gdLst/>
            <a:ahLst/>
            <a:cxnLst/>
            <a:rect r="r" b="b" t="t" l="l"/>
            <a:pathLst>
              <a:path h="4114800" w="3950208">
                <a:moveTo>
                  <a:pt x="0" y="0"/>
                </a:moveTo>
                <a:lnTo>
                  <a:pt x="3950208" y="0"/>
                </a:lnTo>
                <a:lnTo>
                  <a:pt x="39502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881" y="2213742"/>
            <a:ext cx="9717609" cy="523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6"/>
              </a:lnSpc>
            </a:pPr>
            <a:r>
              <a:rPr lang="en-US" b="true" sz="9540" spc="190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Core</a:t>
            </a:r>
          </a:p>
          <a:p>
            <a:pPr algn="ctr">
              <a:lnSpc>
                <a:spcPts val="13356"/>
              </a:lnSpc>
            </a:pPr>
          </a:p>
          <a:p>
            <a:pPr algn="ctr">
              <a:lnSpc>
                <a:spcPts val="13356"/>
              </a:lnSpc>
            </a:pPr>
            <a:r>
              <a:rPr lang="en-US" b="true" sz="9540" spc="190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Modules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732826">
            <a:off x="3353215" y="624200"/>
            <a:ext cx="4210636" cy="2589541"/>
          </a:xfrm>
          <a:custGeom>
            <a:avLst/>
            <a:gdLst/>
            <a:ahLst/>
            <a:cxnLst/>
            <a:rect r="r" b="b" t="t" l="l"/>
            <a:pathLst>
              <a:path h="2589541" w="4210636">
                <a:moveTo>
                  <a:pt x="0" y="0"/>
                </a:moveTo>
                <a:lnTo>
                  <a:pt x="4210636" y="0"/>
                </a:lnTo>
                <a:lnTo>
                  <a:pt x="4210636" y="2589541"/>
                </a:lnTo>
                <a:lnTo>
                  <a:pt x="0" y="25895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5035" y="-5609241"/>
            <a:ext cx="13275882" cy="13275882"/>
          </a:xfrm>
          <a:custGeom>
            <a:avLst/>
            <a:gdLst/>
            <a:ahLst/>
            <a:cxnLst/>
            <a:rect r="r" b="b" t="t" l="l"/>
            <a:pathLst>
              <a:path h="13275882" w="13275882">
                <a:moveTo>
                  <a:pt x="0" y="0"/>
                </a:moveTo>
                <a:lnTo>
                  <a:pt x="13275882" y="0"/>
                </a:lnTo>
                <a:lnTo>
                  <a:pt x="13275882" y="13275882"/>
                </a:lnTo>
                <a:lnTo>
                  <a:pt x="0" y="13275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05178" y="232194"/>
            <a:ext cx="9594125" cy="3917235"/>
            <a:chOff x="0" y="0"/>
            <a:chExt cx="2381441" cy="972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1441" cy="972331"/>
            </a:xfrm>
            <a:custGeom>
              <a:avLst/>
              <a:gdLst/>
              <a:ahLst/>
              <a:cxnLst/>
              <a:rect r="r" b="b" t="t" l="l"/>
              <a:pathLst>
                <a:path h="972331" w="2381441">
                  <a:moveTo>
                    <a:pt x="28243" y="0"/>
                  </a:moveTo>
                  <a:lnTo>
                    <a:pt x="2353198" y="0"/>
                  </a:lnTo>
                  <a:cubicBezTo>
                    <a:pt x="2360688" y="0"/>
                    <a:pt x="2367872" y="2976"/>
                    <a:pt x="2373169" y="8272"/>
                  </a:cubicBezTo>
                  <a:cubicBezTo>
                    <a:pt x="2378465" y="13569"/>
                    <a:pt x="2381441" y="20753"/>
                    <a:pt x="2381441" y="28243"/>
                  </a:cubicBezTo>
                  <a:lnTo>
                    <a:pt x="2381441" y="944088"/>
                  </a:lnTo>
                  <a:cubicBezTo>
                    <a:pt x="2381441" y="959686"/>
                    <a:pt x="2368796" y="972331"/>
                    <a:pt x="2353198" y="972331"/>
                  </a:cubicBezTo>
                  <a:lnTo>
                    <a:pt x="28243" y="972331"/>
                  </a:lnTo>
                  <a:cubicBezTo>
                    <a:pt x="20753" y="972331"/>
                    <a:pt x="13569" y="969355"/>
                    <a:pt x="8272" y="964058"/>
                  </a:cubicBezTo>
                  <a:cubicBezTo>
                    <a:pt x="2976" y="958762"/>
                    <a:pt x="0" y="951578"/>
                    <a:pt x="0" y="944088"/>
                  </a:cubicBezTo>
                  <a:lnTo>
                    <a:pt x="0" y="28243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3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81441" cy="1019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558" y="3863113"/>
            <a:ext cx="5300263" cy="6404837"/>
            <a:chOff x="0" y="0"/>
            <a:chExt cx="925195" cy="11180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5195" cy="1118006"/>
            </a:xfrm>
            <a:custGeom>
              <a:avLst/>
              <a:gdLst/>
              <a:ahLst/>
              <a:cxnLst/>
              <a:rect r="r" b="b" t="t" l="l"/>
              <a:pathLst>
                <a:path h="1118006" w="925195">
                  <a:moveTo>
                    <a:pt x="51123" y="0"/>
                  </a:moveTo>
                  <a:lnTo>
                    <a:pt x="874072" y="0"/>
                  </a:lnTo>
                  <a:cubicBezTo>
                    <a:pt x="902306" y="0"/>
                    <a:pt x="925195" y="22889"/>
                    <a:pt x="925195" y="51123"/>
                  </a:cubicBezTo>
                  <a:lnTo>
                    <a:pt x="925195" y="1066882"/>
                  </a:lnTo>
                  <a:cubicBezTo>
                    <a:pt x="925195" y="1095117"/>
                    <a:pt x="902306" y="1118006"/>
                    <a:pt x="874072" y="1118006"/>
                  </a:cubicBezTo>
                  <a:lnTo>
                    <a:pt x="51123" y="1118006"/>
                  </a:lnTo>
                  <a:cubicBezTo>
                    <a:pt x="37565" y="1118006"/>
                    <a:pt x="24561" y="1112619"/>
                    <a:pt x="14974" y="1103032"/>
                  </a:cubicBezTo>
                  <a:cubicBezTo>
                    <a:pt x="5386" y="1093444"/>
                    <a:pt x="0" y="1080441"/>
                    <a:pt x="0" y="1066882"/>
                  </a:cubicBezTo>
                  <a:lnTo>
                    <a:pt x="0" y="51123"/>
                  </a:lnTo>
                  <a:cubicBezTo>
                    <a:pt x="0" y="37565"/>
                    <a:pt x="5386" y="24561"/>
                    <a:pt x="14974" y="14974"/>
                  </a:cubicBezTo>
                  <a:cubicBezTo>
                    <a:pt x="24561" y="5386"/>
                    <a:pt x="37565" y="0"/>
                    <a:pt x="5112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95" r="0" b="-295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2474606">
            <a:off x="-1221736" y="-367855"/>
            <a:ext cx="2758590" cy="1038233"/>
          </a:xfrm>
          <a:custGeom>
            <a:avLst/>
            <a:gdLst/>
            <a:ahLst/>
            <a:cxnLst/>
            <a:rect r="r" b="b" t="t" l="l"/>
            <a:pathLst>
              <a:path h="1038233" w="2758590">
                <a:moveTo>
                  <a:pt x="0" y="1038233"/>
                </a:moveTo>
                <a:lnTo>
                  <a:pt x="2758589" y="1038233"/>
                </a:lnTo>
                <a:lnTo>
                  <a:pt x="2758589" y="0"/>
                </a:lnTo>
                <a:lnTo>
                  <a:pt x="0" y="0"/>
                </a:lnTo>
                <a:lnTo>
                  <a:pt x="0" y="103823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651183" y="3584779"/>
            <a:ext cx="45960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866255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7886606">
            <a:off x="16487583" y="9382258"/>
            <a:ext cx="2023440" cy="699007"/>
          </a:xfrm>
          <a:custGeom>
            <a:avLst/>
            <a:gdLst/>
            <a:ahLst/>
            <a:cxnLst/>
            <a:rect r="r" b="b" t="t" l="l"/>
            <a:pathLst>
              <a:path h="699007" w="2023440">
                <a:moveTo>
                  <a:pt x="0" y="699007"/>
                </a:moveTo>
                <a:lnTo>
                  <a:pt x="2023441" y="699007"/>
                </a:lnTo>
                <a:lnTo>
                  <a:pt x="2023441" y="0"/>
                </a:lnTo>
                <a:lnTo>
                  <a:pt x="0" y="0"/>
                </a:lnTo>
                <a:lnTo>
                  <a:pt x="0" y="69900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937228" y="4250740"/>
            <a:ext cx="5507204" cy="6023271"/>
            <a:chOff x="0" y="0"/>
            <a:chExt cx="921416" cy="10077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1416" cy="1007759"/>
            </a:xfrm>
            <a:custGeom>
              <a:avLst/>
              <a:gdLst/>
              <a:ahLst/>
              <a:cxnLst/>
              <a:rect r="r" b="b" t="t" l="l"/>
              <a:pathLst>
                <a:path h="1007759" w="921416">
                  <a:moveTo>
                    <a:pt x="19681" y="0"/>
                  </a:moveTo>
                  <a:lnTo>
                    <a:pt x="901735" y="0"/>
                  </a:lnTo>
                  <a:cubicBezTo>
                    <a:pt x="912604" y="0"/>
                    <a:pt x="921416" y="8811"/>
                    <a:pt x="921416" y="19681"/>
                  </a:cubicBezTo>
                  <a:lnTo>
                    <a:pt x="921416" y="988078"/>
                  </a:lnTo>
                  <a:cubicBezTo>
                    <a:pt x="921416" y="998948"/>
                    <a:pt x="912604" y="1007759"/>
                    <a:pt x="901735" y="1007759"/>
                  </a:cubicBezTo>
                  <a:lnTo>
                    <a:pt x="19681" y="1007759"/>
                  </a:lnTo>
                  <a:cubicBezTo>
                    <a:pt x="8811" y="1007759"/>
                    <a:pt x="0" y="998948"/>
                    <a:pt x="0" y="988078"/>
                  </a:cubicBezTo>
                  <a:lnTo>
                    <a:pt x="0" y="19681"/>
                  </a:lnTo>
                  <a:cubicBezTo>
                    <a:pt x="0" y="8811"/>
                    <a:pt x="8811" y="0"/>
                    <a:pt x="19681" y="0"/>
                  </a:cubicBezTo>
                  <a:close/>
                </a:path>
              </a:pathLst>
            </a:custGeom>
            <a:blipFill>
              <a:blip r:embed="rId9"/>
              <a:stretch>
                <a:fillRect l="-8197" t="0" r="-8197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032302" y="280283"/>
            <a:ext cx="551308" cy="551308"/>
          </a:xfrm>
          <a:custGeom>
            <a:avLst/>
            <a:gdLst/>
            <a:ahLst/>
            <a:cxnLst/>
            <a:rect r="r" b="b" t="t" l="l"/>
            <a:pathLst>
              <a:path h="551308" w="551308">
                <a:moveTo>
                  <a:pt x="0" y="0"/>
                </a:moveTo>
                <a:lnTo>
                  <a:pt x="551308" y="0"/>
                </a:lnTo>
                <a:lnTo>
                  <a:pt x="551308" y="551309"/>
                </a:lnTo>
                <a:lnTo>
                  <a:pt x="0" y="55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768529">
            <a:off x="16662280" y="-87772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90067" y="5420106"/>
            <a:ext cx="3160834" cy="1770067"/>
          </a:xfrm>
          <a:custGeom>
            <a:avLst/>
            <a:gdLst/>
            <a:ahLst/>
            <a:cxnLst/>
            <a:rect r="r" b="b" t="t" l="l"/>
            <a:pathLst>
              <a:path h="1770067" w="3160834">
                <a:moveTo>
                  <a:pt x="0" y="0"/>
                </a:moveTo>
                <a:lnTo>
                  <a:pt x="3160834" y="0"/>
                </a:lnTo>
                <a:lnTo>
                  <a:pt x="3160834" y="1770067"/>
                </a:lnTo>
                <a:lnTo>
                  <a:pt x="0" y="17700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570835" y="5773805"/>
            <a:ext cx="1824693" cy="2085363"/>
          </a:xfrm>
          <a:custGeom>
            <a:avLst/>
            <a:gdLst/>
            <a:ahLst/>
            <a:cxnLst/>
            <a:rect r="r" b="b" t="t" l="l"/>
            <a:pathLst>
              <a:path h="2085363" w="1824693">
                <a:moveTo>
                  <a:pt x="0" y="0"/>
                </a:moveTo>
                <a:lnTo>
                  <a:pt x="1824693" y="0"/>
                </a:lnTo>
                <a:lnTo>
                  <a:pt x="1824693" y="2085364"/>
                </a:lnTo>
                <a:lnTo>
                  <a:pt x="0" y="20853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984677" y="806481"/>
            <a:ext cx="9467002" cy="33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957" indent="-299479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User l</a:t>
            </a:r>
            <a:r>
              <a:rPr lang="en-US" sz="27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ogin with email and password.</a:t>
            </a:r>
          </a:p>
          <a:p>
            <a:pPr algn="l" marL="598957" indent="-299479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User registration with required fields.</a:t>
            </a:r>
          </a:p>
          <a:p>
            <a:pPr algn="l" marL="598957" indent="-299479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Remember me option in login form.</a:t>
            </a:r>
          </a:p>
          <a:p>
            <a:pPr algn="l" marL="598957" indent="-299479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Forgot password flow with email, OTP, and reset password steps in the frontend prototype.</a:t>
            </a:r>
          </a:p>
          <a:p>
            <a:pPr algn="l" marL="598957" indent="-299479" lvl="1">
              <a:lnSpc>
                <a:spcPts val="3883"/>
              </a:lnSpc>
              <a:buFont typeface="Arial"/>
              <a:buChar char="•"/>
            </a:pPr>
            <a:r>
              <a:rPr lang="en-US" sz="27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Role-based redirect to user or admin dashboard after authentication.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3339" y="-47625"/>
            <a:ext cx="6939414" cy="351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Login </a:t>
            </a:r>
          </a:p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&amp; </a:t>
            </a:r>
          </a:p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SignUp</a:t>
            </a:r>
          </a:p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Module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1978" y="226183"/>
            <a:ext cx="497233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SignUp and SignIn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93534">
            <a:off x="-370008" y="3818398"/>
            <a:ext cx="1972648" cy="681460"/>
          </a:xfrm>
          <a:custGeom>
            <a:avLst/>
            <a:gdLst/>
            <a:ahLst/>
            <a:cxnLst/>
            <a:rect r="r" b="b" t="t" l="l"/>
            <a:pathLst>
              <a:path h="681460" w="1972648">
                <a:moveTo>
                  <a:pt x="0" y="0"/>
                </a:moveTo>
                <a:lnTo>
                  <a:pt x="1972648" y="0"/>
                </a:lnTo>
                <a:lnTo>
                  <a:pt x="1972648" y="681461"/>
                </a:lnTo>
                <a:lnTo>
                  <a:pt x="0" y="681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47614" y="-2545020"/>
            <a:ext cx="12832020" cy="12832020"/>
          </a:xfrm>
          <a:custGeom>
            <a:avLst/>
            <a:gdLst/>
            <a:ahLst/>
            <a:cxnLst/>
            <a:rect r="r" b="b" t="t" l="l"/>
            <a:pathLst>
              <a:path h="12832020" w="12832020">
                <a:moveTo>
                  <a:pt x="0" y="0"/>
                </a:moveTo>
                <a:lnTo>
                  <a:pt x="12832020" y="0"/>
                </a:lnTo>
                <a:lnTo>
                  <a:pt x="12832020" y="12832020"/>
                </a:lnTo>
                <a:lnTo>
                  <a:pt x="0" y="12832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9151" y="3358877"/>
            <a:ext cx="7719816" cy="5208540"/>
            <a:chOff x="0" y="0"/>
            <a:chExt cx="1916202" cy="1292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6202" cy="1292857"/>
            </a:xfrm>
            <a:custGeom>
              <a:avLst/>
              <a:gdLst/>
              <a:ahLst/>
              <a:cxnLst/>
              <a:rect r="r" b="b" t="t" l="l"/>
              <a:pathLst>
                <a:path h="1292857" w="1916202">
                  <a:moveTo>
                    <a:pt x="35100" y="0"/>
                  </a:moveTo>
                  <a:lnTo>
                    <a:pt x="1881102" y="0"/>
                  </a:lnTo>
                  <a:cubicBezTo>
                    <a:pt x="1890411" y="0"/>
                    <a:pt x="1899339" y="3698"/>
                    <a:pt x="1905922" y="10281"/>
                  </a:cubicBezTo>
                  <a:cubicBezTo>
                    <a:pt x="1912504" y="16863"/>
                    <a:pt x="1916202" y="25791"/>
                    <a:pt x="1916202" y="35100"/>
                  </a:cubicBezTo>
                  <a:lnTo>
                    <a:pt x="1916202" y="1257756"/>
                  </a:lnTo>
                  <a:cubicBezTo>
                    <a:pt x="1916202" y="1277142"/>
                    <a:pt x="1900487" y="1292857"/>
                    <a:pt x="1881102" y="1292857"/>
                  </a:cubicBezTo>
                  <a:lnTo>
                    <a:pt x="35100" y="1292857"/>
                  </a:lnTo>
                  <a:cubicBezTo>
                    <a:pt x="25791" y="1292857"/>
                    <a:pt x="16863" y="1289159"/>
                    <a:pt x="10281" y="1282576"/>
                  </a:cubicBezTo>
                  <a:cubicBezTo>
                    <a:pt x="3698" y="1275993"/>
                    <a:pt x="0" y="1267065"/>
                    <a:pt x="0" y="1257756"/>
                  </a:cubicBezTo>
                  <a:lnTo>
                    <a:pt x="0" y="35100"/>
                  </a:lnTo>
                  <a:cubicBezTo>
                    <a:pt x="0" y="25791"/>
                    <a:pt x="3698" y="16863"/>
                    <a:pt x="10281" y="10281"/>
                  </a:cubicBezTo>
                  <a:cubicBezTo>
                    <a:pt x="16863" y="3698"/>
                    <a:pt x="25791" y="0"/>
                    <a:pt x="35100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16202" cy="1340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503861">
            <a:off x="17099277" y="110657"/>
            <a:ext cx="1770457" cy="666336"/>
          </a:xfrm>
          <a:custGeom>
            <a:avLst/>
            <a:gdLst/>
            <a:ahLst/>
            <a:cxnLst/>
            <a:rect r="r" b="b" t="t" l="l"/>
            <a:pathLst>
              <a:path h="666336" w="1770457">
                <a:moveTo>
                  <a:pt x="0" y="0"/>
                </a:moveTo>
                <a:lnTo>
                  <a:pt x="1770458" y="0"/>
                </a:lnTo>
                <a:lnTo>
                  <a:pt x="1770458" y="666335"/>
                </a:lnTo>
                <a:lnTo>
                  <a:pt x="0" y="666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2954545" y="1507917"/>
            <a:ext cx="383228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true" rot="2700000">
            <a:off x="-472256" y="9355710"/>
            <a:ext cx="2177142" cy="752104"/>
          </a:xfrm>
          <a:custGeom>
            <a:avLst/>
            <a:gdLst/>
            <a:ahLst/>
            <a:cxnLst/>
            <a:rect r="r" b="b" t="t" l="l"/>
            <a:pathLst>
              <a:path h="752104" w="2177142">
                <a:moveTo>
                  <a:pt x="0" y="752103"/>
                </a:moveTo>
                <a:lnTo>
                  <a:pt x="2177143" y="752103"/>
                </a:lnTo>
                <a:lnTo>
                  <a:pt x="2177143" y="0"/>
                </a:lnTo>
                <a:lnTo>
                  <a:pt x="0" y="0"/>
                </a:lnTo>
                <a:lnTo>
                  <a:pt x="0" y="7521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32720" y="9611787"/>
            <a:ext cx="1954565" cy="675213"/>
          </a:xfrm>
          <a:custGeom>
            <a:avLst/>
            <a:gdLst/>
            <a:ahLst/>
            <a:cxnLst/>
            <a:rect r="r" b="b" t="t" l="l"/>
            <a:pathLst>
              <a:path h="675213" w="1954565">
                <a:moveTo>
                  <a:pt x="0" y="0"/>
                </a:moveTo>
                <a:lnTo>
                  <a:pt x="1954565" y="0"/>
                </a:lnTo>
                <a:lnTo>
                  <a:pt x="1954565" y="675213"/>
                </a:lnTo>
                <a:lnTo>
                  <a:pt x="0" y="675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478444" y="3924349"/>
            <a:ext cx="9808841" cy="4866775"/>
            <a:chOff x="0" y="0"/>
            <a:chExt cx="1131882" cy="5615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1882" cy="561597"/>
            </a:xfrm>
            <a:custGeom>
              <a:avLst/>
              <a:gdLst/>
              <a:ahLst/>
              <a:cxnLst/>
              <a:rect r="r" b="b" t="t" l="l"/>
              <a:pathLst>
                <a:path h="561597" w="1131882">
                  <a:moveTo>
                    <a:pt x="11050" y="0"/>
                  </a:moveTo>
                  <a:lnTo>
                    <a:pt x="1120832" y="0"/>
                  </a:lnTo>
                  <a:cubicBezTo>
                    <a:pt x="1126935" y="0"/>
                    <a:pt x="1131882" y="4947"/>
                    <a:pt x="1131882" y="11050"/>
                  </a:cubicBezTo>
                  <a:lnTo>
                    <a:pt x="1131882" y="550547"/>
                  </a:lnTo>
                  <a:cubicBezTo>
                    <a:pt x="1131882" y="556650"/>
                    <a:pt x="1126935" y="561597"/>
                    <a:pt x="1120832" y="561597"/>
                  </a:cubicBezTo>
                  <a:lnTo>
                    <a:pt x="11050" y="561597"/>
                  </a:lnTo>
                  <a:cubicBezTo>
                    <a:pt x="4947" y="561597"/>
                    <a:pt x="0" y="556650"/>
                    <a:pt x="0" y="550547"/>
                  </a:cubicBezTo>
                  <a:lnTo>
                    <a:pt x="0" y="11050"/>
                  </a:lnTo>
                  <a:cubicBezTo>
                    <a:pt x="0" y="4947"/>
                    <a:pt x="4947" y="0"/>
                    <a:pt x="1105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4932" r="0" b="-493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837249" y="0"/>
            <a:ext cx="932008" cy="1982995"/>
          </a:xfrm>
          <a:custGeom>
            <a:avLst/>
            <a:gdLst/>
            <a:ahLst/>
            <a:cxnLst/>
            <a:rect r="r" b="b" t="t" l="l"/>
            <a:pathLst>
              <a:path h="1982995" w="932008">
                <a:moveTo>
                  <a:pt x="0" y="0"/>
                </a:moveTo>
                <a:lnTo>
                  <a:pt x="932008" y="0"/>
                </a:lnTo>
                <a:lnTo>
                  <a:pt x="932008" y="1982995"/>
                </a:lnTo>
                <a:lnTo>
                  <a:pt x="0" y="19829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6316" y="3563964"/>
            <a:ext cx="614051" cy="614051"/>
          </a:xfrm>
          <a:custGeom>
            <a:avLst/>
            <a:gdLst/>
            <a:ahLst/>
            <a:cxnLst/>
            <a:rect r="r" b="b" t="t" l="l"/>
            <a:pathLst>
              <a:path h="614051" w="614051">
                <a:moveTo>
                  <a:pt x="0" y="0"/>
                </a:moveTo>
                <a:lnTo>
                  <a:pt x="614050" y="0"/>
                </a:lnTo>
                <a:lnTo>
                  <a:pt x="614050" y="614051"/>
                </a:lnTo>
                <a:lnTo>
                  <a:pt x="0" y="6140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15643" y="383018"/>
            <a:ext cx="2958640" cy="3269216"/>
          </a:xfrm>
          <a:custGeom>
            <a:avLst/>
            <a:gdLst/>
            <a:ahLst/>
            <a:cxnLst/>
            <a:rect r="r" b="b" t="t" l="l"/>
            <a:pathLst>
              <a:path h="3269216" w="2958640">
                <a:moveTo>
                  <a:pt x="0" y="0"/>
                </a:moveTo>
                <a:lnTo>
                  <a:pt x="2958640" y="0"/>
                </a:lnTo>
                <a:lnTo>
                  <a:pt x="2958640" y="3269216"/>
                </a:lnTo>
                <a:lnTo>
                  <a:pt x="0" y="32692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96399" y="3518884"/>
            <a:ext cx="601057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Database Management of the Employee Data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340700">
            <a:off x="7162680" y="2967880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5" y="0"/>
                </a:lnTo>
                <a:lnTo>
                  <a:pt x="1339515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54545" y="434300"/>
            <a:ext cx="4707986" cy="8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500" spc="198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Database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151" y="5027052"/>
            <a:ext cx="7719816" cy="288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  <a:spcBef>
                <a:spcPct val="0"/>
              </a:spcBef>
            </a:pPr>
            <a:r>
              <a:rPr lang="en-US" sz="3774" spc="-207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backend connects to MongoDB using PyMongo.</a:t>
            </a:r>
          </a:p>
          <a:p>
            <a:pPr algn="l">
              <a:lnSpc>
                <a:spcPts val="3774"/>
              </a:lnSpc>
              <a:spcBef>
                <a:spcPct val="0"/>
              </a:spcBef>
            </a:pPr>
          </a:p>
          <a:p>
            <a:pPr algn="l">
              <a:lnSpc>
                <a:spcPts val="3774"/>
              </a:lnSpc>
              <a:spcBef>
                <a:spcPct val="0"/>
              </a:spcBef>
            </a:pPr>
            <a:r>
              <a:rPr lang="en-US" sz="3774" spc="-207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User-related data is stored in collections including admin and employees in JSON - like format.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1876155">
            <a:off x="-162840" y="230000"/>
            <a:ext cx="1770457" cy="666336"/>
          </a:xfrm>
          <a:custGeom>
            <a:avLst/>
            <a:gdLst/>
            <a:ahLst/>
            <a:cxnLst/>
            <a:rect r="r" b="b" t="t" l="l"/>
            <a:pathLst>
              <a:path h="666336" w="1770457">
                <a:moveTo>
                  <a:pt x="0" y="0"/>
                </a:moveTo>
                <a:lnTo>
                  <a:pt x="1770457" y="0"/>
                </a:lnTo>
                <a:lnTo>
                  <a:pt x="1770457" y="666335"/>
                </a:lnTo>
                <a:lnTo>
                  <a:pt x="0" y="666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5503" y="-6480595"/>
            <a:ext cx="16767595" cy="16767595"/>
          </a:xfrm>
          <a:custGeom>
            <a:avLst/>
            <a:gdLst/>
            <a:ahLst/>
            <a:cxnLst/>
            <a:rect r="r" b="b" t="t" l="l"/>
            <a:pathLst>
              <a:path h="16767595" w="16767595">
                <a:moveTo>
                  <a:pt x="0" y="0"/>
                </a:moveTo>
                <a:lnTo>
                  <a:pt x="16767594" y="0"/>
                </a:lnTo>
                <a:lnTo>
                  <a:pt x="16767594" y="16767595"/>
                </a:lnTo>
                <a:lnTo>
                  <a:pt x="0" y="16767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62833">
            <a:off x="16436337" y="9249321"/>
            <a:ext cx="2888702" cy="1087202"/>
          </a:xfrm>
          <a:custGeom>
            <a:avLst/>
            <a:gdLst/>
            <a:ahLst/>
            <a:cxnLst/>
            <a:rect r="r" b="b" t="t" l="l"/>
            <a:pathLst>
              <a:path h="1087202" w="2888702">
                <a:moveTo>
                  <a:pt x="0" y="0"/>
                </a:moveTo>
                <a:lnTo>
                  <a:pt x="2888701" y="0"/>
                </a:lnTo>
                <a:lnTo>
                  <a:pt x="2888701" y="1087202"/>
                </a:lnTo>
                <a:lnTo>
                  <a:pt x="0" y="1087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8100000">
            <a:off x="16895464" y="88311"/>
            <a:ext cx="1970446" cy="680700"/>
          </a:xfrm>
          <a:custGeom>
            <a:avLst/>
            <a:gdLst/>
            <a:ahLst/>
            <a:cxnLst/>
            <a:rect r="r" b="b" t="t" l="l"/>
            <a:pathLst>
              <a:path h="680700" w="1970446">
                <a:moveTo>
                  <a:pt x="0" y="680700"/>
                </a:moveTo>
                <a:lnTo>
                  <a:pt x="1970447" y="680700"/>
                </a:lnTo>
                <a:lnTo>
                  <a:pt x="1970447" y="0"/>
                </a:lnTo>
                <a:lnTo>
                  <a:pt x="0" y="0"/>
                </a:lnTo>
                <a:lnTo>
                  <a:pt x="0" y="6807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75127" y="4302348"/>
            <a:ext cx="10958112" cy="5490574"/>
            <a:chOff x="0" y="0"/>
            <a:chExt cx="2438869" cy="12219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869" cy="1221998"/>
            </a:xfrm>
            <a:custGeom>
              <a:avLst/>
              <a:gdLst/>
              <a:ahLst/>
              <a:cxnLst/>
              <a:rect r="r" b="b" t="t" l="l"/>
              <a:pathLst>
                <a:path h="1221998" w="2438869">
                  <a:moveTo>
                    <a:pt x="36738" y="0"/>
                  </a:moveTo>
                  <a:lnTo>
                    <a:pt x="2402131" y="0"/>
                  </a:lnTo>
                  <a:cubicBezTo>
                    <a:pt x="2422421" y="0"/>
                    <a:pt x="2438869" y="16448"/>
                    <a:pt x="2438869" y="36738"/>
                  </a:cubicBezTo>
                  <a:lnTo>
                    <a:pt x="2438869" y="1185260"/>
                  </a:lnTo>
                  <a:cubicBezTo>
                    <a:pt x="2438869" y="1195004"/>
                    <a:pt x="2434998" y="1204348"/>
                    <a:pt x="2428109" y="1211238"/>
                  </a:cubicBezTo>
                  <a:cubicBezTo>
                    <a:pt x="2421219" y="1218127"/>
                    <a:pt x="2411874" y="1221998"/>
                    <a:pt x="2402131" y="1221998"/>
                  </a:cubicBezTo>
                  <a:lnTo>
                    <a:pt x="36738" y="1221998"/>
                  </a:lnTo>
                  <a:cubicBezTo>
                    <a:pt x="16448" y="1221998"/>
                    <a:pt x="0" y="1205550"/>
                    <a:pt x="0" y="1185260"/>
                  </a:cubicBezTo>
                  <a:lnTo>
                    <a:pt x="0" y="36738"/>
                  </a:lnTo>
                  <a:cubicBezTo>
                    <a:pt x="0" y="16448"/>
                    <a:pt x="16448" y="0"/>
                    <a:pt x="3673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125" r="0" b="-1125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AutoShape 7" id="7"/>
          <p:cNvSpPr/>
          <p:nvPr/>
        </p:nvSpPr>
        <p:spPr>
          <a:xfrm>
            <a:off x="545397" y="2588420"/>
            <a:ext cx="30165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-2195725">
            <a:off x="-542362" y="-80587"/>
            <a:ext cx="2373432" cy="819913"/>
          </a:xfrm>
          <a:custGeom>
            <a:avLst/>
            <a:gdLst/>
            <a:ahLst/>
            <a:cxnLst/>
            <a:rect r="r" b="b" t="t" l="l"/>
            <a:pathLst>
              <a:path h="819913" w="2373432">
                <a:moveTo>
                  <a:pt x="0" y="819913"/>
                </a:moveTo>
                <a:lnTo>
                  <a:pt x="2373432" y="819913"/>
                </a:lnTo>
                <a:lnTo>
                  <a:pt x="2373432" y="0"/>
                </a:lnTo>
                <a:lnTo>
                  <a:pt x="0" y="0"/>
                </a:lnTo>
                <a:lnTo>
                  <a:pt x="0" y="8199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15968" y="6445858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3" y="0"/>
                </a:lnTo>
                <a:lnTo>
                  <a:pt x="7682283" y="7682284"/>
                </a:lnTo>
                <a:lnTo>
                  <a:pt x="0" y="7682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700656">
            <a:off x="-159281" y="9782867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8886" y="3120167"/>
            <a:ext cx="6970515" cy="5305235"/>
            <a:chOff x="0" y="0"/>
            <a:chExt cx="1730212" cy="13168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0212" cy="1316858"/>
            </a:xfrm>
            <a:custGeom>
              <a:avLst/>
              <a:gdLst/>
              <a:ahLst/>
              <a:cxnLst/>
              <a:rect r="r" b="b" t="t" l="l"/>
              <a:pathLst>
                <a:path h="1316858" w="1730212">
                  <a:moveTo>
                    <a:pt x="38873" y="0"/>
                  </a:moveTo>
                  <a:lnTo>
                    <a:pt x="1691338" y="0"/>
                  </a:lnTo>
                  <a:cubicBezTo>
                    <a:pt x="1712807" y="0"/>
                    <a:pt x="1730212" y="17404"/>
                    <a:pt x="1730212" y="38873"/>
                  </a:cubicBezTo>
                  <a:lnTo>
                    <a:pt x="1730212" y="1277985"/>
                  </a:lnTo>
                  <a:cubicBezTo>
                    <a:pt x="1730212" y="1299454"/>
                    <a:pt x="1712807" y="1316858"/>
                    <a:pt x="1691338" y="1316858"/>
                  </a:cubicBezTo>
                  <a:lnTo>
                    <a:pt x="38873" y="1316858"/>
                  </a:lnTo>
                  <a:cubicBezTo>
                    <a:pt x="28563" y="1316858"/>
                    <a:pt x="18676" y="1312763"/>
                    <a:pt x="11386" y="1305472"/>
                  </a:cubicBezTo>
                  <a:cubicBezTo>
                    <a:pt x="4096" y="1298182"/>
                    <a:pt x="0" y="1288295"/>
                    <a:pt x="0" y="1277985"/>
                  </a:cubicBezTo>
                  <a:lnTo>
                    <a:pt x="0" y="38873"/>
                  </a:lnTo>
                  <a:cubicBezTo>
                    <a:pt x="0" y="17404"/>
                    <a:pt x="17404" y="0"/>
                    <a:pt x="38873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30212" cy="1364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01860" y="3267203"/>
            <a:ext cx="588740" cy="588740"/>
          </a:xfrm>
          <a:custGeom>
            <a:avLst/>
            <a:gdLst/>
            <a:ahLst/>
            <a:cxnLst/>
            <a:rect r="r" b="b" t="t" l="l"/>
            <a:pathLst>
              <a:path h="588740" w="588740">
                <a:moveTo>
                  <a:pt x="0" y="0"/>
                </a:moveTo>
                <a:lnTo>
                  <a:pt x="588740" y="0"/>
                </a:lnTo>
                <a:lnTo>
                  <a:pt x="588740" y="588739"/>
                </a:lnTo>
                <a:lnTo>
                  <a:pt x="0" y="5887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96398" y="3209512"/>
            <a:ext cx="4199392" cy="115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Collecting the Health Record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934729" y="457499"/>
            <a:ext cx="4060234" cy="3740074"/>
          </a:xfrm>
          <a:custGeom>
            <a:avLst/>
            <a:gdLst/>
            <a:ahLst/>
            <a:cxnLst/>
            <a:rect r="r" b="b" t="t" l="l"/>
            <a:pathLst>
              <a:path h="3740074" w="4060234">
                <a:moveTo>
                  <a:pt x="0" y="0"/>
                </a:moveTo>
                <a:lnTo>
                  <a:pt x="4060234" y="0"/>
                </a:lnTo>
                <a:lnTo>
                  <a:pt x="4060234" y="3740074"/>
                </a:lnTo>
                <a:lnTo>
                  <a:pt x="0" y="37400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46" t="-171" r="-1627" b="-17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629347">
            <a:off x="6311957" y="2738964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5" y="0"/>
                </a:lnTo>
                <a:lnTo>
                  <a:pt x="1339515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1261" y="4569048"/>
            <a:ext cx="6940604" cy="363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BMI </a:t>
            </a: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and medical reports.</a:t>
            </a:r>
          </a:p>
          <a:p>
            <a:pPr algn="l">
              <a:lnSpc>
                <a:spcPts val="4141"/>
              </a:lnSpc>
            </a:pPr>
          </a:p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Exercise and sleep tracking.</a:t>
            </a:r>
          </a:p>
          <a:p>
            <a:pPr algn="l">
              <a:lnSpc>
                <a:spcPts val="4141"/>
              </a:lnSpc>
            </a:pPr>
          </a:p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Attendance and assessments.</a:t>
            </a:r>
          </a:p>
          <a:p>
            <a:pPr algn="l">
              <a:lnSpc>
                <a:spcPts val="4141"/>
              </a:lnSpc>
            </a:pPr>
          </a:p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Data preprocessing and validation.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6708" y="644049"/>
            <a:ext cx="1137468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Health Records Collection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true" rot="-130636">
            <a:off x="8672525" y="31174"/>
            <a:ext cx="1651965" cy="570679"/>
          </a:xfrm>
          <a:custGeom>
            <a:avLst/>
            <a:gdLst/>
            <a:ahLst/>
            <a:cxnLst/>
            <a:rect r="r" b="b" t="t" l="l"/>
            <a:pathLst>
              <a:path h="570679" w="1651965">
                <a:moveTo>
                  <a:pt x="0" y="570679"/>
                </a:moveTo>
                <a:lnTo>
                  <a:pt x="1651964" y="570679"/>
                </a:lnTo>
                <a:lnTo>
                  <a:pt x="1651964" y="0"/>
                </a:lnTo>
                <a:lnTo>
                  <a:pt x="0" y="0"/>
                </a:lnTo>
                <a:lnTo>
                  <a:pt x="0" y="57067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65630" y="9029687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25476" y="3728546"/>
            <a:ext cx="10862524" cy="6295235"/>
            <a:chOff x="0" y="0"/>
            <a:chExt cx="3192136" cy="18499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92136" cy="1849961"/>
            </a:xfrm>
            <a:custGeom>
              <a:avLst/>
              <a:gdLst/>
              <a:ahLst/>
              <a:cxnLst/>
              <a:rect r="r" b="b" t="t" l="l"/>
              <a:pathLst>
                <a:path h="1849961" w="3192136">
                  <a:moveTo>
                    <a:pt x="24945" y="0"/>
                  </a:moveTo>
                  <a:lnTo>
                    <a:pt x="3167191" y="0"/>
                  </a:lnTo>
                  <a:cubicBezTo>
                    <a:pt x="3180967" y="0"/>
                    <a:pt x="3192136" y="11168"/>
                    <a:pt x="3192136" y="24945"/>
                  </a:cubicBezTo>
                  <a:lnTo>
                    <a:pt x="3192136" y="1825016"/>
                  </a:lnTo>
                  <a:cubicBezTo>
                    <a:pt x="3192136" y="1831632"/>
                    <a:pt x="3189508" y="1837977"/>
                    <a:pt x="3184829" y="1842655"/>
                  </a:cubicBezTo>
                  <a:cubicBezTo>
                    <a:pt x="3180151" y="1847333"/>
                    <a:pt x="3173806" y="1849961"/>
                    <a:pt x="3167191" y="1849961"/>
                  </a:cubicBezTo>
                  <a:lnTo>
                    <a:pt x="24945" y="1849961"/>
                  </a:lnTo>
                  <a:cubicBezTo>
                    <a:pt x="11168" y="1849961"/>
                    <a:pt x="0" y="1838793"/>
                    <a:pt x="0" y="1825016"/>
                  </a:cubicBezTo>
                  <a:lnTo>
                    <a:pt x="0" y="24945"/>
                  </a:lnTo>
                  <a:cubicBezTo>
                    <a:pt x="0" y="18329"/>
                    <a:pt x="2628" y="11984"/>
                    <a:pt x="7306" y="7306"/>
                  </a:cubicBezTo>
                  <a:cubicBezTo>
                    <a:pt x="11984" y="2628"/>
                    <a:pt x="18329" y="0"/>
                    <a:pt x="2494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2" r="0" b="-142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997713" y="-1142464"/>
            <a:ext cx="7921324" cy="7921324"/>
          </a:xfrm>
          <a:custGeom>
            <a:avLst/>
            <a:gdLst/>
            <a:ahLst/>
            <a:cxnLst/>
            <a:rect r="r" b="b" t="t" l="l"/>
            <a:pathLst>
              <a:path h="7921324" w="7921324">
                <a:moveTo>
                  <a:pt x="0" y="0"/>
                </a:moveTo>
                <a:lnTo>
                  <a:pt x="7921324" y="0"/>
                </a:lnTo>
                <a:lnTo>
                  <a:pt x="7921324" y="7921324"/>
                </a:lnTo>
                <a:lnTo>
                  <a:pt x="0" y="7921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3934" y="485988"/>
            <a:ext cx="756512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136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Wellness Risk Prediction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3564790" y="-67089"/>
            <a:ext cx="2009090" cy="694049"/>
          </a:xfrm>
          <a:custGeom>
            <a:avLst/>
            <a:gdLst/>
            <a:ahLst/>
            <a:cxnLst/>
            <a:rect r="r" b="b" t="t" l="l"/>
            <a:pathLst>
              <a:path h="694049" w="2009090">
                <a:moveTo>
                  <a:pt x="0" y="694049"/>
                </a:moveTo>
                <a:lnTo>
                  <a:pt x="2009090" y="694049"/>
                </a:lnTo>
                <a:lnTo>
                  <a:pt x="2009090" y="0"/>
                </a:lnTo>
                <a:lnTo>
                  <a:pt x="0" y="0"/>
                </a:lnTo>
                <a:lnTo>
                  <a:pt x="0" y="6940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108403" y="5417158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3" y="0"/>
                </a:lnTo>
                <a:lnTo>
                  <a:pt x="7682283" y="7682284"/>
                </a:lnTo>
                <a:lnTo>
                  <a:pt x="0" y="7682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45979" y="9642075"/>
            <a:ext cx="2668320" cy="1004259"/>
          </a:xfrm>
          <a:custGeom>
            <a:avLst/>
            <a:gdLst/>
            <a:ahLst/>
            <a:cxnLst/>
            <a:rect r="r" b="b" t="t" l="l"/>
            <a:pathLst>
              <a:path h="1004259" w="2668320">
                <a:moveTo>
                  <a:pt x="0" y="0"/>
                </a:moveTo>
                <a:lnTo>
                  <a:pt x="2668320" y="0"/>
                </a:lnTo>
                <a:lnTo>
                  <a:pt x="2668320" y="1004259"/>
                </a:lnTo>
                <a:lnTo>
                  <a:pt x="0" y="1004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333934" y="2430358"/>
            <a:ext cx="51077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075971" y="356629"/>
            <a:ext cx="8015101" cy="3362392"/>
            <a:chOff x="0" y="0"/>
            <a:chExt cx="2601157" cy="10912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1156" cy="1091204"/>
            </a:xfrm>
            <a:custGeom>
              <a:avLst/>
              <a:gdLst/>
              <a:ahLst/>
              <a:cxnLst/>
              <a:rect r="r" b="b" t="t" l="l"/>
              <a:pathLst>
                <a:path h="1091204" w="260115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968503"/>
                  </a:lnTo>
                  <a:cubicBezTo>
                    <a:pt x="1" y="1036269"/>
                    <a:pt x="54936" y="1091204"/>
                    <a:pt x="122702" y="1091204"/>
                  </a:cubicBezTo>
                  <a:lnTo>
                    <a:pt x="2478453" y="1091204"/>
                  </a:lnTo>
                  <a:cubicBezTo>
                    <a:pt x="2546219" y="1091204"/>
                    <a:pt x="2601155" y="1036269"/>
                    <a:pt x="2601156" y="968503"/>
                  </a:cubicBezTo>
                  <a:lnTo>
                    <a:pt x="2601156" y="122701"/>
                  </a:lnTo>
                  <a:cubicBezTo>
                    <a:pt x="2601155" y="54935"/>
                    <a:pt x="2546220" y="1"/>
                    <a:pt x="2478455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lnTo>
                    <a:pt x="0" y="0"/>
                  </a:lnTo>
                  <a:cubicBezTo>
                    <a:pt x="0" y="0"/>
                    <a:pt x="473267" y="77131"/>
                    <a:pt x="473267" y="77131"/>
                  </a:cubicBezTo>
                  <a:close/>
                </a:path>
              </a:pathLst>
            </a:custGeom>
            <a:blipFill>
              <a:blip r:embed="rId9"/>
              <a:stretch>
                <a:fillRect l="0" t="-58" r="0" b="-5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935" y="3032027"/>
            <a:ext cx="7088366" cy="6524324"/>
            <a:chOff x="0" y="0"/>
            <a:chExt cx="1759465" cy="16194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9465" cy="1619459"/>
            </a:xfrm>
            <a:custGeom>
              <a:avLst/>
              <a:gdLst/>
              <a:ahLst/>
              <a:cxnLst/>
              <a:rect r="r" b="b" t="t" l="l"/>
              <a:pathLst>
                <a:path h="1619459" w="1759465">
                  <a:moveTo>
                    <a:pt x="38227" y="0"/>
                  </a:moveTo>
                  <a:lnTo>
                    <a:pt x="1721238" y="0"/>
                  </a:lnTo>
                  <a:cubicBezTo>
                    <a:pt x="1731376" y="0"/>
                    <a:pt x="1741099" y="4027"/>
                    <a:pt x="1748268" y="11196"/>
                  </a:cubicBezTo>
                  <a:cubicBezTo>
                    <a:pt x="1755437" y="18365"/>
                    <a:pt x="1759465" y="28089"/>
                    <a:pt x="1759465" y="38227"/>
                  </a:cubicBezTo>
                  <a:lnTo>
                    <a:pt x="1759465" y="1581232"/>
                  </a:lnTo>
                  <a:cubicBezTo>
                    <a:pt x="1759465" y="1591370"/>
                    <a:pt x="1755437" y="1601093"/>
                    <a:pt x="1748268" y="1608262"/>
                  </a:cubicBezTo>
                  <a:cubicBezTo>
                    <a:pt x="1741099" y="1615431"/>
                    <a:pt x="1731376" y="1619459"/>
                    <a:pt x="1721238" y="1619459"/>
                  </a:cubicBezTo>
                  <a:lnTo>
                    <a:pt x="38227" y="1619459"/>
                  </a:lnTo>
                  <a:cubicBezTo>
                    <a:pt x="28089" y="1619459"/>
                    <a:pt x="18365" y="1615431"/>
                    <a:pt x="11196" y="1608262"/>
                  </a:cubicBezTo>
                  <a:cubicBezTo>
                    <a:pt x="4027" y="1601093"/>
                    <a:pt x="0" y="1591370"/>
                    <a:pt x="0" y="1581232"/>
                  </a:cubicBezTo>
                  <a:lnTo>
                    <a:pt x="0" y="38227"/>
                  </a:lnTo>
                  <a:cubicBezTo>
                    <a:pt x="0" y="28089"/>
                    <a:pt x="4027" y="18365"/>
                    <a:pt x="11196" y="11196"/>
                  </a:cubicBezTo>
                  <a:cubicBezTo>
                    <a:pt x="18365" y="4027"/>
                    <a:pt x="28089" y="0"/>
                    <a:pt x="38227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59465" cy="1667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2935" y="3829920"/>
            <a:ext cx="6991434" cy="578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Pr</a:t>
            </a: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edicts stress and burnout.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Detects obesity and hypertension risk.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Uses historical and real-time data.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ML: Decision Tree, Random Forest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33934" y="3273373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66800" y="3217834"/>
            <a:ext cx="4972330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Predicting the Risk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2010118">
            <a:off x="16862719" y="-398797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0"/>
                </a:moveTo>
                <a:lnTo>
                  <a:pt x="2323356" y="0"/>
                </a:lnTo>
                <a:lnTo>
                  <a:pt x="2323356" y="874427"/>
                </a:lnTo>
                <a:lnTo>
                  <a:pt x="0" y="874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576499">
            <a:off x="6364868" y="2617634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8"/>
                </a:lnTo>
                <a:lnTo>
                  <a:pt x="0" y="11921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1555" y="-3109366"/>
            <a:ext cx="8252866" cy="8252866"/>
          </a:xfrm>
          <a:custGeom>
            <a:avLst/>
            <a:gdLst/>
            <a:ahLst/>
            <a:cxnLst/>
            <a:rect r="r" b="b" t="t" l="l"/>
            <a:pathLst>
              <a:path h="8252866" w="8252866">
                <a:moveTo>
                  <a:pt x="0" y="0"/>
                </a:moveTo>
                <a:lnTo>
                  <a:pt x="8252866" y="0"/>
                </a:lnTo>
                <a:lnTo>
                  <a:pt x="8252866" y="8252866"/>
                </a:lnTo>
                <a:lnTo>
                  <a:pt x="0" y="8252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503861">
            <a:off x="-631582" y="9495417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7"/>
                </a:moveTo>
                <a:lnTo>
                  <a:pt x="2323357" y="874427"/>
                </a:lnTo>
                <a:lnTo>
                  <a:pt x="2323357" y="0"/>
                </a:lnTo>
                <a:lnTo>
                  <a:pt x="0" y="0"/>
                </a:lnTo>
                <a:lnTo>
                  <a:pt x="0" y="8744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5453" y="3862949"/>
            <a:ext cx="10191402" cy="5395351"/>
            <a:chOff x="0" y="0"/>
            <a:chExt cx="997143" cy="52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7143" cy="527889"/>
            </a:xfrm>
            <a:custGeom>
              <a:avLst/>
              <a:gdLst/>
              <a:ahLst/>
              <a:cxnLst/>
              <a:rect r="r" b="b" t="t" l="l"/>
              <a:pathLst>
                <a:path h="527889" w="997143">
                  <a:moveTo>
                    <a:pt x="26588" y="0"/>
                  </a:moveTo>
                  <a:lnTo>
                    <a:pt x="970555" y="0"/>
                  </a:lnTo>
                  <a:cubicBezTo>
                    <a:pt x="977606" y="0"/>
                    <a:pt x="984369" y="2801"/>
                    <a:pt x="989355" y="7787"/>
                  </a:cubicBezTo>
                  <a:cubicBezTo>
                    <a:pt x="994341" y="12774"/>
                    <a:pt x="997143" y="19536"/>
                    <a:pt x="997143" y="26588"/>
                  </a:cubicBezTo>
                  <a:lnTo>
                    <a:pt x="997143" y="501302"/>
                  </a:lnTo>
                  <a:cubicBezTo>
                    <a:pt x="997143" y="515986"/>
                    <a:pt x="985239" y="527889"/>
                    <a:pt x="970555" y="527889"/>
                  </a:cubicBezTo>
                  <a:lnTo>
                    <a:pt x="26588" y="527889"/>
                  </a:lnTo>
                  <a:cubicBezTo>
                    <a:pt x="11904" y="527889"/>
                    <a:pt x="0" y="515986"/>
                    <a:pt x="0" y="501302"/>
                  </a:cubicBezTo>
                  <a:lnTo>
                    <a:pt x="0" y="26588"/>
                  </a:lnTo>
                  <a:cubicBezTo>
                    <a:pt x="0" y="11904"/>
                    <a:pt x="11904" y="0"/>
                    <a:pt x="2658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96" r="0" b="-196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890760" y="5685128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3" y="0"/>
                </a:lnTo>
                <a:lnTo>
                  <a:pt x="7682283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52475" y="2479753"/>
            <a:ext cx="7579913" cy="5787224"/>
            <a:chOff x="0" y="0"/>
            <a:chExt cx="1881476" cy="14364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1476" cy="1436497"/>
            </a:xfrm>
            <a:custGeom>
              <a:avLst/>
              <a:gdLst/>
              <a:ahLst/>
              <a:cxnLst/>
              <a:rect r="r" b="b" t="t" l="l"/>
              <a:pathLst>
                <a:path h="1436497" w="1881476">
                  <a:moveTo>
                    <a:pt x="35748" y="0"/>
                  </a:moveTo>
                  <a:lnTo>
                    <a:pt x="1845728" y="0"/>
                  </a:lnTo>
                  <a:cubicBezTo>
                    <a:pt x="1855209" y="0"/>
                    <a:pt x="1864301" y="3766"/>
                    <a:pt x="1871005" y="10470"/>
                  </a:cubicBezTo>
                  <a:cubicBezTo>
                    <a:pt x="1877709" y="17174"/>
                    <a:pt x="1881476" y="26267"/>
                    <a:pt x="1881476" y="35748"/>
                  </a:cubicBezTo>
                  <a:lnTo>
                    <a:pt x="1881476" y="1400749"/>
                  </a:lnTo>
                  <a:cubicBezTo>
                    <a:pt x="1881476" y="1420492"/>
                    <a:pt x="1865471" y="1436497"/>
                    <a:pt x="1845728" y="1436497"/>
                  </a:cubicBezTo>
                  <a:lnTo>
                    <a:pt x="35748" y="1436497"/>
                  </a:lnTo>
                  <a:cubicBezTo>
                    <a:pt x="26267" y="1436497"/>
                    <a:pt x="17174" y="1432730"/>
                    <a:pt x="10470" y="1426026"/>
                  </a:cubicBezTo>
                  <a:cubicBezTo>
                    <a:pt x="3766" y="1419322"/>
                    <a:pt x="0" y="1410230"/>
                    <a:pt x="0" y="1400749"/>
                  </a:cubicBezTo>
                  <a:lnTo>
                    <a:pt x="0" y="35748"/>
                  </a:lnTo>
                  <a:cubicBezTo>
                    <a:pt x="0" y="16005"/>
                    <a:pt x="16005" y="0"/>
                    <a:pt x="35748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81476" cy="148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724265" y="2660870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4"/>
                </a:lnTo>
                <a:lnTo>
                  <a:pt x="0" y="6540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1503861">
            <a:off x="16970710" y="-296684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7"/>
                </a:moveTo>
                <a:lnTo>
                  <a:pt x="2323356" y="874427"/>
                </a:lnTo>
                <a:lnTo>
                  <a:pt x="2323356" y="0"/>
                </a:lnTo>
                <a:lnTo>
                  <a:pt x="0" y="0"/>
                </a:lnTo>
                <a:lnTo>
                  <a:pt x="0" y="8744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530096" y="2479753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0">
            <a:off x="1028700" y="292644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11086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8838" y="828833"/>
            <a:ext cx="10552475" cy="150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0"/>
              </a:lnSpc>
            </a:pPr>
            <a:r>
              <a:rPr lang="en-US" sz="5380" spc="64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Person</a:t>
            </a:r>
            <a:r>
              <a:rPr lang="en-US" b="true" sz="5380" spc="64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alized Wellness Recommendation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2463" y="3420352"/>
            <a:ext cx="7525854" cy="447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Per</a:t>
            </a: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sonal</a:t>
            </a: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ized fitness plans</a:t>
            </a:r>
          </a:p>
          <a:p>
            <a:pPr algn="l">
              <a:lnSpc>
                <a:spcPts val="4439"/>
              </a:lnSpc>
            </a:pPr>
          </a:p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Diet and lifestyle suggestions</a:t>
            </a:r>
          </a:p>
          <a:p>
            <a:pPr algn="l">
              <a:lnSpc>
                <a:spcPts val="4439"/>
              </a:lnSpc>
            </a:pPr>
          </a:p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Mental wellness and yoga activities</a:t>
            </a:r>
          </a:p>
          <a:p>
            <a:pPr algn="l">
              <a:lnSpc>
                <a:spcPts val="4439"/>
              </a:lnSpc>
            </a:pPr>
          </a:p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AI: collaborative filtering, content-based filtering, Generative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40691" y="2469757"/>
            <a:ext cx="3937009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Employee Wellness Recommendation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777594">
            <a:off x="8096488" y="1826398"/>
            <a:ext cx="2141929" cy="1906317"/>
          </a:xfrm>
          <a:custGeom>
            <a:avLst/>
            <a:gdLst/>
            <a:ahLst/>
            <a:cxnLst/>
            <a:rect r="r" b="b" t="t" l="l"/>
            <a:pathLst>
              <a:path h="1906317" w="2141929">
                <a:moveTo>
                  <a:pt x="0" y="0"/>
                </a:moveTo>
                <a:lnTo>
                  <a:pt x="2141928" y="0"/>
                </a:lnTo>
                <a:lnTo>
                  <a:pt x="2141928" y="1906317"/>
                </a:lnTo>
                <a:lnTo>
                  <a:pt x="0" y="19063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2270777">
            <a:off x="16319547" y="9186538"/>
            <a:ext cx="1966868" cy="679464"/>
          </a:xfrm>
          <a:custGeom>
            <a:avLst/>
            <a:gdLst/>
            <a:ahLst/>
            <a:cxnLst/>
            <a:rect r="r" b="b" t="t" l="l"/>
            <a:pathLst>
              <a:path h="679464" w="1966868">
                <a:moveTo>
                  <a:pt x="0" y="0"/>
                </a:moveTo>
                <a:lnTo>
                  <a:pt x="1966868" y="0"/>
                </a:lnTo>
                <a:lnTo>
                  <a:pt x="1966868" y="679463"/>
                </a:lnTo>
                <a:lnTo>
                  <a:pt x="0" y="679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497669">
            <a:off x="17101449" y="1942062"/>
            <a:ext cx="1464089" cy="1303039"/>
          </a:xfrm>
          <a:custGeom>
            <a:avLst/>
            <a:gdLst/>
            <a:ahLst/>
            <a:cxnLst/>
            <a:rect r="r" b="b" t="t" l="l"/>
            <a:pathLst>
              <a:path h="1303039" w="1464089">
                <a:moveTo>
                  <a:pt x="0" y="0"/>
                </a:moveTo>
                <a:lnTo>
                  <a:pt x="1464090" y="0"/>
                </a:lnTo>
                <a:lnTo>
                  <a:pt x="1464090" y="1303040"/>
                </a:lnTo>
                <a:lnTo>
                  <a:pt x="0" y="13030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25" y="4376198"/>
            <a:ext cx="10136825" cy="5215035"/>
            <a:chOff x="0" y="0"/>
            <a:chExt cx="1020273" cy="524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0273" cy="524894"/>
            </a:xfrm>
            <a:custGeom>
              <a:avLst/>
              <a:gdLst/>
              <a:ahLst/>
              <a:cxnLst/>
              <a:rect r="r" b="b" t="t" l="l"/>
              <a:pathLst>
                <a:path h="524894" w="1020273">
                  <a:moveTo>
                    <a:pt x="26731" y="0"/>
                  </a:moveTo>
                  <a:lnTo>
                    <a:pt x="993542" y="0"/>
                  </a:lnTo>
                  <a:cubicBezTo>
                    <a:pt x="1000631" y="0"/>
                    <a:pt x="1007430" y="2816"/>
                    <a:pt x="1012443" y="7829"/>
                  </a:cubicBezTo>
                  <a:cubicBezTo>
                    <a:pt x="1017456" y="12842"/>
                    <a:pt x="1020273" y="19641"/>
                    <a:pt x="1020273" y="26731"/>
                  </a:cubicBezTo>
                  <a:lnTo>
                    <a:pt x="1020273" y="498163"/>
                  </a:lnTo>
                  <a:cubicBezTo>
                    <a:pt x="1020273" y="505252"/>
                    <a:pt x="1017456" y="512051"/>
                    <a:pt x="1012443" y="517065"/>
                  </a:cubicBezTo>
                  <a:cubicBezTo>
                    <a:pt x="1007430" y="522078"/>
                    <a:pt x="1000631" y="524894"/>
                    <a:pt x="993542" y="524894"/>
                  </a:cubicBezTo>
                  <a:lnTo>
                    <a:pt x="26731" y="524894"/>
                  </a:lnTo>
                  <a:cubicBezTo>
                    <a:pt x="19641" y="524894"/>
                    <a:pt x="12842" y="522078"/>
                    <a:pt x="7829" y="517065"/>
                  </a:cubicBezTo>
                  <a:cubicBezTo>
                    <a:pt x="2816" y="512051"/>
                    <a:pt x="0" y="505252"/>
                    <a:pt x="0" y="498163"/>
                  </a:cubicBezTo>
                  <a:lnTo>
                    <a:pt x="0" y="26731"/>
                  </a:lnTo>
                  <a:cubicBezTo>
                    <a:pt x="0" y="19641"/>
                    <a:pt x="2816" y="12842"/>
                    <a:pt x="7829" y="7829"/>
                  </a:cubicBezTo>
                  <a:cubicBezTo>
                    <a:pt x="12842" y="2816"/>
                    <a:pt x="19641" y="0"/>
                    <a:pt x="26731" y="0"/>
                  </a:cubicBezTo>
                  <a:close/>
                </a:path>
              </a:pathLst>
            </a:custGeom>
            <a:blipFill>
              <a:blip r:embed="rId4"/>
              <a:stretch>
                <a:fillRect l="-811" t="0" r="-811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59482" y="2094553"/>
            <a:ext cx="7280464" cy="6544826"/>
            <a:chOff x="0" y="0"/>
            <a:chExt cx="1807147" cy="1624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147" cy="1624548"/>
            </a:xfrm>
            <a:custGeom>
              <a:avLst/>
              <a:gdLst/>
              <a:ahLst/>
              <a:cxnLst/>
              <a:rect r="r" b="b" t="t" l="l"/>
              <a:pathLst>
                <a:path h="1624548" w="1807147">
                  <a:moveTo>
                    <a:pt x="37218" y="0"/>
                  </a:moveTo>
                  <a:lnTo>
                    <a:pt x="1769928" y="0"/>
                  </a:lnTo>
                  <a:cubicBezTo>
                    <a:pt x="1779799" y="0"/>
                    <a:pt x="1789266" y="3921"/>
                    <a:pt x="1796246" y="10901"/>
                  </a:cubicBezTo>
                  <a:cubicBezTo>
                    <a:pt x="1803225" y="17881"/>
                    <a:pt x="1807147" y="27347"/>
                    <a:pt x="1807147" y="37218"/>
                  </a:cubicBezTo>
                  <a:lnTo>
                    <a:pt x="1807147" y="1587329"/>
                  </a:lnTo>
                  <a:cubicBezTo>
                    <a:pt x="1807147" y="1597200"/>
                    <a:pt x="1803225" y="1606667"/>
                    <a:pt x="1796246" y="1613647"/>
                  </a:cubicBezTo>
                  <a:cubicBezTo>
                    <a:pt x="1789266" y="1620627"/>
                    <a:pt x="1779799" y="1624548"/>
                    <a:pt x="1769928" y="1624548"/>
                  </a:cubicBezTo>
                  <a:lnTo>
                    <a:pt x="37218" y="1624548"/>
                  </a:lnTo>
                  <a:cubicBezTo>
                    <a:pt x="16663" y="1624548"/>
                    <a:pt x="0" y="1607885"/>
                    <a:pt x="0" y="1587329"/>
                  </a:cubicBezTo>
                  <a:lnTo>
                    <a:pt x="0" y="37218"/>
                  </a:lnTo>
                  <a:cubicBezTo>
                    <a:pt x="0" y="16663"/>
                    <a:pt x="16663" y="0"/>
                    <a:pt x="37218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07147" cy="1672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678557" y="2457505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5"/>
                </a:lnTo>
                <a:lnTo>
                  <a:pt x="0" y="6540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2057859">
            <a:off x="16687598" y="9341867"/>
            <a:ext cx="2539909" cy="955930"/>
          </a:xfrm>
          <a:custGeom>
            <a:avLst/>
            <a:gdLst/>
            <a:ahLst/>
            <a:cxnLst/>
            <a:rect r="r" b="b" t="t" l="l"/>
            <a:pathLst>
              <a:path h="955930" w="2539909">
                <a:moveTo>
                  <a:pt x="0" y="955930"/>
                </a:moveTo>
                <a:lnTo>
                  <a:pt x="2539910" y="955930"/>
                </a:lnTo>
                <a:lnTo>
                  <a:pt x="2539910" y="0"/>
                </a:lnTo>
                <a:lnTo>
                  <a:pt x="0" y="0"/>
                </a:lnTo>
                <a:lnTo>
                  <a:pt x="0" y="95593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530096" y="3432789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true" rot="0">
            <a:off x="152025" y="1502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9805" y="981983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56752" y="2457505"/>
            <a:ext cx="3301405" cy="1898308"/>
          </a:xfrm>
          <a:custGeom>
            <a:avLst/>
            <a:gdLst/>
            <a:ahLst/>
            <a:cxnLst/>
            <a:rect r="r" b="b" t="t" l="l"/>
            <a:pathLst>
              <a:path h="1898308" w="3301405">
                <a:moveTo>
                  <a:pt x="0" y="0"/>
                </a:moveTo>
                <a:lnTo>
                  <a:pt x="3301405" y="0"/>
                </a:lnTo>
                <a:lnTo>
                  <a:pt x="3301405" y="1898308"/>
                </a:lnTo>
                <a:lnTo>
                  <a:pt x="0" y="18983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881864">
            <a:off x="16868818" y="1535121"/>
            <a:ext cx="1448947" cy="1289563"/>
          </a:xfrm>
          <a:custGeom>
            <a:avLst/>
            <a:gdLst/>
            <a:ahLst/>
            <a:cxnLst/>
            <a:rect r="r" b="b" t="t" l="l"/>
            <a:pathLst>
              <a:path h="1289563" w="1448947">
                <a:moveTo>
                  <a:pt x="0" y="0"/>
                </a:moveTo>
                <a:lnTo>
                  <a:pt x="1448948" y="0"/>
                </a:lnTo>
                <a:lnTo>
                  <a:pt x="1448948" y="1289563"/>
                </a:lnTo>
                <a:lnTo>
                  <a:pt x="0" y="12895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55665" y="1502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008088">
            <a:off x="7772847" y="9124507"/>
            <a:ext cx="2344445" cy="1945890"/>
          </a:xfrm>
          <a:custGeom>
            <a:avLst/>
            <a:gdLst/>
            <a:ahLst/>
            <a:cxnLst/>
            <a:rect r="r" b="b" t="t" l="l"/>
            <a:pathLst>
              <a:path h="1945890" w="2344445">
                <a:moveTo>
                  <a:pt x="0" y="0"/>
                </a:moveTo>
                <a:lnTo>
                  <a:pt x="2344445" y="0"/>
                </a:lnTo>
                <a:lnTo>
                  <a:pt x="2344445" y="1945889"/>
                </a:lnTo>
                <a:lnTo>
                  <a:pt x="0" y="19458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-430373" y="473629"/>
            <a:ext cx="6985800" cy="286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0"/>
              </a:lnSpc>
            </a:pPr>
            <a:r>
              <a:rPr lang="en-US" sz="53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Ment</a:t>
            </a:r>
            <a:r>
              <a:rPr lang="en-US" b="true" sz="5380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al Health           &amp; </a:t>
            </a:r>
          </a:p>
          <a:p>
            <a:pPr algn="ctr">
              <a:lnSpc>
                <a:spcPts val="5380"/>
              </a:lnSpc>
            </a:pPr>
            <a:r>
              <a:rPr lang="en-US" b="true" sz="5380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Sentiment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35682" y="3524202"/>
            <a:ext cx="7057610" cy="512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naly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zes surveys and feedback.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Can use emails with consent and chatbot conversations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Detects stress, anxiety, burnout.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NLP, sentiment analysis, emotion detection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89827" y="2430857"/>
            <a:ext cx="566947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Sentiment and Mental Health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408472"/>
            <a:ext cx="10299230" cy="5254645"/>
            <a:chOff x="0" y="0"/>
            <a:chExt cx="1069011" cy="545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011" cy="545407"/>
            </a:xfrm>
            <a:custGeom>
              <a:avLst/>
              <a:gdLst/>
              <a:ahLst/>
              <a:cxnLst/>
              <a:rect r="r" b="b" t="t" l="l"/>
              <a:pathLst>
                <a:path h="545407" w="1069011">
                  <a:moveTo>
                    <a:pt x="8269" y="0"/>
                  </a:moveTo>
                  <a:lnTo>
                    <a:pt x="1060742" y="0"/>
                  </a:lnTo>
                  <a:cubicBezTo>
                    <a:pt x="1062935" y="0"/>
                    <a:pt x="1065038" y="871"/>
                    <a:pt x="1066589" y="2422"/>
                  </a:cubicBezTo>
                  <a:cubicBezTo>
                    <a:pt x="1068139" y="3973"/>
                    <a:pt x="1069011" y="6076"/>
                    <a:pt x="1069011" y="8269"/>
                  </a:cubicBezTo>
                  <a:lnTo>
                    <a:pt x="1069011" y="537138"/>
                  </a:lnTo>
                  <a:cubicBezTo>
                    <a:pt x="1069011" y="539331"/>
                    <a:pt x="1068139" y="541434"/>
                    <a:pt x="1066589" y="542985"/>
                  </a:cubicBezTo>
                  <a:cubicBezTo>
                    <a:pt x="1065038" y="544536"/>
                    <a:pt x="1062935" y="545407"/>
                    <a:pt x="1060742" y="545407"/>
                  </a:cubicBezTo>
                  <a:lnTo>
                    <a:pt x="8269" y="545407"/>
                  </a:lnTo>
                  <a:cubicBezTo>
                    <a:pt x="6076" y="545407"/>
                    <a:pt x="3973" y="544536"/>
                    <a:pt x="2422" y="542985"/>
                  </a:cubicBezTo>
                  <a:cubicBezTo>
                    <a:pt x="871" y="541434"/>
                    <a:pt x="0" y="539331"/>
                    <a:pt x="0" y="537138"/>
                  </a:cubicBezTo>
                  <a:lnTo>
                    <a:pt x="0" y="8269"/>
                  </a:lnTo>
                  <a:cubicBezTo>
                    <a:pt x="0" y="6076"/>
                    <a:pt x="871" y="3973"/>
                    <a:pt x="2422" y="2422"/>
                  </a:cubicBezTo>
                  <a:cubicBezTo>
                    <a:pt x="3973" y="871"/>
                    <a:pt x="6076" y="0"/>
                    <a:pt x="8269" y="0"/>
                  </a:cubicBezTo>
                  <a:close/>
                </a:path>
              </a:pathLst>
            </a:custGeom>
            <a:blipFill>
              <a:blip r:embed="rId4"/>
              <a:stretch>
                <a:fillRect l="-389" t="0" r="-389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80205" y="3231037"/>
            <a:ext cx="7506022" cy="5891668"/>
            <a:chOff x="0" y="0"/>
            <a:chExt cx="1863135" cy="1462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3135" cy="1462422"/>
            </a:xfrm>
            <a:custGeom>
              <a:avLst/>
              <a:gdLst/>
              <a:ahLst/>
              <a:cxnLst/>
              <a:rect r="r" b="b" t="t" l="l"/>
              <a:pathLst>
                <a:path h="1462422" w="1863135">
                  <a:moveTo>
                    <a:pt x="36100" y="0"/>
                  </a:moveTo>
                  <a:lnTo>
                    <a:pt x="1827035" y="0"/>
                  </a:lnTo>
                  <a:cubicBezTo>
                    <a:pt x="1836609" y="0"/>
                    <a:pt x="1845791" y="3803"/>
                    <a:pt x="1852561" y="10573"/>
                  </a:cubicBezTo>
                  <a:cubicBezTo>
                    <a:pt x="1859331" y="17343"/>
                    <a:pt x="1863135" y="26526"/>
                    <a:pt x="1863135" y="36100"/>
                  </a:cubicBezTo>
                  <a:lnTo>
                    <a:pt x="1863135" y="1426322"/>
                  </a:lnTo>
                  <a:cubicBezTo>
                    <a:pt x="1863135" y="1435896"/>
                    <a:pt x="1859331" y="1445078"/>
                    <a:pt x="1852561" y="1451848"/>
                  </a:cubicBezTo>
                  <a:cubicBezTo>
                    <a:pt x="1845791" y="1458618"/>
                    <a:pt x="1836609" y="1462422"/>
                    <a:pt x="1827035" y="1462422"/>
                  </a:cubicBezTo>
                  <a:lnTo>
                    <a:pt x="36100" y="1462422"/>
                  </a:lnTo>
                  <a:cubicBezTo>
                    <a:pt x="26526" y="1462422"/>
                    <a:pt x="17343" y="1458618"/>
                    <a:pt x="10573" y="1451848"/>
                  </a:cubicBezTo>
                  <a:cubicBezTo>
                    <a:pt x="3803" y="1445078"/>
                    <a:pt x="0" y="1435896"/>
                    <a:pt x="0" y="1426322"/>
                  </a:cubicBezTo>
                  <a:lnTo>
                    <a:pt x="0" y="36100"/>
                  </a:lnTo>
                  <a:cubicBezTo>
                    <a:pt x="0" y="26526"/>
                    <a:pt x="3803" y="17343"/>
                    <a:pt x="10573" y="10573"/>
                  </a:cubicBezTo>
                  <a:cubicBezTo>
                    <a:pt x="17343" y="3803"/>
                    <a:pt x="26526" y="0"/>
                    <a:pt x="36100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63135" cy="1510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2305122">
            <a:off x="16781213" y="9523034"/>
            <a:ext cx="2603929" cy="980024"/>
          </a:xfrm>
          <a:custGeom>
            <a:avLst/>
            <a:gdLst/>
            <a:ahLst/>
            <a:cxnLst/>
            <a:rect r="r" b="b" t="t" l="l"/>
            <a:pathLst>
              <a:path h="980024" w="2603929">
                <a:moveTo>
                  <a:pt x="0" y="980024"/>
                </a:moveTo>
                <a:lnTo>
                  <a:pt x="2603929" y="980024"/>
                </a:lnTo>
                <a:lnTo>
                  <a:pt x="2603929" y="0"/>
                </a:lnTo>
                <a:lnTo>
                  <a:pt x="0" y="0"/>
                </a:lnTo>
                <a:lnTo>
                  <a:pt x="0" y="98002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76932" y="3284071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true" rot="0">
            <a:off x="1028700" y="25808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62719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8478641">
            <a:off x="16402812" y="410670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6"/>
                </a:moveTo>
                <a:lnTo>
                  <a:pt x="2323357" y="874426"/>
                </a:lnTo>
                <a:lnTo>
                  <a:pt x="2323357" y="0"/>
                </a:lnTo>
                <a:lnTo>
                  <a:pt x="0" y="0"/>
                </a:lnTo>
                <a:lnTo>
                  <a:pt x="0" y="8744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41042" y="1690149"/>
            <a:ext cx="3367713" cy="2727848"/>
          </a:xfrm>
          <a:custGeom>
            <a:avLst/>
            <a:gdLst/>
            <a:ahLst/>
            <a:cxnLst/>
            <a:rect r="r" b="b" t="t" l="l"/>
            <a:pathLst>
              <a:path h="2727848" w="3367713">
                <a:moveTo>
                  <a:pt x="0" y="0"/>
                </a:moveTo>
                <a:lnTo>
                  <a:pt x="3367713" y="0"/>
                </a:lnTo>
                <a:lnTo>
                  <a:pt x="3367713" y="2727848"/>
                </a:lnTo>
                <a:lnTo>
                  <a:pt x="0" y="27278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25341" y="3313097"/>
            <a:ext cx="58062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Employee Performance Metrics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1283653">
            <a:off x="17085174" y="2687986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9675" y="652227"/>
            <a:ext cx="6126175" cy="249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0"/>
              </a:lnSpc>
            </a:pPr>
            <a:r>
              <a:rPr lang="en-US" sz="60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Performance</a:t>
            </a:r>
          </a:p>
          <a:p>
            <a:pPr algn="ctr">
              <a:lnSpc>
                <a:spcPts val="6080"/>
              </a:lnSpc>
            </a:pPr>
            <a:r>
              <a:rPr lang="en-US" sz="60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 &amp; </a:t>
            </a:r>
          </a:p>
          <a:p>
            <a:pPr algn="ctr">
              <a:lnSpc>
                <a:spcPts val="6080"/>
              </a:lnSpc>
            </a:pPr>
            <a:r>
              <a:rPr lang="en-US" sz="60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AI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7303" y="4565915"/>
            <a:ext cx="7197629" cy="45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Tr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ack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 absenteeism and workforce health risk.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Me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asures wellness program effectiveness.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Helps admin monitor employee performance trends.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595403" y="3400727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5"/>
                </a:lnTo>
                <a:lnTo>
                  <a:pt x="0" y="654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44673" y="313248"/>
            <a:ext cx="2705499" cy="2746699"/>
          </a:xfrm>
          <a:custGeom>
            <a:avLst/>
            <a:gdLst/>
            <a:ahLst/>
            <a:cxnLst/>
            <a:rect r="r" b="b" t="t" l="l"/>
            <a:pathLst>
              <a:path h="2746699" w="2705499">
                <a:moveTo>
                  <a:pt x="0" y="0"/>
                </a:moveTo>
                <a:lnTo>
                  <a:pt x="2705499" y="0"/>
                </a:lnTo>
                <a:lnTo>
                  <a:pt x="2705499" y="2746700"/>
                </a:lnTo>
                <a:lnTo>
                  <a:pt x="0" y="274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9055050">
            <a:off x="16167662" y="9395472"/>
            <a:ext cx="3262318" cy="1227818"/>
          </a:xfrm>
          <a:custGeom>
            <a:avLst/>
            <a:gdLst/>
            <a:ahLst/>
            <a:cxnLst/>
            <a:rect r="r" b="b" t="t" l="l"/>
            <a:pathLst>
              <a:path h="1227818" w="3262318">
                <a:moveTo>
                  <a:pt x="0" y="1227818"/>
                </a:moveTo>
                <a:lnTo>
                  <a:pt x="3262318" y="1227818"/>
                </a:lnTo>
                <a:lnTo>
                  <a:pt x="3262318" y="0"/>
                </a:lnTo>
                <a:lnTo>
                  <a:pt x="0" y="0"/>
                </a:lnTo>
                <a:lnTo>
                  <a:pt x="0" y="122781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4836" y="1752912"/>
            <a:ext cx="5549698" cy="8342706"/>
            <a:chOff x="0" y="0"/>
            <a:chExt cx="1097159" cy="16493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159" cy="1649328"/>
            </a:xfrm>
            <a:custGeom>
              <a:avLst/>
              <a:gdLst/>
              <a:ahLst/>
              <a:cxnLst/>
              <a:rect r="r" b="b" t="t" l="l"/>
              <a:pathLst>
                <a:path h="1649328" w="1097159">
                  <a:moveTo>
                    <a:pt x="48826" y="0"/>
                  </a:moveTo>
                  <a:lnTo>
                    <a:pt x="1048333" y="0"/>
                  </a:lnTo>
                  <a:cubicBezTo>
                    <a:pt x="1075299" y="0"/>
                    <a:pt x="1097159" y="21860"/>
                    <a:pt x="1097159" y="48826"/>
                  </a:cubicBezTo>
                  <a:lnTo>
                    <a:pt x="1097159" y="1600503"/>
                  </a:lnTo>
                  <a:cubicBezTo>
                    <a:pt x="1097159" y="1627468"/>
                    <a:pt x="1075299" y="1649328"/>
                    <a:pt x="1048333" y="1649328"/>
                  </a:cubicBezTo>
                  <a:lnTo>
                    <a:pt x="48826" y="1649328"/>
                  </a:lnTo>
                  <a:cubicBezTo>
                    <a:pt x="21860" y="1649328"/>
                    <a:pt x="0" y="1627468"/>
                    <a:pt x="0" y="1600503"/>
                  </a:cubicBezTo>
                  <a:lnTo>
                    <a:pt x="0" y="48826"/>
                  </a:lnTo>
                  <a:cubicBezTo>
                    <a:pt x="0" y="21860"/>
                    <a:pt x="21860" y="0"/>
                    <a:pt x="48826" y="0"/>
                  </a:cubicBezTo>
                  <a:close/>
                </a:path>
              </a:pathLst>
            </a:custGeom>
            <a:blipFill>
              <a:blip r:embed="rId8"/>
              <a:stretch>
                <a:fillRect l="-387" t="0" r="-38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594088" y="3183412"/>
            <a:ext cx="8495789" cy="5293985"/>
            <a:chOff x="0" y="0"/>
            <a:chExt cx="2108813" cy="13140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8813" cy="1314066"/>
            </a:xfrm>
            <a:custGeom>
              <a:avLst/>
              <a:gdLst/>
              <a:ahLst/>
              <a:cxnLst/>
              <a:rect r="r" b="b" t="t" l="l"/>
              <a:pathLst>
                <a:path h="1314066" w="2108813">
                  <a:moveTo>
                    <a:pt x="31894" y="0"/>
                  </a:moveTo>
                  <a:lnTo>
                    <a:pt x="2076919" y="0"/>
                  </a:lnTo>
                  <a:cubicBezTo>
                    <a:pt x="2085378" y="0"/>
                    <a:pt x="2093490" y="3360"/>
                    <a:pt x="2099471" y="9342"/>
                  </a:cubicBezTo>
                  <a:cubicBezTo>
                    <a:pt x="2105453" y="15323"/>
                    <a:pt x="2108813" y="23435"/>
                    <a:pt x="2108813" y="31894"/>
                  </a:cubicBezTo>
                  <a:lnTo>
                    <a:pt x="2108813" y="1282171"/>
                  </a:lnTo>
                  <a:cubicBezTo>
                    <a:pt x="2108813" y="1299786"/>
                    <a:pt x="2094534" y="1314066"/>
                    <a:pt x="2076919" y="1314066"/>
                  </a:cubicBezTo>
                  <a:lnTo>
                    <a:pt x="31894" y="1314066"/>
                  </a:lnTo>
                  <a:cubicBezTo>
                    <a:pt x="23435" y="1314066"/>
                    <a:pt x="15323" y="1310705"/>
                    <a:pt x="9342" y="1304724"/>
                  </a:cubicBezTo>
                  <a:cubicBezTo>
                    <a:pt x="3360" y="1298743"/>
                    <a:pt x="0" y="1290630"/>
                    <a:pt x="0" y="1282171"/>
                  </a:cubicBezTo>
                  <a:lnTo>
                    <a:pt x="0" y="31894"/>
                  </a:lnTo>
                  <a:cubicBezTo>
                    <a:pt x="0" y="23435"/>
                    <a:pt x="3360" y="15323"/>
                    <a:pt x="9342" y="9342"/>
                  </a:cubicBezTo>
                  <a:cubicBezTo>
                    <a:pt x="15323" y="3360"/>
                    <a:pt x="23435" y="0"/>
                    <a:pt x="31894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8813" cy="1361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719659" y="3297169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4"/>
                </a:lnTo>
                <a:lnTo>
                  <a:pt x="0" y="6540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1377187" y="1378530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10646351">
            <a:off x="8058308" y="-45821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66484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8651672">
            <a:off x="-1149685" y="-183519"/>
            <a:ext cx="2639823" cy="993533"/>
          </a:xfrm>
          <a:custGeom>
            <a:avLst/>
            <a:gdLst/>
            <a:ahLst/>
            <a:cxnLst/>
            <a:rect r="r" b="b" t="t" l="l"/>
            <a:pathLst>
              <a:path h="993533" w="2639823">
                <a:moveTo>
                  <a:pt x="0" y="993534"/>
                </a:moveTo>
                <a:lnTo>
                  <a:pt x="2639823" y="993534"/>
                </a:lnTo>
                <a:lnTo>
                  <a:pt x="2639823" y="0"/>
                </a:lnTo>
                <a:lnTo>
                  <a:pt x="0" y="0"/>
                </a:lnTo>
                <a:lnTo>
                  <a:pt x="0" y="9935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25900" y="3348648"/>
            <a:ext cx="5918178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Chatbot Support and Assistance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607155">
            <a:off x="15420120" y="2701084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5" y="0"/>
                </a:lnTo>
                <a:lnTo>
                  <a:pt x="1339515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77187" y="392875"/>
            <a:ext cx="7462411" cy="96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1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Chatbot Module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09050" y="4073973"/>
            <a:ext cx="8465866" cy="424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844" indent="-326422" lvl="1">
              <a:lnSpc>
                <a:spcPts val="4233"/>
              </a:lnSpc>
              <a:buFont typeface="Arial"/>
              <a:buChar char="•"/>
            </a:pP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AI-powered wellnes</a:t>
            </a: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 assistant for employees.</a:t>
            </a:r>
          </a:p>
          <a:p>
            <a:pPr algn="l">
              <a:lnSpc>
                <a:spcPts val="4233"/>
              </a:lnSpc>
            </a:pPr>
          </a:p>
          <a:p>
            <a:pPr algn="l" marL="652844" indent="-326422" lvl="1">
              <a:lnSpc>
                <a:spcPts val="4233"/>
              </a:lnSpc>
              <a:buFont typeface="Arial"/>
              <a:buChar char="•"/>
            </a:pP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Answer</a:t>
            </a: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 questions on sleep, diet, exercise, stress, and burnout.</a:t>
            </a:r>
          </a:p>
          <a:p>
            <a:pPr algn="l">
              <a:lnSpc>
                <a:spcPts val="4233"/>
              </a:lnSpc>
            </a:pPr>
          </a:p>
          <a:p>
            <a:pPr algn="l" marL="652844" indent="-326422" lvl="1">
              <a:lnSpc>
                <a:spcPts val="4233"/>
              </a:lnSpc>
              <a:buFont typeface="Arial"/>
              <a:buChar char="•"/>
            </a:pP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Provid</a:t>
            </a: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es interactive chat support inside the user dashboard.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7967" y="166899"/>
            <a:ext cx="10795933" cy="107959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8D1D9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1906792" y="793653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35048" y="1306319"/>
            <a:ext cx="5761486" cy="6096810"/>
          </a:xfrm>
          <a:custGeom>
            <a:avLst/>
            <a:gdLst/>
            <a:ahLst/>
            <a:cxnLst/>
            <a:rect r="r" b="b" t="t" l="l"/>
            <a:pathLst>
              <a:path h="6096810" w="5761486">
                <a:moveTo>
                  <a:pt x="0" y="0"/>
                </a:moveTo>
                <a:lnTo>
                  <a:pt x="5761486" y="0"/>
                </a:lnTo>
                <a:lnTo>
                  <a:pt x="5761486" y="6096811"/>
                </a:lnTo>
                <a:lnTo>
                  <a:pt x="0" y="6096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27275" y="217681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51530">
            <a:off x="4702004" y="4670242"/>
            <a:ext cx="1010924" cy="1789246"/>
          </a:xfrm>
          <a:custGeom>
            <a:avLst/>
            <a:gdLst/>
            <a:ahLst/>
            <a:cxnLst/>
            <a:rect r="r" b="b" t="t" l="l"/>
            <a:pathLst>
              <a:path h="1789246" w="1010924">
                <a:moveTo>
                  <a:pt x="0" y="0"/>
                </a:moveTo>
                <a:lnTo>
                  <a:pt x="1010925" y="0"/>
                </a:lnTo>
                <a:lnTo>
                  <a:pt x="1010925" y="1789247"/>
                </a:lnTo>
                <a:lnTo>
                  <a:pt x="0" y="1789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31505" y="7717152"/>
            <a:ext cx="2827795" cy="1541148"/>
          </a:xfrm>
          <a:custGeom>
            <a:avLst/>
            <a:gdLst/>
            <a:ahLst/>
            <a:cxnLst/>
            <a:rect r="r" b="b" t="t" l="l"/>
            <a:pathLst>
              <a:path h="1541148" w="2827795">
                <a:moveTo>
                  <a:pt x="0" y="0"/>
                </a:moveTo>
                <a:lnTo>
                  <a:pt x="2827795" y="0"/>
                </a:lnTo>
                <a:lnTo>
                  <a:pt x="2827795" y="1541148"/>
                </a:lnTo>
                <a:lnTo>
                  <a:pt x="0" y="1541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83313">
            <a:off x="-789207" y="8676710"/>
            <a:ext cx="3635815" cy="2417817"/>
          </a:xfrm>
          <a:custGeom>
            <a:avLst/>
            <a:gdLst/>
            <a:ahLst/>
            <a:cxnLst/>
            <a:rect r="r" b="b" t="t" l="l"/>
            <a:pathLst>
              <a:path h="2417817" w="3635815">
                <a:moveTo>
                  <a:pt x="0" y="0"/>
                </a:moveTo>
                <a:lnTo>
                  <a:pt x="3635814" y="0"/>
                </a:lnTo>
                <a:lnTo>
                  <a:pt x="3635814" y="2417817"/>
                </a:lnTo>
                <a:lnTo>
                  <a:pt x="0" y="24178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75509">
            <a:off x="2610000" y="1353392"/>
            <a:ext cx="4210636" cy="2589541"/>
          </a:xfrm>
          <a:custGeom>
            <a:avLst/>
            <a:gdLst/>
            <a:ahLst/>
            <a:cxnLst/>
            <a:rect r="r" b="b" t="t" l="l"/>
            <a:pathLst>
              <a:path h="2589541" w="4210636">
                <a:moveTo>
                  <a:pt x="0" y="0"/>
                </a:moveTo>
                <a:lnTo>
                  <a:pt x="4210636" y="0"/>
                </a:lnTo>
                <a:lnTo>
                  <a:pt x="4210636" y="2589541"/>
                </a:lnTo>
                <a:lnTo>
                  <a:pt x="0" y="25895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3167427"/>
            <a:ext cx="11010322" cy="44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b="true" sz="8100" spc="162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Additional</a:t>
            </a:r>
          </a:p>
          <a:p>
            <a:pPr algn="ctr">
              <a:lnSpc>
                <a:spcPts val="11340"/>
              </a:lnSpc>
            </a:pPr>
            <a:r>
              <a:rPr lang="en-US" b="true" sz="8100" spc="162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 </a:t>
            </a:r>
          </a:p>
          <a:p>
            <a:pPr algn="ctr">
              <a:lnSpc>
                <a:spcPts val="11340"/>
              </a:lnSpc>
            </a:pPr>
            <a:r>
              <a:rPr lang="en-US" b="true" sz="8100" spc="162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Features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7967" y="166899"/>
            <a:ext cx="10795933" cy="107959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8D1D9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518470">
            <a:off x="622" y="9161513"/>
            <a:ext cx="2300492" cy="794715"/>
          </a:xfrm>
          <a:custGeom>
            <a:avLst/>
            <a:gdLst/>
            <a:ahLst/>
            <a:cxnLst/>
            <a:rect r="r" b="b" t="t" l="l"/>
            <a:pathLst>
              <a:path h="794715" w="2300492">
                <a:moveTo>
                  <a:pt x="0" y="0"/>
                </a:moveTo>
                <a:lnTo>
                  <a:pt x="2300492" y="0"/>
                </a:lnTo>
                <a:lnTo>
                  <a:pt x="2300492" y="794716"/>
                </a:lnTo>
                <a:lnTo>
                  <a:pt x="0" y="794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83226" y="1323975"/>
            <a:ext cx="2921547" cy="2921547"/>
          </a:xfrm>
          <a:custGeom>
            <a:avLst/>
            <a:gdLst/>
            <a:ahLst/>
            <a:cxnLst/>
            <a:rect r="r" b="b" t="t" l="l"/>
            <a:pathLst>
              <a:path h="2921547" w="2921547">
                <a:moveTo>
                  <a:pt x="0" y="0"/>
                </a:moveTo>
                <a:lnTo>
                  <a:pt x="2921548" y="0"/>
                </a:lnTo>
                <a:lnTo>
                  <a:pt x="2921548" y="2921547"/>
                </a:lnTo>
                <a:lnTo>
                  <a:pt x="0" y="29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64995">
            <a:off x="-11150" y="306207"/>
            <a:ext cx="2324037" cy="802849"/>
          </a:xfrm>
          <a:custGeom>
            <a:avLst/>
            <a:gdLst/>
            <a:ahLst/>
            <a:cxnLst/>
            <a:rect r="r" b="b" t="t" l="l"/>
            <a:pathLst>
              <a:path h="802849" w="2324037">
                <a:moveTo>
                  <a:pt x="0" y="0"/>
                </a:moveTo>
                <a:lnTo>
                  <a:pt x="2324037" y="0"/>
                </a:lnTo>
                <a:lnTo>
                  <a:pt x="2324037" y="802849"/>
                </a:lnTo>
                <a:lnTo>
                  <a:pt x="0" y="802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6861" y="3086100"/>
            <a:ext cx="2489454" cy="4114800"/>
          </a:xfrm>
          <a:custGeom>
            <a:avLst/>
            <a:gdLst/>
            <a:ahLst/>
            <a:cxnLst/>
            <a:rect r="r" b="b" t="t" l="l"/>
            <a:pathLst>
              <a:path h="4114800" w="2489454">
                <a:moveTo>
                  <a:pt x="0" y="0"/>
                </a:moveTo>
                <a:lnTo>
                  <a:pt x="2489454" y="0"/>
                </a:lnTo>
                <a:lnTo>
                  <a:pt x="24894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16254" y="8830742"/>
            <a:ext cx="1855492" cy="1605000"/>
          </a:xfrm>
          <a:custGeom>
            <a:avLst/>
            <a:gdLst/>
            <a:ahLst/>
            <a:cxnLst/>
            <a:rect r="r" b="b" t="t" l="l"/>
            <a:pathLst>
              <a:path h="1605000" w="1855492">
                <a:moveTo>
                  <a:pt x="0" y="0"/>
                </a:moveTo>
                <a:lnTo>
                  <a:pt x="1855492" y="0"/>
                </a:lnTo>
                <a:lnTo>
                  <a:pt x="1855492" y="1605001"/>
                </a:lnTo>
                <a:lnTo>
                  <a:pt x="0" y="1605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19380" y="7601488"/>
            <a:ext cx="2587904" cy="2458509"/>
          </a:xfrm>
          <a:custGeom>
            <a:avLst/>
            <a:gdLst/>
            <a:ahLst/>
            <a:cxnLst/>
            <a:rect r="r" b="b" t="t" l="l"/>
            <a:pathLst>
              <a:path h="2458509" w="2587904">
                <a:moveTo>
                  <a:pt x="0" y="0"/>
                </a:moveTo>
                <a:lnTo>
                  <a:pt x="2587904" y="0"/>
                </a:lnTo>
                <a:lnTo>
                  <a:pt x="2587904" y="2458509"/>
                </a:lnTo>
                <a:lnTo>
                  <a:pt x="0" y="2458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56238" y="166899"/>
            <a:ext cx="2326283" cy="1546978"/>
          </a:xfrm>
          <a:custGeom>
            <a:avLst/>
            <a:gdLst/>
            <a:ahLst/>
            <a:cxnLst/>
            <a:rect r="r" b="b" t="t" l="l"/>
            <a:pathLst>
              <a:path h="1546978" w="2326283">
                <a:moveTo>
                  <a:pt x="0" y="0"/>
                </a:moveTo>
                <a:lnTo>
                  <a:pt x="2326284" y="0"/>
                </a:lnTo>
                <a:lnTo>
                  <a:pt x="2326284" y="1546978"/>
                </a:lnTo>
                <a:lnTo>
                  <a:pt x="0" y="15469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68670" y="4414573"/>
            <a:ext cx="12350710" cy="185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99"/>
              </a:lnSpc>
            </a:pPr>
            <a:r>
              <a:rPr lang="en-US" b="true" sz="9499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Admin Dashboard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2253" y="6434662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5"/>
                </a:lnTo>
                <a:lnTo>
                  <a:pt x="0" y="617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134215">
            <a:off x="16219285" y="9410746"/>
            <a:ext cx="3181151" cy="1197270"/>
          </a:xfrm>
          <a:custGeom>
            <a:avLst/>
            <a:gdLst/>
            <a:ahLst/>
            <a:cxnLst/>
            <a:rect r="r" b="b" t="t" l="l"/>
            <a:pathLst>
              <a:path h="1197270" w="3181151">
                <a:moveTo>
                  <a:pt x="0" y="1197270"/>
                </a:moveTo>
                <a:lnTo>
                  <a:pt x="3181151" y="1197270"/>
                </a:lnTo>
                <a:lnTo>
                  <a:pt x="3181151" y="0"/>
                </a:lnTo>
                <a:lnTo>
                  <a:pt x="0" y="0"/>
                </a:lnTo>
                <a:lnTo>
                  <a:pt x="0" y="119727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7050547" y="1298839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225065" y="78494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9340" y="2056453"/>
            <a:ext cx="9618321" cy="5679477"/>
            <a:chOff x="0" y="0"/>
            <a:chExt cx="1958915" cy="1156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8915" cy="1156710"/>
            </a:xfrm>
            <a:custGeom>
              <a:avLst/>
              <a:gdLst/>
              <a:ahLst/>
              <a:cxnLst/>
              <a:rect r="r" b="b" t="t" l="l"/>
              <a:pathLst>
                <a:path h="1156710" w="1958915">
                  <a:moveTo>
                    <a:pt x="12074" y="0"/>
                  </a:moveTo>
                  <a:lnTo>
                    <a:pt x="1946841" y="0"/>
                  </a:lnTo>
                  <a:cubicBezTo>
                    <a:pt x="1950043" y="0"/>
                    <a:pt x="1953114" y="1272"/>
                    <a:pt x="1955378" y="3536"/>
                  </a:cubicBezTo>
                  <a:cubicBezTo>
                    <a:pt x="1957643" y="5801"/>
                    <a:pt x="1958915" y="8872"/>
                    <a:pt x="1958915" y="12074"/>
                  </a:cubicBezTo>
                  <a:lnTo>
                    <a:pt x="1958915" y="1144637"/>
                  </a:lnTo>
                  <a:cubicBezTo>
                    <a:pt x="1958915" y="1151305"/>
                    <a:pt x="1953509" y="1156710"/>
                    <a:pt x="1946841" y="1156710"/>
                  </a:cubicBezTo>
                  <a:lnTo>
                    <a:pt x="12074" y="1156710"/>
                  </a:lnTo>
                  <a:cubicBezTo>
                    <a:pt x="5406" y="1156710"/>
                    <a:pt x="0" y="1151305"/>
                    <a:pt x="0" y="1144637"/>
                  </a:cubicBezTo>
                  <a:lnTo>
                    <a:pt x="0" y="12074"/>
                  </a:lnTo>
                  <a:cubicBezTo>
                    <a:pt x="0" y="5406"/>
                    <a:pt x="5406" y="0"/>
                    <a:pt x="12074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6450" r="0" b="-645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41512" y="9706098"/>
            <a:ext cx="2318611" cy="1078154"/>
          </a:xfrm>
          <a:custGeom>
            <a:avLst/>
            <a:gdLst/>
            <a:ahLst/>
            <a:cxnLst/>
            <a:rect r="r" b="b" t="t" l="l"/>
            <a:pathLst>
              <a:path h="1078154" w="2318611">
                <a:moveTo>
                  <a:pt x="0" y="0"/>
                </a:moveTo>
                <a:lnTo>
                  <a:pt x="2318612" y="0"/>
                </a:lnTo>
                <a:lnTo>
                  <a:pt x="2318612" y="1078155"/>
                </a:lnTo>
                <a:lnTo>
                  <a:pt x="0" y="10781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991287" y="6045581"/>
            <a:ext cx="7469460" cy="3686180"/>
            <a:chOff x="0" y="0"/>
            <a:chExt cx="1854059" cy="914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4059" cy="914979"/>
            </a:xfrm>
            <a:custGeom>
              <a:avLst/>
              <a:gdLst/>
              <a:ahLst/>
              <a:cxnLst/>
              <a:rect r="r" b="b" t="t" l="l"/>
              <a:pathLst>
                <a:path h="914979" w="1854059">
                  <a:moveTo>
                    <a:pt x="36277" y="0"/>
                  </a:moveTo>
                  <a:lnTo>
                    <a:pt x="1817782" y="0"/>
                  </a:lnTo>
                  <a:cubicBezTo>
                    <a:pt x="1827404" y="0"/>
                    <a:pt x="1836631" y="3822"/>
                    <a:pt x="1843434" y="10625"/>
                  </a:cubicBezTo>
                  <a:cubicBezTo>
                    <a:pt x="1850237" y="17428"/>
                    <a:pt x="1854059" y="26656"/>
                    <a:pt x="1854059" y="36277"/>
                  </a:cubicBezTo>
                  <a:lnTo>
                    <a:pt x="1854059" y="878702"/>
                  </a:lnTo>
                  <a:cubicBezTo>
                    <a:pt x="1854059" y="898737"/>
                    <a:pt x="1837817" y="914979"/>
                    <a:pt x="1817782" y="914979"/>
                  </a:cubicBezTo>
                  <a:lnTo>
                    <a:pt x="36277" y="914979"/>
                  </a:lnTo>
                  <a:cubicBezTo>
                    <a:pt x="26656" y="914979"/>
                    <a:pt x="17428" y="911157"/>
                    <a:pt x="10625" y="904353"/>
                  </a:cubicBezTo>
                  <a:cubicBezTo>
                    <a:pt x="3822" y="897550"/>
                    <a:pt x="0" y="888323"/>
                    <a:pt x="0" y="878702"/>
                  </a:cubicBezTo>
                  <a:lnTo>
                    <a:pt x="0" y="36277"/>
                  </a:lnTo>
                  <a:cubicBezTo>
                    <a:pt x="0" y="26656"/>
                    <a:pt x="3822" y="17428"/>
                    <a:pt x="10625" y="10625"/>
                  </a:cubicBezTo>
                  <a:cubicBezTo>
                    <a:pt x="17428" y="3822"/>
                    <a:pt x="26656" y="0"/>
                    <a:pt x="36277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54059" cy="96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41577" y="6176411"/>
            <a:ext cx="516503" cy="516503"/>
          </a:xfrm>
          <a:custGeom>
            <a:avLst/>
            <a:gdLst/>
            <a:ahLst/>
            <a:cxnLst/>
            <a:rect r="r" b="b" t="t" l="l"/>
            <a:pathLst>
              <a:path h="516503" w="516503">
                <a:moveTo>
                  <a:pt x="0" y="0"/>
                </a:moveTo>
                <a:lnTo>
                  <a:pt x="516503" y="0"/>
                </a:lnTo>
                <a:lnTo>
                  <a:pt x="516503" y="516503"/>
                </a:lnTo>
                <a:lnTo>
                  <a:pt x="0" y="5165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765157">
            <a:off x="16572940" y="5624094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246913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491815" y="78494"/>
            <a:ext cx="1412757" cy="1633246"/>
          </a:xfrm>
          <a:custGeom>
            <a:avLst/>
            <a:gdLst/>
            <a:ahLst/>
            <a:cxnLst/>
            <a:rect r="r" b="b" t="t" l="l"/>
            <a:pathLst>
              <a:path h="1633246" w="1412757">
                <a:moveTo>
                  <a:pt x="0" y="0"/>
                </a:moveTo>
                <a:lnTo>
                  <a:pt x="1412758" y="0"/>
                </a:lnTo>
                <a:lnTo>
                  <a:pt x="1412758" y="1633246"/>
                </a:lnTo>
                <a:lnTo>
                  <a:pt x="0" y="16332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59396" y="1184539"/>
            <a:ext cx="4715746" cy="4668588"/>
          </a:xfrm>
          <a:custGeom>
            <a:avLst/>
            <a:gdLst/>
            <a:ahLst/>
            <a:cxnLst/>
            <a:rect r="r" b="b" t="t" l="l"/>
            <a:pathLst>
              <a:path h="4668588" w="4715746">
                <a:moveTo>
                  <a:pt x="0" y="0"/>
                </a:moveTo>
                <a:lnTo>
                  <a:pt x="4715745" y="0"/>
                </a:lnTo>
                <a:lnTo>
                  <a:pt x="4715745" y="4668588"/>
                </a:lnTo>
                <a:lnTo>
                  <a:pt x="0" y="46685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31241" y="8859862"/>
            <a:ext cx="1772222" cy="1692472"/>
          </a:xfrm>
          <a:custGeom>
            <a:avLst/>
            <a:gdLst/>
            <a:ahLst/>
            <a:cxnLst/>
            <a:rect r="r" b="b" t="t" l="l"/>
            <a:pathLst>
              <a:path h="1692472" w="1772222">
                <a:moveTo>
                  <a:pt x="0" y="0"/>
                </a:moveTo>
                <a:lnTo>
                  <a:pt x="1772223" y="0"/>
                </a:lnTo>
                <a:lnTo>
                  <a:pt x="1772223" y="1692473"/>
                </a:lnTo>
                <a:lnTo>
                  <a:pt x="0" y="16924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093039" y="6155666"/>
            <a:ext cx="531473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Analytics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75613" y="6732053"/>
            <a:ext cx="7469460" cy="292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629" indent="-259815" lvl="1">
              <a:lnSpc>
                <a:spcPts val="3369"/>
              </a:lnSpc>
              <a:buFont typeface="Arial"/>
              <a:buChar char="•"/>
            </a:pPr>
            <a:r>
              <a:rPr lang="en-US" sz="240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Broadcasting: </a:t>
            </a:r>
            <a:r>
              <a:rPr lang="en-US" sz="240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Sends organization-wide announcements and updates to all employees simultaneously.</a:t>
            </a:r>
          </a:p>
          <a:p>
            <a:pPr algn="l">
              <a:lnSpc>
                <a:spcPts val="3369"/>
              </a:lnSpc>
            </a:pPr>
          </a:p>
          <a:p>
            <a:pPr algn="l" marL="519629" indent="-259815" lvl="1">
              <a:lnSpc>
                <a:spcPts val="3369"/>
              </a:lnSpc>
              <a:buFont typeface="Arial"/>
              <a:buChar char="•"/>
            </a:pPr>
            <a:r>
              <a:rPr lang="en-US" sz="240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Targeted Messaging: Delivers tailored notifications, wellness reminders, or private alerts to individual employees.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72609" y="193276"/>
            <a:ext cx="8374967" cy="101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5964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Notification Center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2253" y="6434662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5"/>
                </a:lnTo>
                <a:lnTo>
                  <a:pt x="0" y="617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78067" y="965252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44944">
            <a:off x="16835020" y="9805653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7"/>
                </a:moveTo>
                <a:lnTo>
                  <a:pt x="2323356" y="874427"/>
                </a:lnTo>
                <a:lnTo>
                  <a:pt x="2323356" y="0"/>
                </a:lnTo>
                <a:lnTo>
                  <a:pt x="0" y="0"/>
                </a:lnTo>
                <a:lnTo>
                  <a:pt x="0" y="87442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7050547" y="1651264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true" rot="-2196346">
            <a:off x="-269287" y="400384"/>
            <a:ext cx="1736980" cy="600047"/>
          </a:xfrm>
          <a:custGeom>
            <a:avLst/>
            <a:gdLst/>
            <a:ahLst/>
            <a:cxnLst/>
            <a:rect r="r" b="b" t="t" l="l"/>
            <a:pathLst>
              <a:path h="600047" w="1736980">
                <a:moveTo>
                  <a:pt x="0" y="600047"/>
                </a:moveTo>
                <a:lnTo>
                  <a:pt x="1736980" y="600047"/>
                </a:lnTo>
                <a:lnTo>
                  <a:pt x="1736980" y="0"/>
                </a:lnTo>
                <a:lnTo>
                  <a:pt x="0" y="0"/>
                </a:lnTo>
                <a:lnTo>
                  <a:pt x="0" y="6000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6019" y="1845944"/>
            <a:ext cx="9630746" cy="5030597"/>
            <a:chOff x="0" y="0"/>
            <a:chExt cx="1526146" cy="7971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6146" cy="797179"/>
            </a:xfrm>
            <a:custGeom>
              <a:avLst/>
              <a:gdLst/>
              <a:ahLst/>
              <a:cxnLst/>
              <a:rect r="r" b="b" t="t" l="l"/>
              <a:pathLst>
                <a:path h="797179" w="1526146">
                  <a:moveTo>
                    <a:pt x="7235" y="0"/>
                  </a:moveTo>
                  <a:lnTo>
                    <a:pt x="1518911" y="0"/>
                  </a:lnTo>
                  <a:cubicBezTo>
                    <a:pt x="1522907" y="0"/>
                    <a:pt x="1526146" y="3239"/>
                    <a:pt x="1526146" y="7235"/>
                  </a:cubicBezTo>
                  <a:lnTo>
                    <a:pt x="1526146" y="789944"/>
                  </a:lnTo>
                  <a:cubicBezTo>
                    <a:pt x="1526146" y="793940"/>
                    <a:pt x="1522907" y="797179"/>
                    <a:pt x="1518911" y="797179"/>
                  </a:cubicBezTo>
                  <a:lnTo>
                    <a:pt x="7235" y="797179"/>
                  </a:lnTo>
                  <a:cubicBezTo>
                    <a:pt x="3239" y="797179"/>
                    <a:pt x="0" y="793940"/>
                    <a:pt x="0" y="789944"/>
                  </a:cubicBezTo>
                  <a:lnTo>
                    <a:pt x="0" y="7235"/>
                  </a:lnTo>
                  <a:cubicBezTo>
                    <a:pt x="0" y="3239"/>
                    <a:pt x="3239" y="0"/>
                    <a:pt x="7235" y="0"/>
                  </a:cubicBezTo>
                  <a:close/>
                </a:path>
              </a:pathLst>
            </a:custGeom>
            <a:blipFill>
              <a:blip r:embed="rId8"/>
              <a:stretch>
                <a:fillRect l="-672" t="0" r="-672" b="0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643470" y="9706098"/>
            <a:ext cx="2318611" cy="1078154"/>
          </a:xfrm>
          <a:custGeom>
            <a:avLst/>
            <a:gdLst/>
            <a:ahLst/>
            <a:cxnLst/>
            <a:rect r="r" b="b" t="t" l="l"/>
            <a:pathLst>
              <a:path h="1078154" w="2318611">
                <a:moveTo>
                  <a:pt x="0" y="0"/>
                </a:moveTo>
                <a:lnTo>
                  <a:pt x="2318611" y="0"/>
                </a:lnTo>
                <a:lnTo>
                  <a:pt x="2318611" y="1078155"/>
                </a:lnTo>
                <a:lnTo>
                  <a:pt x="0" y="10781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945370" y="6180902"/>
            <a:ext cx="7651195" cy="3628920"/>
            <a:chOff x="0" y="0"/>
            <a:chExt cx="1899169" cy="9007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99169" cy="900765"/>
            </a:xfrm>
            <a:custGeom>
              <a:avLst/>
              <a:gdLst/>
              <a:ahLst/>
              <a:cxnLst/>
              <a:rect r="r" b="b" t="t" l="l"/>
              <a:pathLst>
                <a:path h="900765" w="1899169">
                  <a:moveTo>
                    <a:pt x="35415" y="0"/>
                  </a:moveTo>
                  <a:lnTo>
                    <a:pt x="1863754" y="0"/>
                  </a:lnTo>
                  <a:cubicBezTo>
                    <a:pt x="1873147" y="0"/>
                    <a:pt x="1882155" y="3731"/>
                    <a:pt x="1888796" y="10373"/>
                  </a:cubicBezTo>
                  <a:cubicBezTo>
                    <a:pt x="1895438" y="17014"/>
                    <a:pt x="1899169" y="26022"/>
                    <a:pt x="1899169" y="35415"/>
                  </a:cubicBezTo>
                  <a:lnTo>
                    <a:pt x="1899169" y="865350"/>
                  </a:lnTo>
                  <a:cubicBezTo>
                    <a:pt x="1899169" y="874743"/>
                    <a:pt x="1895438" y="883751"/>
                    <a:pt x="1888796" y="890393"/>
                  </a:cubicBezTo>
                  <a:cubicBezTo>
                    <a:pt x="1882155" y="897034"/>
                    <a:pt x="1873147" y="900765"/>
                    <a:pt x="1863754" y="900765"/>
                  </a:cubicBezTo>
                  <a:lnTo>
                    <a:pt x="35415" y="900765"/>
                  </a:lnTo>
                  <a:cubicBezTo>
                    <a:pt x="26022" y="900765"/>
                    <a:pt x="17014" y="897034"/>
                    <a:pt x="10373" y="890393"/>
                  </a:cubicBezTo>
                  <a:cubicBezTo>
                    <a:pt x="3731" y="883751"/>
                    <a:pt x="0" y="874743"/>
                    <a:pt x="0" y="865350"/>
                  </a:cubicBezTo>
                  <a:lnTo>
                    <a:pt x="0" y="35415"/>
                  </a:lnTo>
                  <a:cubicBezTo>
                    <a:pt x="0" y="26022"/>
                    <a:pt x="3731" y="17014"/>
                    <a:pt x="10373" y="10373"/>
                  </a:cubicBezTo>
                  <a:cubicBezTo>
                    <a:pt x="17014" y="3731"/>
                    <a:pt x="26022" y="0"/>
                    <a:pt x="35415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99169" cy="948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092853" y="6348937"/>
            <a:ext cx="516503" cy="516503"/>
          </a:xfrm>
          <a:custGeom>
            <a:avLst/>
            <a:gdLst/>
            <a:ahLst/>
            <a:cxnLst/>
            <a:rect r="r" b="b" t="t" l="l"/>
            <a:pathLst>
              <a:path h="516503" w="516503">
                <a:moveTo>
                  <a:pt x="0" y="0"/>
                </a:moveTo>
                <a:lnTo>
                  <a:pt x="516503" y="0"/>
                </a:lnTo>
                <a:lnTo>
                  <a:pt x="516503" y="516503"/>
                </a:lnTo>
                <a:lnTo>
                  <a:pt x="0" y="5165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765157">
            <a:off x="16963628" y="5819993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7" y="0"/>
                </a:lnTo>
                <a:lnTo>
                  <a:pt x="1071757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28973" y="992412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97423" y="1508389"/>
            <a:ext cx="4218142" cy="4672513"/>
          </a:xfrm>
          <a:custGeom>
            <a:avLst/>
            <a:gdLst/>
            <a:ahLst/>
            <a:cxnLst/>
            <a:rect r="r" b="b" t="t" l="l"/>
            <a:pathLst>
              <a:path h="4672513" w="4218142">
                <a:moveTo>
                  <a:pt x="0" y="0"/>
                </a:moveTo>
                <a:lnTo>
                  <a:pt x="4218141" y="0"/>
                </a:lnTo>
                <a:lnTo>
                  <a:pt x="4218141" y="4672513"/>
                </a:lnTo>
                <a:lnTo>
                  <a:pt x="0" y="467251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7719" t="0" r="-707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32607" y="179294"/>
            <a:ext cx="1660712" cy="1660712"/>
          </a:xfrm>
          <a:custGeom>
            <a:avLst/>
            <a:gdLst/>
            <a:ahLst/>
            <a:cxnLst/>
            <a:rect r="r" b="b" t="t" l="l"/>
            <a:pathLst>
              <a:path h="1660712" w="1660712">
                <a:moveTo>
                  <a:pt x="0" y="0"/>
                </a:moveTo>
                <a:lnTo>
                  <a:pt x="1660712" y="0"/>
                </a:lnTo>
                <a:lnTo>
                  <a:pt x="1660712" y="1660712"/>
                </a:lnTo>
                <a:lnTo>
                  <a:pt x="0" y="16607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6019" y="6977849"/>
            <a:ext cx="3045132" cy="2831972"/>
          </a:xfrm>
          <a:custGeom>
            <a:avLst/>
            <a:gdLst/>
            <a:ahLst/>
            <a:cxnLst/>
            <a:rect r="r" b="b" t="t" l="l"/>
            <a:pathLst>
              <a:path h="2831972" w="3045132">
                <a:moveTo>
                  <a:pt x="0" y="0"/>
                </a:moveTo>
                <a:lnTo>
                  <a:pt x="3045132" y="0"/>
                </a:lnTo>
                <a:lnTo>
                  <a:pt x="3045132" y="2831973"/>
                </a:lnTo>
                <a:lnTo>
                  <a:pt x="0" y="28319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807255" y="6328634"/>
            <a:ext cx="5263749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Analytics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45370" y="6927952"/>
            <a:ext cx="7651195" cy="2855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815" indent="-251908" lvl="1">
              <a:lnSpc>
                <a:spcPts val="3266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Emergency SOS Dispatch: Instantly alerts admins and emergency contacts with real-time location and vital logs d</a:t>
            </a:r>
            <a:r>
              <a:rPr lang="en-US" sz="233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uring critical health events. </a:t>
            </a:r>
          </a:p>
          <a:p>
            <a:pPr algn="l">
              <a:lnSpc>
                <a:spcPts val="3266"/>
              </a:lnSpc>
            </a:pPr>
          </a:p>
          <a:p>
            <a:pPr algn="l" marL="503815" indent="-251908" lvl="1">
              <a:lnSpc>
                <a:spcPts val="3266"/>
              </a:lnSpc>
              <a:buFont typeface="Arial"/>
              <a:buChar char="•"/>
            </a:pPr>
            <a:r>
              <a:rPr lang="en-US" sz="233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Checkup &amp; Expense Tracking: Simplifies routine checkup scheduling while centralizing health insurance claims and medical expense records.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99755" y="330576"/>
            <a:ext cx="13354021" cy="117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1"/>
              </a:lnSpc>
            </a:pPr>
            <a:r>
              <a:rPr lang="en-US" sz="687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Checkups, SOS &amp; Expenses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9865" y="971667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8064" y="2588267"/>
            <a:ext cx="10412004" cy="5512138"/>
            <a:chOff x="0" y="0"/>
            <a:chExt cx="997143" cy="52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7143" cy="527889"/>
            </a:xfrm>
            <a:custGeom>
              <a:avLst/>
              <a:gdLst/>
              <a:ahLst/>
              <a:cxnLst/>
              <a:rect r="r" b="b" t="t" l="l"/>
              <a:pathLst>
                <a:path h="527889" w="997143">
                  <a:moveTo>
                    <a:pt x="6692" y="0"/>
                  </a:moveTo>
                  <a:lnTo>
                    <a:pt x="990451" y="0"/>
                  </a:lnTo>
                  <a:cubicBezTo>
                    <a:pt x="992225" y="0"/>
                    <a:pt x="993928" y="705"/>
                    <a:pt x="995183" y="1960"/>
                  </a:cubicBezTo>
                  <a:cubicBezTo>
                    <a:pt x="996438" y="3215"/>
                    <a:pt x="997143" y="4917"/>
                    <a:pt x="997143" y="6692"/>
                  </a:cubicBezTo>
                  <a:lnTo>
                    <a:pt x="997143" y="521197"/>
                  </a:lnTo>
                  <a:cubicBezTo>
                    <a:pt x="997143" y="524893"/>
                    <a:pt x="994146" y="527889"/>
                    <a:pt x="990451" y="527889"/>
                  </a:cubicBezTo>
                  <a:lnTo>
                    <a:pt x="6692" y="527889"/>
                  </a:lnTo>
                  <a:cubicBezTo>
                    <a:pt x="2996" y="527889"/>
                    <a:pt x="0" y="524893"/>
                    <a:pt x="0" y="521197"/>
                  </a:cubicBezTo>
                  <a:lnTo>
                    <a:pt x="0" y="6692"/>
                  </a:lnTo>
                  <a:cubicBezTo>
                    <a:pt x="0" y="2996"/>
                    <a:pt x="2996" y="0"/>
                    <a:pt x="669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87" r="0" b="-38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951255" y="6619051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2800" y="9687628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2144944">
            <a:off x="16238342" y="9441836"/>
            <a:ext cx="2781416" cy="1046824"/>
          </a:xfrm>
          <a:custGeom>
            <a:avLst/>
            <a:gdLst/>
            <a:ahLst/>
            <a:cxnLst/>
            <a:rect r="r" b="b" t="t" l="l"/>
            <a:pathLst>
              <a:path h="1046824" w="2781416">
                <a:moveTo>
                  <a:pt x="0" y="1046824"/>
                </a:moveTo>
                <a:lnTo>
                  <a:pt x="2781416" y="1046824"/>
                </a:lnTo>
                <a:lnTo>
                  <a:pt x="2781416" y="0"/>
                </a:lnTo>
                <a:lnTo>
                  <a:pt x="0" y="0"/>
                </a:lnTo>
                <a:lnTo>
                  <a:pt x="0" y="104682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99231" y="5866287"/>
            <a:ext cx="6829819" cy="3839811"/>
            <a:chOff x="0" y="0"/>
            <a:chExt cx="1695288" cy="9531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5288" cy="953113"/>
            </a:xfrm>
            <a:custGeom>
              <a:avLst/>
              <a:gdLst/>
              <a:ahLst/>
              <a:cxnLst/>
              <a:rect r="r" b="b" t="t" l="l"/>
              <a:pathLst>
                <a:path h="953113" w="1695288">
                  <a:moveTo>
                    <a:pt x="39674" y="0"/>
                  </a:moveTo>
                  <a:lnTo>
                    <a:pt x="1655614" y="0"/>
                  </a:lnTo>
                  <a:cubicBezTo>
                    <a:pt x="1666136" y="0"/>
                    <a:pt x="1676228" y="4180"/>
                    <a:pt x="1683668" y="11620"/>
                  </a:cubicBezTo>
                  <a:cubicBezTo>
                    <a:pt x="1691108" y="19061"/>
                    <a:pt x="1695288" y="29152"/>
                    <a:pt x="1695288" y="39674"/>
                  </a:cubicBezTo>
                  <a:lnTo>
                    <a:pt x="1695288" y="913439"/>
                  </a:lnTo>
                  <a:cubicBezTo>
                    <a:pt x="1695288" y="923961"/>
                    <a:pt x="1691108" y="934052"/>
                    <a:pt x="1683668" y="941492"/>
                  </a:cubicBezTo>
                  <a:cubicBezTo>
                    <a:pt x="1676228" y="948933"/>
                    <a:pt x="1666136" y="953113"/>
                    <a:pt x="1655614" y="953113"/>
                  </a:cubicBezTo>
                  <a:lnTo>
                    <a:pt x="39674" y="953113"/>
                  </a:lnTo>
                  <a:cubicBezTo>
                    <a:pt x="29152" y="953113"/>
                    <a:pt x="19061" y="948933"/>
                    <a:pt x="11620" y="941492"/>
                  </a:cubicBezTo>
                  <a:cubicBezTo>
                    <a:pt x="4180" y="934052"/>
                    <a:pt x="0" y="923961"/>
                    <a:pt x="0" y="913439"/>
                  </a:cubicBezTo>
                  <a:lnTo>
                    <a:pt x="0" y="39674"/>
                  </a:lnTo>
                  <a:cubicBezTo>
                    <a:pt x="0" y="29152"/>
                    <a:pt x="4180" y="19061"/>
                    <a:pt x="11620" y="11620"/>
                  </a:cubicBezTo>
                  <a:cubicBezTo>
                    <a:pt x="19061" y="4180"/>
                    <a:pt x="29152" y="0"/>
                    <a:pt x="39674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95288" cy="1000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17152" y="6003431"/>
            <a:ext cx="580070" cy="580070"/>
          </a:xfrm>
          <a:custGeom>
            <a:avLst/>
            <a:gdLst/>
            <a:ahLst/>
            <a:cxnLst/>
            <a:rect r="r" b="b" t="t" l="l"/>
            <a:pathLst>
              <a:path h="580070" w="580070">
                <a:moveTo>
                  <a:pt x="0" y="0"/>
                </a:moveTo>
                <a:lnTo>
                  <a:pt x="580070" y="0"/>
                </a:lnTo>
                <a:lnTo>
                  <a:pt x="580070" y="580070"/>
                </a:lnTo>
                <a:lnTo>
                  <a:pt x="0" y="5800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7032926" y="1533042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true" rot="0">
            <a:off x="0" y="16421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02230" y="9819105"/>
            <a:ext cx="2012451" cy="935790"/>
          </a:xfrm>
          <a:custGeom>
            <a:avLst/>
            <a:gdLst/>
            <a:ahLst/>
            <a:cxnLst/>
            <a:rect r="r" b="b" t="t" l="l"/>
            <a:pathLst>
              <a:path h="935790" w="2012451">
                <a:moveTo>
                  <a:pt x="0" y="0"/>
                </a:moveTo>
                <a:lnTo>
                  <a:pt x="2012452" y="0"/>
                </a:lnTo>
                <a:lnTo>
                  <a:pt x="2012452" y="935790"/>
                </a:lnTo>
                <a:lnTo>
                  <a:pt x="0" y="935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765157">
            <a:off x="16963628" y="5427918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7" y="0"/>
                </a:lnTo>
                <a:lnTo>
                  <a:pt x="1071757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264219" y="164676"/>
            <a:ext cx="1828622" cy="1728048"/>
          </a:xfrm>
          <a:custGeom>
            <a:avLst/>
            <a:gdLst/>
            <a:ahLst/>
            <a:cxnLst/>
            <a:rect r="r" b="b" t="t" l="l"/>
            <a:pathLst>
              <a:path h="1728048" w="1828622">
                <a:moveTo>
                  <a:pt x="0" y="0"/>
                </a:moveTo>
                <a:lnTo>
                  <a:pt x="1828622" y="0"/>
                </a:lnTo>
                <a:lnTo>
                  <a:pt x="1828622" y="1728048"/>
                </a:lnTo>
                <a:lnTo>
                  <a:pt x="0" y="172804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562294" y="15330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701631" y="6044268"/>
            <a:ext cx="4905161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Analytics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15204" y="6685726"/>
            <a:ext cx="6913846" cy="305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034" indent="-269517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Claims Management: Monitors the status of submitted</a:t>
            </a:r>
            <a:r>
              <a:rPr lang="en-US" sz="24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employee medical claims from filing to approval.</a:t>
            </a:r>
          </a:p>
          <a:p>
            <a:pPr algn="l">
              <a:lnSpc>
                <a:spcPts val="3495"/>
              </a:lnSpc>
            </a:pPr>
          </a:p>
          <a:p>
            <a:pPr algn="l" marL="539034" indent="-269517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Policy Monitoring: Tracks active insurance coverage, renewal dates, and individual benefit limits in real 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49790" y="221879"/>
            <a:ext cx="10964892" cy="117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1"/>
              </a:lnSpc>
            </a:pPr>
            <a:r>
              <a:rPr lang="en-US" sz="687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Insurance Management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51255" y="6619051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59613" y="9687628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7059" y="2040177"/>
            <a:ext cx="10509297" cy="5457539"/>
            <a:chOff x="0" y="0"/>
            <a:chExt cx="1629057" cy="8459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9057" cy="845979"/>
            </a:xfrm>
            <a:custGeom>
              <a:avLst/>
              <a:gdLst/>
              <a:ahLst/>
              <a:cxnLst/>
              <a:rect r="r" b="b" t="t" l="l"/>
              <a:pathLst>
                <a:path h="845979" w="1629057">
                  <a:moveTo>
                    <a:pt x="3683" y="0"/>
                  </a:moveTo>
                  <a:lnTo>
                    <a:pt x="1625373" y="0"/>
                  </a:lnTo>
                  <a:cubicBezTo>
                    <a:pt x="1627408" y="0"/>
                    <a:pt x="1629057" y="1649"/>
                    <a:pt x="1629057" y="3683"/>
                  </a:cubicBezTo>
                  <a:lnTo>
                    <a:pt x="1629057" y="842295"/>
                  </a:lnTo>
                  <a:cubicBezTo>
                    <a:pt x="1629057" y="844330"/>
                    <a:pt x="1627408" y="845979"/>
                    <a:pt x="1625373" y="845979"/>
                  </a:cubicBezTo>
                  <a:lnTo>
                    <a:pt x="3683" y="845979"/>
                  </a:lnTo>
                  <a:cubicBezTo>
                    <a:pt x="1649" y="845979"/>
                    <a:pt x="0" y="844330"/>
                    <a:pt x="0" y="842295"/>
                  </a:cubicBezTo>
                  <a:lnTo>
                    <a:pt x="0" y="3683"/>
                  </a:lnTo>
                  <a:cubicBezTo>
                    <a:pt x="0" y="1649"/>
                    <a:pt x="1649" y="0"/>
                    <a:pt x="3683" y="0"/>
                  </a:cubicBezTo>
                  <a:close/>
                </a:path>
              </a:pathLst>
            </a:custGeom>
            <a:blipFill>
              <a:blip r:embed="rId6"/>
              <a:stretch>
                <a:fillRect l="-780" t="0" r="-780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true" rot="2144944">
            <a:off x="16671573" y="9494704"/>
            <a:ext cx="2500473" cy="941087"/>
          </a:xfrm>
          <a:custGeom>
            <a:avLst/>
            <a:gdLst/>
            <a:ahLst/>
            <a:cxnLst/>
            <a:rect r="r" b="b" t="t" l="l"/>
            <a:pathLst>
              <a:path h="941087" w="2500473">
                <a:moveTo>
                  <a:pt x="0" y="941087"/>
                </a:moveTo>
                <a:lnTo>
                  <a:pt x="2500473" y="941087"/>
                </a:lnTo>
                <a:lnTo>
                  <a:pt x="2500473" y="0"/>
                </a:lnTo>
                <a:lnTo>
                  <a:pt x="0" y="0"/>
                </a:lnTo>
                <a:lnTo>
                  <a:pt x="0" y="94108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799231" y="5418551"/>
            <a:ext cx="6779887" cy="4269078"/>
            <a:chOff x="0" y="0"/>
            <a:chExt cx="1682894" cy="10596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2894" cy="1059665"/>
            </a:xfrm>
            <a:custGeom>
              <a:avLst/>
              <a:gdLst/>
              <a:ahLst/>
              <a:cxnLst/>
              <a:rect r="r" b="b" t="t" l="l"/>
              <a:pathLst>
                <a:path h="1059665" w="1682894">
                  <a:moveTo>
                    <a:pt x="39966" y="0"/>
                  </a:moveTo>
                  <a:lnTo>
                    <a:pt x="1642928" y="0"/>
                  </a:lnTo>
                  <a:cubicBezTo>
                    <a:pt x="1665001" y="0"/>
                    <a:pt x="1682894" y="17894"/>
                    <a:pt x="1682894" y="39966"/>
                  </a:cubicBezTo>
                  <a:lnTo>
                    <a:pt x="1682894" y="1019698"/>
                  </a:lnTo>
                  <a:cubicBezTo>
                    <a:pt x="1682894" y="1030298"/>
                    <a:pt x="1678683" y="1040464"/>
                    <a:pt x="1671188" y="1047959"/>
                  </a:cubicBezTo>
                  <a:cubicBezTo>
                    <a:pt x="1663693" y="1055454"/>
                    <a:pt x="1653528" y="1059665"/>
                    <a:pt x="1642928" y="1059665"/>
                  </a:cubicBezTo>
                  <a:lnTo>
                    <a:pt x="39966" y="1059665"/>
                  </a:lnTo>
                  <a:cubicBezTo>
                    <a:pt x="17894" y="1059665"/>
                    <a:pt x="0" y="1041771"/>
                    <a:pt x="0" y="1019698"/>
                  </a:cubicBezTo>
                  <a:lnTo>
                    <a:pt x="0" y="39966"/>
                  </a:lnTo>
                  <a:cubicBezTo>
                    <a:pt x="0" y="17894"/>
                    <a:pt x="17894" y="0"/>
                    <a:pt x="39966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82894" cy="1107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59466" y="5615488"/>
            <a:ext cx="580070" cy="580070"/>
          </a:xfrm>
          <a:custGeom>
            <a:avLst/>
            <a:gdLst/>
            <a:ahLst/>
            <a:cxnLst/>
            <a:rect r="r" b="b" t="t" l="l"/>
            <a:pathLst>
              <a:path h="580070" w="580070">
                <a:moveTo>
                  <a:pt x="0" y="0"/>
                </a:moveTo>
                <a:lnTo>
                  <a:pt x="580070" y="0"/>
                </a:lnTo>
                <a:lnTo>
                  <a:pt x="580070" y="580070"/>
                </a:lnTo>
                <a:lnTo>
                  <a:pt x="0" y="5800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6946166" y="1448015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0">
            <a:off x="379865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51002" y="9819105"/>
            <a:ext cx="2012451" cy="935790"/>
          </a:xfrm>
          <a:custGeom>
            <a:avLst/>
            <a:gdLst/>
            <a:ahLst/>
            <a:cxnLst/>
            <a:rect r="r" b="b" t="t" l="l"/>
            <a:pathLst>
              <a:path h="935790" w="2012451">
                <a:moveTo>
                  <a:pt x="0" y="0"/>
                </a:moveTo>
                <a:lnTo>
                  <a:pt x="2012451" y="0"/>
                </a:lnTo>
                <a:lnTo>
                  <a:pt x="2012451" y="935790"/>
                </a:lnTo>
                <a:lnTo>
                  <a:pt x="0" y="935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765157">
            <a:off x="16888116" y="5003048"/>
            <a:ext cx="1243796" cy="1106979"/>
          </a:xfrm>
          <a:custGeom>
            <a:avLst/>
            <a:gdLst/>
            <a:ahLst/>
            <a:cxnLst/>
            <a:rect r="r" b="b" t="t" l="l"/>
            <a:pathLst>
              <a:path h="1106979" w="1243796">
                <a:moveTo>
                  <a:pt x="0" y="0"/>
                </a:moveTo>
                <a:lnTo>
                  <a:pt x="1243797" y="0"/>
                </a:lnTo>
                <a:lnTo>
                  <a:pt x="1243797" y="1106978"/>
                </a:lnTo>
                <a:lnTo>
                  <a:pt x="0" y="1106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306273" y="145169"/>
            <a:ext cx="1457304" cy="1487045"/>
          </a:xfrm>
          <a:custGeom>
            <a:avLst/>
            <a:gdLst/>
            <a:ahLst/>
            <a:cxnLst/>
            <a:rect r="r" b="b" t="t" l="l"/>
            <a:pathLst>
              <a:path h="1487045" w="1457304">
                <a:moveTo>
                  <a:pt x="0" y="0"/>
                </a:moveTo>
                <a:lnTo>
                  <a:pt x="1457304" y="0"/>
                </a:lnTo>
                <a:lnTo>
                  <a:pt x="1457304" y="1487045"/>
                </a:lnTo>
                <a:lnTo>
                  <a:pt x="0" y="14870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87912" y="1381988"/>
            <a:ext cx="4450390" cy="3560312"/>
          </a:xfrm>
          <a:custGeom>
            <a:avLst/>
            <a:gdLst/>
            <a:ahLst/>
            <a:cxnLst/>
            <a:rect r="r" b="b" t="t" l="l"/>
            <a:pathLst>
              <a:path h="3560312" w="4450390">
                <a:moveTo>
                  <a:pt x="0" y="0"/>
                </a:moveTo>
                <a:lnTo>
                  <a:pt x="4450390" y="0"/>
                </a:lnTo>
                <a:lnTo>
                  <a:pt x="4450390" y="3560313"/>
                </a:lnTo>
                <a:lnTo>
                  <a:pt x="0" y="356031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3814487">
            <a:off x="908386" y="8038602"/>
            <a:ext cx="873910" cy="2570325"/>
          </a:xfrm>
          <a:custGeom>
            <a:avLst/>
            <a:gdLst/>
            <a:ahLst/>
            <a:cxnLst/>
            <a:rect r="r" b="b" t="t" l="l"/>
            <a:pathLst>
              <a:path h="2570325" w="873910">
                <a:moveTo>
                  <a:pt x="0" y="0"/>
                </a:moveTo>
                <a:lnTo>
                  <a:pt x="873911" y="0"/>
                </a:lnTo>
                <a:lnTo>
                  <a:pt x="873911" y="2570325"/>
                </a:lnTo>
                <a:lnTo>
                  <a:pt x="0" y="2570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727069" y="5613423"/>
            <a:ext cx="4905161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Analytics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9231" y="6262233"/>
            <a:ext cx="6779887" cy="305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034" indent="-269517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ystem Configuration: Manages global application settings, feature toggles, and system-wide operational parameters. </a:t>
            </a:r>
          </a:p>
          <a:p>
            <a:pPr algn="l">
              <a:lnSpc>
                <a:spcPts val="3495"/>
              </a:lnSpc>
            </a:pPr>
          </a:p>
          <a:p>
            <a:pPr algn="l" marL="539034" indent="-269517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Access &amp; Security Rules: Controls role permissions, notification preferences, and platform security policies.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55769" y="178344"/>
            <a:ext cx="7422225" cy="117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1"/>
              </a:lnSpc>
            </a:pPr>
            <a:r>
              <a:rPr lang="en-US" sz="687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System Settings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7967" y="166899"/>
            <a:ext cx="10795933" cy="107959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8D1D9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149513">
            <a:off x="16235910" y="202226"/>
            <a:ext cx="2043756" cy="706025"/>
          </a:xfrm>
          <a:custGeom>
            <a:avLst/>
            <a:gdLst/>
            <a:ahLst/>
            <a:cxnLst/>
            <a:rect r="r" b="b" t="t" l="l"/>
            <a:pathLst>
              <a:path h="706025" w="2043756">
                <a:moveTo>
                  <a:pt x="0" y="0"/>
                </a:moveTo>
                <a:lnTo>
                  <a:pt x="2043756" y="0"/>
                </a:lnTo>
                <a:lnTo>
                  <a:pt x="2043756" y="706025"/>
                </a:lnTo>
                <a:lnTo>
                  <a:pt x="0" y="706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41243" y="1028700"/>
            <a:ext cx="2518922" cy="3188509"/>
          </a:xfrm>
          <a:custGeom>
            <a:avLst/>
            <a:gdLst/>
            <a:ahLst/>
            <a:cxnLst/>
            <a:rect r="r" b="b" t="t" l="l"/>
            <a:pathLst>
              <a:path h="3188509" w="2518922">
                <a:moveTo>
                  <a:pt x="0" y="0"/>
                </a:moveTo>
                <a:lnTo>
                  <a:pt x="2518922" y="0"/>
                </a:lnTo>
                <a:lnTo>
                  <a:pt x="2518922" y="3188509"/>
                </a:lnTo>
                <a:lnTo>
                  <a:pt x="0" y="3188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477792" y="9574310"/>
            <a:ext cx="2063050" cy="712690"/>
          </a:xfrm>
          <a:custGeom>
            <a:avLst/>
            <a:gdLst/>
            <a:ahLst/>
            <a:cxnLst/>
            <a:rect r="r" b="b" t="t" l="l"/>
            <a:pathLst>
              <a:path h="712690" w="2063050">
                <a:moveTo>
                  <a:pt x="0" y="0"/>
                </a:moveTo>
                <a:lnTo>
                  <a:pt x="2063050" y="0"/>
                </a:lnTo>
                <a:lnTo>
                  <a:pt x="2063050" y="712690"/>
                </a:lnTo>
                <a:lnTo>
                  <a:pt x="0" y="712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19469" y="-948579"/>
            <a:ext cx="2496337" cy="3007635"/>
          </a:xfrm>
          <a:custGeom>
            <a:avLst/>
            <a:gdLst/>
            <a:ahLst/>
            <a:cxnLst/>
            <a:rect r="r" b="b" t="t" l="l"/>
            <a:pathLst>
              <a:path h="3007635" w="2496337">
                <a:moveTo>
                  <a:pt x="0" y="0"/>
                </a:moveTo>
                <a:lnTo>
                  <a:pt x="2496338" y="0"/>
                </a:lnTo>
                <a:lnTo>
                  <a:pt x="2496338" y="3007635"/>
                </a:lnTo>
                <a:lnTo>
                  <a:pt x="0" y="3007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29449" y="7472146"/>
            <a:ext cx="2587904" cy="2458509"/>
          </a:xfrm>
          <a:custGeom>
            <a:avLst/>
            <a:gdLst/>
            <a:ahLst/>
            <a:cxnLst/>
            <a:rect r="r" b="b" t="t" l="l"/>
            <a:pathLst>
              <a:path h="2458509" w="2587904">
                <a:moveTo>
                  <a:pt x="0" y="0"/>
                </a:moveTo>
                <a:lnTo>
                  <a:pt x="2587904" y="0"/>
                </a:lnTo>
                <a:lnTo>
                  <a:pt x="2587904" y="2458509"/>
                </a:lnTo>
                <a:lnTo>
                  <a:pt x="0" y="24585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13257" y="6491321"/>
            <a:ext cx="4143776" cy="3439334"/>
          </a:xfrm>
          <a:custGeom>
            <a:avLst/>
            <a:gdLst/>
            <a:ahLst/>
            <a:cxnLst/>
            <a:rect r="r" b="b" t="t" l="l"/>
            <a:pathLst>
              <a:path h="3439334" w="4143776">
                <a:moveTo>
                  <a:pt x="0" y="0"/>
                </a:moveTo>
                <a:lnTo>
                  <a:pt x="4143777" y="0"/>
                </a:lnTo>
                <a:lnTo>
                  <a:pt x="4143777" y="3439334"/>
                </a:lnTo>
                <a:lnTo>
                  <a:pt x="0" y="34393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61118" y="4479017"/>
            <a:ext cx="13815537" cy="177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E</a:t>
            </a:r>
            <a:r>
              <a:rPr lang="en-US" b="true" sz="9000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mployee Dashboard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58820" y="6448072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5" y="0"/>
                </a:lnTo>
                <a:lnTo>
                  <a:pt x="6174095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1939466">
            <a:off x="16714611" y="9479328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6"/>
                </a:moveTo>
                <a:lnTo>
                  <a:pt x="2323356" y="874426"/>
                </a:lnTo>
                <a:lnTo>
                  <a:pt x="2323356" y="0"/>
                </a:lnTo>
                <a:lnTo>
                  <a:pt x="0" y="0"/>
                </a:lnTo>
                <a:lnTo>
                  <a:pt x="0" y="8744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312259" y="5724583"/>
            <a:ext cx="7301646" cy="3963518"/>
            <a:chOff x="0" y="0"/>
            <a:chExt cx="1812405" cy="9838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2405" cy="983819"/>
            </a:xfrm>
            <a:custGeom>
              <a:avLst/>
              <a:gdLst/>
              <a:ahLst/>
              <a:cxnLst/>
              <a:rect r="r" b="b" t="t" l="l"/>
              <a:pathLst>
                <a:path h="983819" w="1812405">
                  <a:moveTo>
                    <a:pt x="37110" y="0"/>
                  </a:moveTo>
                  <a:lnTo>
                    <a:pt x="1775294" y="0"/>
                  </a:lnTo>
                  <a:cubicBezTo>
                    <a:pt x="1795790" y="0"/>
                    <a:pt x="1812405" y="16615"/>
                    <a:pt x="1812405" y="37110"/>
                  </a:cubicBezTo>
                  <a:lnTo>
                    <a:pt x="1812405" y="946709"/>
                  </a:lnTo>
                  <a:cubicBezTo>
                    <a:pt x="1812405" y="967204"/>
                    <a:pt x="1795790" y="983819"/>
                    <a:pt x="1775294" y="983819"/>
                  </a:cubicBezTo>
                  <a:lnTo>
                    <a:pt x="37110" y="983819"/>
                  </a:lnTo>
                  <a:cubicBezTo>
                    <a:pt x="27268" y="983819"/>
                    <a:pt x="17829" y="979909"/>
                    <a:pt x="10869" y="972950"/>
                  </a:cubicBezTo>
                  <a:cubicBezTo>
                    <a:pt x="3910" y="965990"/>
                    <a:pt x="0" y="956551"/>
                    <a:pt x="0" y="946709"/>
                  </a:cubicBezTo>
                  <a:lnTo>
                    <a:pt x="0" y="37110"/>
                  </a:lnTo>
                  <a:cubicBezTo>
                    <a:pt x="0" y="16615"/>
                    <a:pt x="16615" y="0"/>
                    <a:pt x="37110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12405" cy="1031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432412" y="5887741"/>
            <a:ext cx="519691" cy="519691"/>
          </a:xfrm>
          <a:custGeom>
            <a:avLst/>
            <a:gdLst/>
            <a:ahLst/>
            <a:cxnLst/>
            <a:rect r="r" b="b" t="t" l="l"/>
            <a:pathLst>
              <a:path h="519691" w="519691">
                <a:moveTo>
                  <a:pt x="0" y="0"/>
                </a:moveTo>
                <a:lnTo>
                  <a:pt x="519691" y="0"/>
                </a:lnTo>
                <a:lnTo>
                  <a:pt x="519691" y="519691"/>
                </a:lnTo>
                <a:lnTo>
                  <a:pt x="0" y="519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7084962" y="1766394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true" rot="10552316">
            <a:off x="17900" y="20229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2277479"/>
            <a:ext cx="10172049" cy="4629838"/>
            <a:chOff x="0" y="0"/>
            <a:chExt cx="2167511" cy="9865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7511" cy="986549"/>
            </a:xfrm>
            <a:custGeom>
              <a:avLst/>
              <a:gdLst/>
              <a:ahLst/>
              <a:cxnLst/>
              <a:rect r="r" b="b" t="t" l="l"/>
              <a:pathLst>
                <a:path h="986549" w="2167511">
                  <a:moveTo>
                    <a:pt x="6089" y="0"/>
                  </a:moveTo>
                  <a:lnTo>
                    <a:pt x="2161422" y="0"/>
                  </a:lnTo>
                  <a:cubicBezTo>
                    <a:pt x="2163037" y="0"/>
                    <a:pt x="2164586" y="641"/>
                    <a:pt x="2165727" y="1783"/>
                  </a:cubicBezTo>
                  <a:cubicBezTo>
                    <a:pt x="2166869" y="2925"/>
                    <a:pt x="2167511" y="4474"/>
                    <a:pt x="2167511" y="6089"/>
                  </a:cubicBezTo>
                  <a:lnTo>
                    <a:pt x="2167511" y="980460"/>
                  </a:lnTo>
                  <a:cubicBezTo>
                    <a:pt x="2167511" y="983823"/>
                    <a:pt x="2164785" y="986549"/>
                    <a:pt x="2161422" y="986549"/>
                  </a:cubicBezTo>
                  <a:lnTo>
                    <a:pt x="6089" y="986549"/>
                  </a:lnTo>
                  <a:cubicBezTo>
                    <a:pt x="4474" y="986549"/>
                    <a:pt x="2925" y="985908"/>
                    <a:pt x="1783" y="984766"/>
                  </a:cubicBezTo>
                  <a:cubicBezTo>
                    <a:pt x="641" y="983624"/>
                    <a:pt x="0" y="982075"/>
                    <a:pt x="0" y="980460"/>
                  </a:cubicBezTo>
                  <a:lnTo>
                    <a:pt x="0" y="6089"/>
                  </a:lnTo>
                  <a:cubicBezTo>
                    <a:pt x="0" y="4474"/>
                    <a:pt x="641" y="2925"/>
                    <a:pt x="1783" y="1783"/>
                  </a:cubicBezTo>
                  <a:cubicBezTo>
                    <a:pt x="2925" y="641"/>
                    <a:pt x="4474" y="0"/>
                    <a:pt x="6089" y="0"/>
                  </a:cubicBezTo>
                  <a:close/>
                </a:path>
              </a:pathLst>
            </a:custGeom>
            <a:blipFill>
              <a:blip r:embed="rId10"/>
              <a:stretch>
                <a:fillRect l="-529" t="0" r="-529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34530" y="9716676"/>
            <a:ext cx="1848580" cy="859590"/>
          </a:xfrm>
          <a:custGeom>
            <a:avLst/>
            <a:gdLst/>
            <a:ahLst/>
            <a:cxnLst/>
            <a:rect r="r" b="b" t="t" l="l"/>
            <a:pathLst>
              <a:path h="859590" w="1848580">
                <a:moveTo>
                  <a:pt x="0" y="0"/>
                </a:moveTo>
                <a:lnTo>
                  <a:pt x="1848581" y="0"/>
                </a:lnTo>
                <a:lnTo>
                  <a:pt x="1848581" y="859590"/>
                </a:lnTo>
                <a:lnTo>
                  <a:pt x="0" y="8595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765157">
            <a:off x="16826013" y="5451450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33390" y="121145"/>
            <a:ext cx="2050972" cy="1815111"/>
          </a:xfrm>
          <a:custGeom>
            <a:avLst/>
            <a:gdLst/>
            <a:ahLst/>
            <a:cxnLst/>
            <a:rect r="r" b="b" t="t" l="l"/>
            <a:pathLst>
              <a:path h="1815111" w="2050972">
                <a:moveTo>
                  <a:pt x="0" y="0"/>
                </a:moveTo>
                <a:lnTo>
                  <a:pt x="2050973" y="0"/>
                </a:lnTo>
                <a:lnTo>
                  <a:pt x="2050973" y="1815110"/>
                </a:lnTo>
                <a:lnTo>
                  <a:pt x="0" y="18151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370814" y="1438333"/>
            <a:ext cx="3888486" cy="4114800"/>
          </a:xfrm>
          <a:custGeom>
            <a:avLst/>
            <a:gdLst/>
            <a:ahLst/>
            <a:cxnLst/>
            <a:rect r="r" b="b" t="t" l="l"/>
            <a:pathLst>
              <a:path h="4114800" w="3888486">
                <a:moveTo>
                  <a:pt x="0" y="0"/>
                </a:moveTo>
                <a:lnTo>
                  <a:pt x="3888486" y="0"/>
                </a:lnTo>
                <a:lnTo>
                  <a:pt x="38884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8370129"/>
            <a:ext cx="2344445" cy="1945890"/>
          </a:xfrm>
          <a:custGeom>
            <a:avLst/>
            <a:gdLst/>
            <a:ahLst/>
            <a:cxnLst/>
            <a:rect r="r" b="b" t="t" l="l"/>
            <a:pathLst>
              <a:path h="1945890" w="2344445">
                <a:moveTo>
                  <a:pt x="0" y="0"/>
                </a:moveTo>
                <a:lnTo>
                  <a:pt x="2344445" y="0"/>
                </a:lnTo>
                <a:lnTo>
                  <a:pt x="2344445" y="1945890"/>
                </a:lnTo>
                <a:lnTo>
                  <a:pt x="0" y="194589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203038" y="5873397"/>
            <a:ext cx="4938606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Wellness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79422" y="6521308"/>
            <a:ext cx="7301646" cy="292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465" indent="-256233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Personalized AI Coaching: Delivers real-time, tailored health recommendations and lifestyle guidance to employees.</a:t>
            </a:r>
          </a:p>
          <a:p>
            <a:pPr algn="l">
              <a:lnSpc>
                <a:spcPts val="3323"/>
              </a:lnSpc>
            </a:pPr>
          </a:p>
          <a:p>
            <a:pPr algn="l" marL="512465" indent="-256233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Automated Support: Provides 24/7 interactive assistance for daily wellness queries and mental well-being tracking.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09673" y="373119"/>
            <a:ext cx="10178872" cy="117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1"/>
              </a:lnSpc>
            </a:pPr>
            <a:r>
              <a:rPr lang="en-US" sz="687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AI Wellness Assistant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59237">
            <a:off x="-1013988" y="-206802"/>
            <a:ext cx="2721865" cy="884606"/>
          </a:xfrm>
          <a:custGeom>
            <a:avLst/>
            <a:gdLst/>
            <a:ahLst/>
            <a:cxnLst/>
            <a:rect r="r" b="b" t="t" l="l"/>
            <a:pathLst>
              <a:path h="884606" w="2721865">
                <a:moveTo>
                  <a:pt x="0" y="0"/>
                </a:moveTo>
                <a:lnTo>
                  <a:pt x="2721865" y="0"/>
                </a:lnTo>
                <a:lnTo>
                  <a:pt x="2721865" y="884606"/>
                </a:lnTo>
                <a:lnTo>
                  <a:pt x="0" y="884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0642" y="2122561"/>
            <a:ext cx="10067791" cy="4957758"/>
            <a:chOff x="0" y="0"/>
            <a:chExt cx="975122" cy="4801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122" cy="480187"/>
            </a:xfrm>
            <a:custGeom>
              <a:avLst/>
              <a:gdLst/>
              <a:ahLst/>
              <a:cxnLst/>
              <a:rect r="r" b="b" t="t" l="l"/>
              <a:pathLst>
                <a:path h="480187" w="975122">
                  <a:moveTo>
                    <a:pt x="4614" y="0"/>
                  </a:moveTo>
                  <a:lnTo>
                    <a:pt x="970509" y="0"/>
                  </a:lnTo>
                  <a:cubicBezTo>
                    <a:pt x="973057" y="0"/>
                    <a:pt x="975122" y="2066"/>
                    <a:pt x="975122" y="4614"/>
                  </a:cubicBezTo>
                  <a:lnTo>
                    <a:pt x="975122" y="475573"/>
                  </a:lnTo>
                  <a:cubicBezTo>
                    <a:pt x="975122" y="478121"/>
                    <a:pt x="973057" y="480187"/>
                    <a:pt x="970509" y="480187"/>
                  </a:cubicBezTo>
                  <a:lnTo>
                    <a:pt x="4614" y="480187"/>
                  </a:lnTo>
                  <a:cubicBezTo>
                    <a:pt x="2066" y="480187"/>
                    <a:pt x="0" y="478121"/>
                    <a:pt x="0" y="475573"/>
                  </a:cubicBezTo>
                  <a:lnTo>
                    <a:pt x="0" y="4614"/>
                  </a:lnTo>
                  <a:cubicBezTo>
                    <a:pt x="0" y="2066"/>
                    <a:pt x="2066" y="0"/>
                    <a:pt x="461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948" r="0" b="-194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951255" y="6041490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5"/>
                </a:lnTo>
                <a:lnTo>
                  <a:pt x="0" y="617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1849416">
            <a:off x="16901257" y="9662021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7"/>
                </a:moveTo>
                <a:lnTo>
                  <a:pt x="2323356" y="874427"/>
                </a:lnTo>
                <a:lnTo>
                  <a:pt x="2323356" y="0"/>
                </a:lnTo>
                <a:lnTo>
                  <a:pt x="0" y="0"/>
                </a:lnTo>
                <a:lnTo>
                  <a:pt x="0" y="87442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312259" y="5781699"/>
            <a:ext cx="7263079" cy="3872960"/>
            <a:chOff x="0" y="0"/>
            <a:chExt cx="1802831" cy="9613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2831" cy="961341"/>
            </a:xfrm>
            <a:custGeom>
              <a:avLst/>
              <a:gdLst/>
              <a:ahLst/>
              <a:cxnLst/>
              <a:rect r="r" b="b" t="t" l="l"/>
              <a:pathLst>
                <a:path h="961341" w="1802831">
                  <a:moveTo>
                    <a:pt x="37307" y="0"/>
                  </a:moveTo>
                  <a:lnTo>
                    <a:pt x="1765524" y="0"/>
                  </a:lnTo>
                  <a:cubicBezTo>
                    <a:pt x="1786128" y="0"/>
                    <a:pt x="1802831" y="16703"/>
                    <a:pt x="1802831" y="37307"/>
                  </a:cubicBezTo>
                  <a:lnTo>
                    <a:pt x="1802831" y="924033"/>
                  </a:lnTo>
                  <a:cubicBezTo>
                    <a:pt x="1802831" y="933928"/>
                    <a:pt x="1798901" y="943417"/>
                    <a:pt x="1791904" y="950414"/>
                  </a:cubicBezTo>
                  <a:cubicBezTo>
                    <a:pt x="1784908" y="957410"/>
                    <a:pt x="1775419" y="961341"/>
                    <a:pt x="1765524" y="961341"/>
                  </a:cubicBezTo>
                  <a:lnTo>
                    <a:pt x="37307" y="961341"/>
                  </a:lnTo>
                  <a:cubicBezTo>
                    <a:pt x="16703" y="961341"/>
                    <a:pt x="0" y="944638"/>
                    <a:pt x="0" y="924033"/>
                  </a:cubicBezTo>
                  <a:lnTo>
                    <a:pt x="0" y="37307"/>
                  </a:lnTo>
                  <a:cubicBezTo>
                    <a:pt x="0" y="16703"/>
                    <a:pt x="16703" y="0"/>
                    <a:pt x="37307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02831" cy="1008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69082" y="5929903"/>
            <a:ext cx="583276" cy="583276"/>
          </a:xfrm>
          <a:custGeom>
            <a:avLst/>
            <a:gdLst/>
            <a:ahLst/>
            <a:cxnLst/>
            <a:rect r="r" b="b" t="t" l="l"/>
            <a:pathLst>
              <a:path h="583276" w="583276">
                <a:moveTo>
                  <a:pt x="0" y="0"/>
                </a:moveTo>
                <a:lnTo>
                  <a:pt x="583275" y="0"/>
                </a:lnTo>
                <a:lnTo>
                  <a:pt x="583275" y="583276"/>
                </a:lnTo>
                <a:lnTo>
                  <a:pt x="0" y="5832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7084962" y="1772744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34530" y="9654659"/>
            <a:ext cx="1981950" cy="921607"/>
          </a:xfrm>
          <a:custGeom>
            <a:avLst/>
            <a:gdLst/>
            <a:ahLst/>
            <a:cxnLst/>
            <a:rect r="r" b="b" t="t" l="l"/>
            <a:pathLst>
              <a:path h="921607" w="1981950">
                <a:moveTo>
                  <a:pt x="0" y="0"/>
                </a:moveTo>
                <a:lnTo>
                  <a:pt x="1981951" y="0"/>
                </a:lnTo>
                <a:lnTo>
                  <a:pt x="1981951" y="921607"/>
                </a:lnTo>
                <a:lnTo>
                  <a:pt x="0" y="9216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765157">
            <a:off x="16818180" y="5564559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91388">
            <a:off x="916582" y="147429"/>
            <a:ext cx="2433616" cy="1776539"/>
          </a:xfrm>
          <a:custGeom>
            <a:avLst/>
            <a:gdLst/>
            <a:ahLst/>
            <a:cxnLst/>
            <a:rect r="r" b="b" t="t" l="l"/>
            <a:pathLst>
              <a:path h="1776539" w="2433616">
                <a:moveTo>
                  <a:pt x="0" y="0"/>
                </a:moveTo>
                <a:lnTo>
                  <a:pt x="2433616" y="0"/>
                </a:lnTo>
                <a:lnTo>
                  <a:pt x="2433616" y="1776540"/>
                </a:lnTo>
                <a:lnTo>
                  <a:pt x="0" y="17765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011815" y="7080319"/>
            <a:ext cx="2515711" cy="3105816"/>
          </a:xfrm>
          <a:custGeom>
            <a:avLst/>
            <a:gdLst/>
            <a:ahLst/>
            <a:cxnLst/>
            <a:rect r="r" b="b" t="t" l="l"/>
            <a:pathLst>
              <a:path h="3105816" w="2515711">
                <a:moveTo>
                  <a:pt x="0" y="0"/>
                </a:moveTo>
                <a:lnTo>
                  <a:pt x="2515711" y="0"/>
                </a:lnTo>
                <a:lnTo>
                  <a:pt x="2515711" y="3105816"/>
                </a:lnTo>
                <a:lnTo>
                  <a:pt x="0" y="310581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52069" y="1772744"/>
            <a:ext cx="4502867" cy="3985038"/>
          </a:xfrm>
          <a:custGeom>
            <a:avLst/>
            <a:gdLst/>
            <a:ahLst/>
            <a:cxnLst/>
            <a:rect r="r" b="b" t="t" l="l"/>
            <a:pathLst>
              <a:path h="3985038" w="4502867">
                <a:moveTo>
                  <a:pt x="0" y="0"/>
                </a:moveTo>
                <a:lnTo>
                  <a:pt x="4502868" y="0"/>
                </a:lnTo>
                <a:lnTo>
                  <a:pt x="4502868" y="3985038"/>
                </a:lnTo>
                <a:lnTo>
                  <a:pt x="0" y="3985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241138" y="5919707"/>
            <a:ext cx="5028253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Wellness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74159" y="6548471"/>
            <a:ext cx="7263079" cy="305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055" indent="-267027" lvl="1">
              <a:lnSpc>
                <a:spcPts val="3463"/>
              </a:lnSpc>
              <a:buFont typeface="Arial"/>
              <a:buChar char="•"/>
            </a:pPr>
            <a:r>
              <a:rPr lang="en-US" sz="24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Tailore</a:t>
            </a:r>
            <a:r>
              <a:rPr lang="en-US" sz="24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 Meal Plans: Generates customized diet plans matched to specific dietary types and user preferences.</a:t>
            </a:r>
          </a:p>
          <a:p>
            <a:pPr algn="l">
              <a:lnSpc>
                <a:spcPts val="3463"/>
              </a:lnSpc>
            </a:pPr>
          </a:p>
          <a:p>
            <a:pPr algn="l" marL="534055" indent="-267027" lvl="1">
              <a:lnSpc>
                <a:spcPts val="3463"/>
              </a:lnSpc>
              <a:buFont typeface="Arial"/>
              <a:buChar char="•"/>
            </a:pPr>
            <a:r>
              <a:rPr lang="en-US" sz="24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Preference Tracking: Dynamically adjusts nutrition goals based on individual health choices and dietary restrictions.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75002" y="117988"/>
            <a:ext cx="12020670" cy="136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17"/>
              </a:lnSpc>
              <a:spcBef>
                <a:spcPct val="0"/>
              </a:spcBef>
            </a:pPr>
            <a:r>
              <a:rPr lang="en-US" b="true" sz="7012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AI Meals and Diet Plans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10800000">
            <a:off x="40277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776" y="2418785"/>
            <a:ext cx="11250542" cy="4122801"/>
            <a:chOff x="0" y="0"/>
            <a:chExt cx="2308556" cy="8459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8556" cy="845979"/>
            </a:xfrm>
            <a:custGeom>
              <a:avLst/>
              <a:gdLst/>
              <a:ahLst/>
              <a:cxnLst/>
              <a:rect r="r" b="b" t="t" l="l"/>
              <a:pathLst>
                <a:path h="845979" w="2308556">
                  <a:moveTo>
                    <a:pt x="5505" y="0"/>
                  </a:moveTo>
                  <a:lnTo>
                    <a:pt x="2303051" y="0"/>
                  </a:lnTo>
                  <a:cubicBezTo>
                    <a:pt x="2304511" y="0"/>
                    <a:pt x="2305911" y="580"/>
                    <a:pt x="2306943" y="1612"/>
                  </a:cubicBezTo>
                  <a:cubicBezTo>
                    <a:pt x="2307976" y="2645"/>
                    <a:pt x="2308556" y="4045"/>
                    <a:pt x="2308556" y="5505"/>
                  </a:cubicBezTo>
                  <a:lnTo>
                    <a:pt x="2308556" y="840474"/>
                  </a:lnTo>
                  <a:cubicBezTo>
                    <a:pt x="2308556" y="841934"/>
                    <a:pt x="2307976" y="843334"/>
                    <a:pt x="2306943" y="844366"/>
                  </a:cubicBezTo>
                  <a:cubicBezTo>
                    <a:pt x="2305911" y="845399"/>
                    <a:pt x="2304511" y="845979"/>
                    <a:pt x="2303051" y="845979"/>
                  </a:cubicBezTo>
                  <a:lnTo>
                    <a:pt x="5505" y="845979"/>
                  </a:lnTo>
                  <a:cubicBezTo>
                    <a:pt x="4045" y="845979"/>
                    <a:pt x="2645" y="845399"/>
                    <a:pt x="1612" y="844366"/>
                  </a:cubicBezTo>
                  <a:cubicBezTo>
                    <a:pt x="580" y="843334"/>
                    <a:pt x="0" y="841934"/>
                    <a:pt x="0" y="840474"/>
                  </a:cubicBezTo>
                  <a:lnTo>
                    <a:pt x="0" y="5505"/>
                  </a:lnTo>
                  <a:cubicBezTo>
                    <a:pt x="0" y="4045"/>
                    <a:pt x="580" y="2645"/>
                    <a:pt x="1612" y="1612"/>
                  </a:cubicBezTo>
                  <a:cubicBezTo>
                    <a:pt x="2645" y="580"/>
                    <a:pt x="4045" y="0"/>
                    <a:pt x="5505" y="0"/>
                  </a:cubicBezTo>
                  <a:close/>
                </a:path>
              </a:pathLst>
            </a:custGeom>
            <a:blipFill>
              <a:blip r:embed="rId4"/>
              <a:stretch>
                <a:fillRect l="-2074" t="0" r="-2074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443321" y="5448253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2042796">
            <a:off x="17008851" y="9805575"/>
            <a:ext cx="2558299" cy="962851"/>
          </a:xfrm>
          <a:custGeom>
            <a:avLst/>
            <a:gdLst/>
            <a:ahLst/>
            <a:cxnLst/>
            <a:rect r="r" b="b" t="t" l="l"/>
            <a:pathLst>
              <a:path h="962851" w="2558299">
                <a:moveTo>
                  <a:pt x="0" y="962850"/>
                </a:moveTo>
                <a:lnTo>
                  <a:pt x="2558298" y="962850"/>
                </a:lnTo>
                <a:lnTo>
                  <a:pt x="2558298" y="0"/>
                </a:lnTo>
                <a:lnTo>
                  <a:pt x="0" y="0"/>
                </a:lnTo>
                <a:lnTo>
                  <a:pt x="0" y="9628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45747" y="5617913"/>
            <a:ext cx="7179147" cy="4183453"/>
            <a:chOff x="0" y="0"/>
            <a:chExt cx="1781998" cy="10384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1998" cy="1038411"/>
            </a:xfrm>
            <a:custGeom>
              <a:avLst/>
              <a:gdLst/>
              <a:ahLst/>
              <a:cxnLst/>
              <a:rect r="r" b="b" t="t" l="l"/>
              <a:pathLst>
                <a:path h="1038411" w="1781998">
                  <a:moveTo>
                    <a:pt x="37744" y="0"/>
                  </a:moveTo>
                  <a:lnTo>
                    <a:pt x="1744254" y="0"/>
                  </a:lnTo>
                  <a:cubicBezTo>
                    <a:pt x="1754265" y="0"/>
                    <a:pt x="1763865" y="3977"/>
                    <a:pt x="1770943" y="11055"/>
                  </a:cubicBezTo>
                  <a:cubicBezTo>
                    <a:pt x="1778022" y="18133"/>
                    <a:pt x="1781998" y="27733"/>
                    <a:pt x="1781998" y="37744"/>
                  </a:cubicBezTo>
                  <a:lnTo>
                    <a:pt x="1781998" y="1000668"/>
                  </a:lnTo>
                  <a:cubicBezTo>
                    <a:pt x="1781998" y="1010678"/>
                    <a:pt x="1778022" y="1020278"/>
                    <a:pt x="1770943" y="1027356"/>
                  </a:cubicBezTo>
                  <a:cubicBezTo>
                    <a:pt x="1763865" y="1034435"/>
                    <a:pt x="1754265" y="1038411"/>
                    <a:pt x="1744254" y="1038411"/>
                  </a:cubicBezTo>
                  <a:lnTo>
                    <a:pt x="37744" y="1038411"/>
                  </a:lnTo>
                  <a:cubicBezTo>
                    <a:pt x="27733" y="1038411"/>
                    <a:pt x="18133" y="1034435"/>
                    <a:pt x="11055" y="1027356"/>
                  </a:cubicBezTo>
                  <a:cubicBezTo>
                    <a:pt x="3977" y="1020278"/>
                    <a:pt x="0" y="1010678"/>
                    <a:pt x="0" y="1000668"/>
                  </a:cubicBezTo>
                  <a:lnTo>
                    <a:pt x="0" y="37744"/>
                  </a:lnTo>
                  <a:cubicBezTo>
                    <a:pt x="0" y="27733"/>
                    <a:pt x="3977" y="18133"/>
                    <a:pt x="11055" y="11055"/>
                  </a:cubicBezTo>
                  <a:cubicBezTo>
                    <a:pt x="18133" y="3977"/>
                    <a:pt x="27733" y="0"/>
                    <a:pt x="37744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81998" cy="108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950522" y="5691485"/>
            <a:ext cx="527941" cy="527941"/>
          </a:xfrm>
          <a:custGeom>
            <a:avLst/>
            <a:gdLst/>
            <a:ahLst/>
            <a:cxnLst/>
            <a:rect r="r" b="b" t="t" l="l"/>
            <a:pathLst>
              <a:path h="527941" w="527941">
                <a:moveTo>
                  <a:pt x="0" y="0"/>
                </a:moveTo>
                <a:lnTo>
                  <a:pt x="527941" y="0"/>
                </a:lnTo>
                <a:lnTo>
                  <a:pt x="527941" y="527941"/>
                </a:lnTo>
                <a:lnTo>
                  <a:pt x="0" y="527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6989712" y="1776988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true" rot="10552316">
            <a:off x="8173753" y="-13245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19495" y="9747080"/>
            <a:ext cx="2322238" cy="1079841"/>
          </a:xfrm>
          <a:custGeom>
            <a:avLst/>
            <a:gdLst/>
            <a:ahLst/>
            <a:cxnLst/>
            <a:rect r="r" b="b" t="t" l="l"/>
            <a:pathLst>
              <a:path h="1079841" w="2322238">
                <a:moveTo>
                  <a:pt x="0" y="0"/>
                </a:moveTo>
                <a:lnTo>
                  <a:pt x="2322238" y="0"/>
                </a:lnTo>
                <a:lnTo>
                  <a:pt x="2322238" y="1079840"/>
                </a:lnTo>
                <a:lnTo>
                  <a:pt x="0" y="10798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765157">
            <a:off x="17255936" y="5292469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1501782">
            <a:off x="-1150473" y="-225281"/>
            <a:ext cx="2886104" cy="1086224"/>
          </a:xfrm>
          <a:custGeom>
            <a:avLst/>
            <a:gdLst/>
            <a:ahLst/>
            <a:cxnLst/>
            <a:rect r="r" b="b" t="t" l="l"/>
            <a:pathLst>
              <a:path h="1086224" w="2886104">
                <a:moveTo>
                  <a:pt x="0" y="1086224"/>
                </a:moveTo>
                <a:lnTo>
                  <a:pt x="2886103" y="1086224"/>
                </a:lnTo>
                <a:lnTo>
                  <a:pt x="2886103" y="0"/>
                </a:lnTo>
                <a:lnTo>
                  <a:pt x="0" y="0"/>
                </a:lnTo>
                <a:lnTo>
                  <a:pt x="0" y="108622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33390" y="99437"/>
            <a:ext cx="1051468" cy="1593133"/>
          </a:xfrm>
          <a:custGeom>
            <a:avLst/>
            <a:gdLst/>
            <a:ahLst/>
            <a:cxnLst/>
            <a:rect r="r" b="b" t="t" l="l"/>
            <a:pathLst>
              <a:path h="1593133" w="1051468">
                <a:moveTo>
                  <a:pt x="0" y="0"/>
                </a:moveTo>
                <a:lnTo>
                  <a:pt x="1051468" y="0"/>
                </a:lnTo>
                <a:lnTo>
                  <a:pt x="1051468" y="1593133"/>
                </a:lnTo>
                <a:lnTo>
                  <a:pt x="0" y="159313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48886" y="1791325"/>
            <a:ext cx="3627560" cy="3627560"/>
          </a:xfrm>
          <a:custGeom>
            <a:avLst/>
            <a:gdLst/>
            <a:ahLst/>
            <a:cxnLst/>
            <a:rect r="r" b="b" t="t" l="l"/>
            <a:pathLst>
              <a:path h="3627560" w="3627560">
                <a:moveTo>
                  <a:pt x="0" y="0"/>
                </a:moveTo>
                <a:lnTo>
                  <a:pt x="3627560" y="0"/>
                </a:lnTo>
                <a:lnTo>
                  <a:pt x="3627560" y="3627560"/>
                </a:lnTo>
                <a:lnTo>
                  <a:pt x="0" y="362756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2578" y="9271130"/>
            <a:ext cx="2216259" cy="842178"/>
          </a:xfrm>
          <a:custGeom>
            <a:avLst/>
            <a:gdLst/>
            <a:ahLst/>
            <a:cxnLst/>
            <a:rect r="r" b="b" t="t" l="l"/>
            <a:pathLst>
              <a:path h="842178" w="2216259">
                <a:moveTo>
                  <a:pt x="0" y="0"/>
                </a:moveTo>
                <a:lnTo>
                  <a:pt x="2216260" y="0"/>
                </a:lnTo>
                <a:lnTo>
                  <a:pt x="2216260" y="842178"/>
                </a:lnTo>
                <a:lnTo>
                  <a:pt x="0" y="8421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648917" y="9582498"/>
            <a:ext cx="1213839" cy="1189562"/>
          </a:xfrm>
          <a:custGeom>
            <a:avLst/>
            <a:gdLst/>
            <a:ahLst/>
            <a:cxnLst/>
            <a:rect r="r" b="b" t="t" l="l"/>
            <a:pathLst>
              <a:path h="1189562" w="1213839">
                <a:moveTo>
                  <a:pt x="0" y="0"/>
                </a:moveTo>
                <a:lnTo>
                  <a:pt x="1213838" y="0"/>
                </a:lnTo>
                <a:lnTo>
                  <a:pt x="1213838" y="1189562"/>
                </a:lnTo>
                <a:lnTo>
                  <a:pt x="0" y="118956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78417" y="5674150"/>
            <a:ext cx="5202875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Wellness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45747" y="6264265"/>
            <a:ext cx="7179147" cy="348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8462" indent="-269231" lvl="1">
              <a:lnSpc>
                <a:spcPts val="3491"/>
              </a:lnSpc>
              <a:buFont typeface="Arial"/>
              <a:buChar char="•"/>
            </a:pPr>
            <a:r>
              <a:rPr lang="en-US" sz="2494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94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DF Report Generation: Exports comprehensive health summaries and wellness data into downloadable PDF formats. </a:t>
            </a:r>
          </a:p>
          <a:p>
            <a:pPr algn="l">
              <a:lnSpc>
                <a:spcPts val="3491"/>
              </a:lnSpc>
            </a:pPr>
          </a:p>
          <a:p>
            <a:pPr algn="l" marL="538462" indent="-269231" lvl="1">
              <a:lnSpc>
                <a:spcPts val="3491"/>
              </a:lnSpc>
              <a:buFont typeface="Arial"/>
              <a:buChar char="•"/>
            </a:pPr>
            <a:r>
              <a:rPr lang="en-US" sz="2494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Instant Sharing: Allows employees to easily save, print, or share personal health reports with medical professionals.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70633" y="269960"/>
            <a:ext cx="13105813" cy="122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9"/>
              </a:lnSpc>
            </a:pPr>
            <a:r>
              <a:rPr lang="en-US" sz="6256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Health Reports and Timeline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05" y="9852768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32989" y="6287131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5" y="0"/>
                </a:lnTo>
                <a:lnTo>
                  <a:pt x="6174095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042796">
            <a:off x="16908738" y="9601337"/>
            <a:ext cx="2558299" cy="962851"/>
          </a:xfrm>
          <a:custGeom>
            <a:avLst/>
            <a:gdLst/>
            <a:ahLst/>
            <a:cxnLst/>
            <a:rect r="r" b="b" t="t" l="l"/>
            <a:pathLst>
              <a:path h="962851" w="2558299">
                <a:moveTo>
                  <a:pt x="0" y="962851"/>
                </a:moveTo>
                <a:lnTo>
                  <a:pt x="2558299" y="962851"/>
                </a:lnTo>
                <a:lnTo>
                  <a:pt x="2558299" y="0"/>
                </a:lnTo>
                <a:lnTo>
                  <a:pt x="0" y="0"/>
                </a:lnTo>
                <a:lnTo>
                  <a:pt x="0" y="9628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48369" y="5455427"/>
            <a:ext cx="7520696" cy="4288786"/>
            <a:chOff x="0" y="0"/>
            <a:chExt cx="1866777" cy="10645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6777" cy="1064557"/>
            </a:xfrm>
            <a:custGeom>
              <a:avLst/>
              <a:gdLst/>
              <a:ahLst/>
              <a:cxnLst/>
              <a:rect r="r" b="b" t="t" l="l"/>
              <a:pathLst>
                <a:path h="1064557" w="1866777">
                  <a:moveTo>
                    <a:pt x="36030" y="0"/>
                  </a:moveTo>
                  <a:lnTo>
                    <a:pt x="1830747" y="0"/>
                  </a:lnTo>
                  <a:cubicBezTo>
                    <a:pt x="1840303" y="0"/>
                    <a:pt x="1849467" y="3796"/>
                    <a:pt x="1856224" y="10553"/>
                  </a:cubicBezTo>
                  <a:cubicBezTo>
                    <a:pt x="1862981" y="17310"/>
                    <a:pt x="1866777" y="26474"/>
                    <a:pt x="1866777" y="36030"/>
                  </a:cubicBezTo>
                  <a:lnTo>
                    <a:pt x="1866777" y="1028527"/>
                  </a:lnTo>
                  <a:cubicBezTo>
                    <a:pt x="1866777" y="1038083"/>
                    <a:pt x="1862981" y="1047247"/>
                    <a:pt x="1856224" y="1054004"/>
                  </a:cubicBezTo>
                  <a:cubicBezTo>
                    <a:pt x="1849467" y="1060761"/>
                    <a:pt x="1840303" y="1064557"/>
                    <a:pt x="1830747" y="1064557"/>
                  </a:cubicBezTo>
                  <a:lnTo>
                    <a:pt x="36030" y="1064557"/>
                  </a:lnTo>
                  <a:cubicBezTo>
                    <a:pt x="26474" y="1064557"/>
                    <a:pt x="17310" y="1060761"/>
                    <a:pt x="10553" y="1054004"/>
                  </a:cubicBezTo>
                  <a:cubicBezTo>
                    <a:pt x="3796" y="1047247"/>
                    <a:pt x="0" y="1038083"/>
                    <a:pt x="0" y="1028527"/>
                  </a:cubicBezTo>
                  <a:lnTo>
                    <a:pt x="0" y="36030"/>
                  </a:lnTo>
                  <a:cubicBezTo>
                    <a:pt x="0" y="26474"/>
                    <a:pt x="3796" y="17310"/>
                    <a:pt x="10553" y="10553"/>
                  </a:cubicBezTo>
                  <a:cubicBezTo>
                    <a:pt x="17310" y="3796"/>
                    <a:pt x="26474" y="0"/>
                    <a:pt x="36030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66777" cy="1112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41266" y="5579252"/>
            <a:ext cx="627462" cy="627462"/>
          </a:xfrm>
          <a:custGeom>
            <a:avLst/>
            <a:gdLst/>
            <a:ahLst/>
            <a:cxnLst/>
            <a:rect r="r" b="b" t="t" l="l"/>
            <a:pathLst>
              <a:path h="627462" w="627462">
                <a:moveTo>
                  <a:pt x="0" y="0"/>
                </a:moveTo>
                <a:lnTo>
                  <a:pt x="627462" y="0"/>
                </a:lnTo>
                <a:lnTo>
                  <a:pt x="627462" y="627462"/>
                </a:lnTo>
                <a:lnTo>
                  <a:pt x="0" y="627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926853" y="1471075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true" rot="10552316">
            <a:off x="8173753" y="-13245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00929" y="1911091"/>
            <a:ext cx="8242761" cy="4295623"/>
            <a:chOff x="0" y="0"/>
            <a:chExt cx="1555119" cy="8104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5119" cy="810433"/>
            </a:xfrm>
            <a:custGeom>
              <a:avLst/>
              <a:gdLst/>
              <a:ahLst/>
              <a:cxnLst/>
              <a:rect r="r" b="b" t="t" l="l"/>
              <a:pathLst>
                <a:path h="810433" w="1555119">
                  <a:moveTo>
                    <a:pt x="8453" y="0"/>
                  </a:moveTo>
                  <a:lnTo>
                    <a:pt x="1546665" y="0"/>
                  </a:lnTo>
                  <a:cubicBezTo>
                    <a:pt x="1548907" y="0"/>
                    <a:pt x="1551057" y="891"/>
                    <a:pt x="1552643" y="2476"/>
                  </a:cubicBezTo>
                  <a:cubicBezTo>
                    <a:pt x="1554228" y="4061"/>
                    <a:pt x="1555119" y="6211"/>
                    <a:pt x="1555119" y="8453"/>
                  </a:cubicBezTo>
                  <a:lnTo>
                    <a:pt x="1555119" y="801980"/>
                  </a:lnTo>
                  <a:cubicBezTo>
                    <a:pt x="1555119" y="804221"/>
                    <a:pt x="1554228" y="806372"/>
                    <a:pt x="1552643" y="807957"/>
                  </a:cubicBezTo>
                  <a:cubicBezTo>
                    <a:pt x="1551057" y="809542"/>
                    <a:pt x="1548907" y="810433"/>
                    <a:pt x="1546665" y="810433"/>
                  </a:cubicBezTo>
                  <a:lnTo>
                    <a:pt x="8453" y="810433"/>
                  </a:lnTo>
                  <a:cubicBezTo>
                    <a:pt x="6211" y="810433"/>
                    <a:pt x="4061" y="809542"/>
                    <a:pt x="2476" y="807957"/>
                  </a:cubicBezTo>
                  <a:cubicBezTo>
                    <a:pt x="891" y="806372"/>
                    <a:pt x="0" y="804221"/>
                    <a:pt x="0" y="801980"/>
                  </a:cubicBezTo>
                  <a:lnTo>
                    <a:pt x="0" y="8453"/>
                  </a:lnTo>
                  <a:cubicBezTo>
                    <a:pt x="0" y="6211"/>
                    <a:pt x="891" y="4061"/>
                    <a:pt x="2476" y="2476"/>
                  </a:cubicBezTo>
                  <a:cubicBezTo>
                    <a:pt x="4061" y="891"/>
                    <a:pt x="6211" y="0"/>
                    <a:pt x="8453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6395" r="0" b="-6395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71870" y="9628567"/>
            <a:ext cx="2404173" cy="1117941"/>
          </a:xfrm>
          <a:custGeom>
            <a:avLst/>
            <a:gdLst/>
            <a:ahLst/>
            <a:cxnLst/>
            <a:rect r="r" b="b" t="t" l="l"/>
            <a:pathLst>
              <a:path h="1117941" w="2404173">
                <a:moveTo>
                  <a:pt x="0" y="0"/>
                </a:moveTo>
                <a:lnTo>
                  <a:pt x="2404174" y="0"/>
                </a:lnTo>
                <a:lnTo>
                  <a:pt x="2404174" y="1117941"/>
                </a:lnTo>
                <a:lnTo>
                  <a:pt x="0" y="1117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765157">
            <a:off x="17109362" y="4984577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1501782">
            <a:off x="-1150473" y="-225281"/>
            <a:ext cx="2886104" cy="1086224"/>
          </a:xfrm>
          <a:custGeom>
            <a:avLst/>
            <a:gdLst/>
            <a:ahLst/>
            <a:cxnLst/>
            <a:rect r="r" b="b" t="t" l="l"/>
            <a:pathLst>
              <a:path h="1086224" w="2886104">
                <a:moveTo>
                  <a:pt x="0" y="1086224"/>
                </a:moveTo>
                <a:lnTo>
                  <a:pt x="2886103" y="1086224"/>
                </a:lnTo>
                <a:lnTo>
                  <a:pt x="2886103" y="0"/>
                </a:lnTo>
                <a:lnTo>
                  <a:pt x="0" y="0"/>
                </a:lnTo>
                <a:lnTo>
                  <a:pt x="0" y="108622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99848" y="44892"/>
            <a:ext cx="1692209" cy="1692209"/>
          </a:xfrm>
          <a:custGeom>
            <a:avLst/>
            <a:gdLst/>
            <a:ahLst/>
            <a:cxnLst/>
            <a:rect r="r" b="b" t="t" l="l"/>
            <a:pathLst>
              <a:path h="1692209" w="1692209">
                <a:moveTo>
                  <a:pt x="0" y="0"/>
                </a:moveTo>
                <a:lnTo>
                  <a:pt x="1692209" y="0"/>
                </a:lnTo>
                <a:lnTo>
                  <a:pt x="1692209" y="1692209"/>
                </a:lnTo>
                <a:lnTo>
                  <a:pt x="0" y="16922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81992" y="1571203"/>
            <a:ext cx="6363600" cy="3788974"/>
          </a:xfrm>
          <a:custGeom>
            <a:avLst/>
            <a:gdLst/>
            <a:ahLst/>
            <a:cxnLst/>
            <a:rect r="r" b="b" t="t" l="l"/>
            <a:pathLst>
              <a:path h="3788974" w="6363600">
                <a:moveTo>
                  <a:pt x="0" y="0"/>
                </a:moveTo>
                <a:lnTo>
                  <a:pt x="6363600" y="0"/>
                </a:lnTo>
                <a:lnTo>
                  <a:pt x="6363600" y="3788974"/>
                </a:lnTo>
                <a:lnTo>
                  <a:pt x="0" y="378897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1135786" y="5575645"/>
            <a:ext cx="5713161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Wellness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93641" y="6287131"/>
            <a:ext cx="7520696" cy="340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992" indent="-261496" lvl="1">
              <a:lnSpc>
                <a:spcPts val="3391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Automated Checkup </a:t>
            </a:r>
            <a:r>
              <a:rPr lang="en-US" sz="2422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Scheduling: Streamlines health checkup bookings directly through the user and admin dashboards. </a:t>
            </a:r>
          </a:p>
          <a:p>
            <a:pPr algn="l">
              <a:lnSpc>
                <a:spcPts val="3391"/>
              </a:lnSpc>
            </a:pPr>
          </a:p>
          <a:p>
            <a:pPr algn="l" marL="522992" indent="-261496" lvl="1">
              <a:lnSpc>
                <a:spcPts val="3391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Emergency SOS Trigger: Instantly dispatches high-priority alerts with real-time location and vitals to emergency contacts during medical crises.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92920" y="308488"/>
            <a:ext cx="12122941" cy="105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0"/>
              </a:lnSpc>
            </a:pPr>
            <a:r>
              <a:rPr lang="en-US" sz="6207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Checkups &amp; Emergency SOS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402331" y="6378164"/>
            <a:ext cx="3968362" cy="3908836"/>
          </a:xfrm>
          <a:custGeom>
            <a:avLst/>
            <a:gdLst/>
            <a:ahLst/>
            <a:cxnLst/>
            <a:rect r="r" b="b" t="t" l="l"/>
            <a:pathLst>
              <a:path h="3908836" w="3968362">
                <a:moveTo>
                  <a:pt x="0" y="0"/>
                </a:moveTo>
                <a:lnTo>
                  <a:pt x="3968362" y="0"/>
                </a:lnTo>
                <a:lnTo>
                  <a:pt x="3968362" y="3908836"/>
                </a:lnTo>
                <a:lnTo>
                  <a:pt x="0" y="390883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9908" y="-84925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7" y="0"/>
                </a:lnTo>
                <a:lnTo>
                  <a:pt x="9549397" y="9549396"/>
                </a:lnTo>
                <a:lnTo>
                  <a:pt x="0" y="954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3302" y="3040969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6" y="0"/>
                </a:lnTo>
                <a:lnTo>
                  <a:pt x="9549396" y="9549396"/>
                </a:lnTo>
                <a:lnTo>
                  <a:pt x="0" y="954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52710" y="3471224"/>
            <a:ext cx="14905022" cy="5750641"/>
            <a:chOff x="0" y="0"/>
            <a:chExt cx="3925603" cy="15145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25603" cy="1514572"/>
            </a:xfrm>
            <a:custGeom>
              <a:avLst/>
              <a:gdLst/>
              <a:ahLst/>
              <a:cxnLst/>
              <a:rect r="r" b="b" t="t" l="l"/>
              <a:pathLst>
                <a:path h="1514572" w="3925603">
                  <a:moveTo>
                    <a:pt x="26490" y="0"/>
                  </a:moveTo>
                  <a:lnTo>
                    <a:pt x="3899112" y="0"/>
                  </a:lnTo>
                  <a:cubicBezTo>
                    <a:pt x="3913743" y="0"/>
                    <a:pt x="3925603" y="11860"/>
                    <a:pt x="3925603" y="26490"/>
                  </a:cubicBezTo>
                  <a:lnTo>
                    <a:pt x="3925603" y="1488082"/>
                  </a:lnTo>
                  <a:cubicBezTo>
                    <a:pt x="3925603" y="1502712"/>
                    <a:pt x="3913743" y="1514572"/>
                    <a:pt x="3899112" y="1514572"/>
                  </a:cubicBezTo>
                  <a:lnTo>
                    <a:pt x="26490" y="1514572"/>
                  </a:lnTo>
                  <a:cubicBezTo>
                    <a:pt x="19465" y="1514572"/>
                    <a:pt x="12727" y="1511781"/>
                    <a:pt x="7759" y="1506813"/>
                  </a:cubicBezTo>
                  <a:cubicBezTo>
                    <a:pt x="2791" y="1501845"/>
                    <a:pt x="0" y="1495108"/>
                    <a:pt x="0" y="1488082"/>
                  </a:cubicBezTo>
                  <a:lnTo>
                    <a:pt x="0" y="26490"/>
                  </a:lnTo>
                  <a:cubicBezTo>
                    <a:pt x="0" y="11860"/>
                    <a:pt x="11860" y="0"/>
                    <a:pt x="26490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925603" cy="1562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1472712">
            <a:off x="16477994" y="43948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70" y="555239"/>
                </a:lnTo>
                <a:lnTo>
                  <a:pt x="1607270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946031">
            <a:off x="-67627" y="922017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10799999">
            <a:off x="6263938" y="9113052"/>
            <a:ext cx="4968965" cy="2312827"/>
          </a:xfrm>
          <a:custGeom>
            <a:avLst/>
            <a:gdLst/>
            <a:ahLst/>
            <a:cxnLst/>
            <a:rect r="r" b="b" t="t" l="l"/>
            <a:pathLst>
              <a:path h="2312827" w="4968965">
                <a:moveTo>
                  <a:pt x="0" y="2312827"/>
                </a:moveTo>
                <a:lnTo>
                  <a:pt x="4968965" y="2312827"/>
                </a:lnTo>
                <a:lnTo>
                  <a:pt x="4968965" y="0"/>
                </a:lnTo>
                <a:lnTo>
                  <a:pt x="0" y="0"/>
                </a:lnTo>
                <a:lnTo>
                  <a:pt x="0" y="231282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3523" y="0"/>
            <a:ext cx="2344445" cy="1945890"/>
          </a:xfrm>
          <a:custGeom>
            <a:avLst/>
            <a:gdLst/>
            <a:ahLst/>
            <a:cxnLst/>
            <a:rect r="r" b="b" t="t" l="l"/>
            <a:pathLst>
              <a:path h="1945890" w="2344445">
                <a:moveTo>
                  <a:pt x="0" y="0"/>
                </a:moveTo>
                <a:lnTo>
                  <a:pt x="2344446" y="0"/>
                </a:lnTo>
                <a:lnTo>
                  <a:pt x="2344446" y="1945890"/>
                </a:lnTo>
                <a:lnTo>
                  <a:pt x="0" y="19458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50241" y="83109"/>
            <a:ext cx="1824960" cy="2238773"/>
          </a:xfrm>
          <a:custGeom>
            <a:avLst/>
            <a:gdLst/>
            <a:ahLst/>
            <a:cxnLst/>
            <a:rect r="r" b="b" t="t" l="l"/>
            <a:pathLst>
              <a:path h="2238773" w="1824960">
                <a:moveTo>
                  <a:pt x="0" y="0"/>
                </a:moveTo>
                <a:lnTo>
                  <a:pt x="1824960" y="0"/>
                </a:lnTo>
                <a:lnTo>
                  <a:pt x="1824960" y="2238773"/>
                </a:lnTo>
                <a:lnTo>
                  <a:pt x="0" y="2238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20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819500">
            <a:off x="15286603" y="2688771"/>
            <a:ext cx="2303328" cy="2280295"/>
          </a:xfrm>
          <a:custGeom>
            <a:avLst/>
            <a:gdLst/>
            <a:ahLst/>
            <a:cxnLst/>
            <a:rect r="r" b="b" t="t" l="l"/>
            <a:pathLst>
              <a:path h="2280295" w="2303328">
                <a:moveTo>
                  <a:pt x="0" y="0"/>
                </a:moveTo>
                <a:lnTo>
                  <a:pt x="2303328" y="0"/>
                </a:lnTo>
                <a:lnTo>
                  <a:pt x="2303328" y="2280294"/>
                </a:lnTo>
                <a:lnTo>
                  <a:pt x="0" y="22802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13932" y="3600873"/>
            <a:ext cx="14743801" cy="543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679" indent="-302839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The project includes secure authentication, database integration, risk prediction, recommendation, sentimental analysis, performance analytics, and an AI wellness chatbot in one platform.</a:t>
            </a:r>
          </a:p>
          <a:p>
            <a:pPr algn="l" marL="605679" indent="-302839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It supports both employee and admin roles for managing wellness data and system features.</a:t>
            </a:r>
          </a:p>
          <a:p>
            <a:pPr algn="l" marL="605679" indent="-302839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These modules make the system more intelligent, interactive, and useful for future expansion.</a:t>
            </a:r>
          </a:p>
          <a:p>
            <a:pPr algn="l" marL="605679" indent="-302839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Modular Scalability: Designed with an extensible architecture that allows seamless integration of future health-tech tools and wearable devices. </a:t>
            </a:r>
          </a:p>
          <a:p>
            <a:pPr algn="l" marL="605679" indent="-302839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Real-time Incident Response: Combines continuous health metric tracking with automated SOS triggers and expense management for rapid emergency handling.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14749" y="1902782"/>
            <a:ext cx="8387578" cy="156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B0A0A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Conclusion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987062" y="9221865"/>
            <a:ext cx="2344445" cy="1945890"/>
          </a:xfrm>
          <a:custGeom>
            <a:avLst/>
            <a:gdLst/>
            <a:ahLst/>
            <a:cxnLst/>
            <a:rect r="r" b="b" t="t" l="l"/>
            <a:pathLst>
              <a:path h="1945890" w="2344445">
                <a:moveTo>
                  <a:pt x="0" y="0"/>
                </a:moveTo>
                <a:lnTo>
                  <a:pt x="2344446" y="0"/>
                </a:lnTo>
                <a:lnTo>
                  <a:pt x="2344446" y="1945890"/>
                </a:lnTo>
                <a:lnTo>
                  <a:pt x="0" y="19458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211" y="-654822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6" y="0"/>
                </a:lnTo>
                <a:lnTo>
                  <a:pt x="9549396" y="9549397"/>
                </a:lnTo>
                <a:lnTo>
                  <a:pt x="0" y="9549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6926" y="2206996"/>
            <a:ext cx="6668259" cy="5344334"/>
            <a:chOff x="0" y="0"/>
            <a:chExt cx="1756249" cy="14075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6249" cy="1407561"/>
            </a:xfrm>
            <a:custGeom>
              <a:avLst/>
              <a:gdLst/>
              <a:ahLst/>
              <a:cxnLst/>
              <a:rect r="r" b="b" t="t" l="l"/>
              <a:pathLst>
                <a:path h="1407561" w="1756249">
                  <a:moveTo>
                    <a:pt x="59212" y="0"/>
                  </a:moveTo>
                  <a:lnTo>
                    <a:pt x="1697038" y="0"/>
                  </a:lnTo>
                  <a:cubicBezTo>
                    <a:pt x="1729739" y="0"/>
                    <a:pt x="1756249" y="26510"/>
                    <a:pt x="1756249" y="59212"/>
                  </a:cubicBezTo>
                  <a:lnTo>
                    <a:pt x="1756249" y="1348350"/>
                  </a:lnTo>
                  <a:cubicBezTo>
                    <a:pt x="1756249" y="1381051"/>
                    <a:pt x="1729739" y="1407561"/>
                    <a:pt x="1697038" y="1407561"/>
                  </a:cubicBezTo>
                  <a:lnTo>
                    <a:pt x="59212" y="1407561"/>
                  </a:lnTo>
                  <a:cubicBezTo>
                    <a:pt x="26510" y="1407561"/>
                    <a:pt x="0" y="1381051"/>
                    <a:pt x="0" y="1348350"/>
                  </a:cubicBezTo>
                  <a:lnTo>
                    <a:pt x="0" y="59212"/>
                  </a:lnTo>
                  <a:cubicBezTo>
                    <a:pt x="0" y="26510"/>
                    <a:pt x="26510" y="0"/>
                    <a:pt x="59212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56249" cy="145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513302" y="3040969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6" y="0"/>
                </a:lnTo>
                <a:lnTo>
                  <a:pt x="9549396" y="9549396"/>
                </a:lnTo>
                <a:lnTo>
                  <a:pt x="0" y="954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92955" y="2471333"/>
            <a:ext cx="7799503" cy="5344334"/>
            <a:chOff x="0" y="0"/>
            <a:chExt cx="1321798" cy="905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1798" cy="905715"/>
            </a:xfrm>
            <a:custGeom>
              <a:avLst/>
              <a:gdLst/>
              <a:ahLst/>
              <a:cxnLst/>
              <a:rect r="r" b="b" t="t" l="l"/>
              <a:pathLst>
                <a:path h="905715" w="1321798">
                  <a:moveTo>
                    <a:pt x="43675" y="0"/>
                  </a:moveTo>
                  <a:lnTo>
                    <a:pt x="1278123" y="0"/>
                  </a:lnTo>
                  <a:cubicBezTo>
                    <a:pt x="1302244" y="0"/>
                    <a:pt x="1321798" y="19554"/>
                    <a:pt x="1321798" y="43675"/>
                  </a:cubicBezTo>
                  <a:lnTo>
                    <a:pt x="1321798" y="862040"/>
                  </a:lnTo>
                  <a:cubicBezTo>
                    <a:pt x="1321798" y="886161"/>
                    <a:pt x="1302244" y="905715"/>
                    <a:pt x="1278123" y="905715"/>
                  </a:cubicBezTo>
                  <a:lnTo>
                    <a:pt x="43675" y="905715"/>
                  </a:lnTo>
                  <a:cubicBezTo>
                    <a:pt x="19554" y="905715"/>
                    <a:pt x="0" y="886161"/>
                    <a:pt x="0" y="862040"/>
                  </a:cubicBezTo>
                  <a:lnTo>
                    <a:pt x="0" y="43675"/>
                  </a:lnTo>
                  <a:cubicBezTo>
                    <a:pt x="0" y="19554"/>
                    <a:pt x="19554" y="0"/>
                    <a:pt x="43675" y="0"/>
                  </a:cubicBezTo>
                  <a:close/>
                </a:path>
              </a:pathLst>
            </a:custGeom>
            <a:blipFill>
              <a:blip r:embed="rId4"/>
              <a:stretch>
                <a:fillRect l="-341" t="0" r="-250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25874" y="3897453"/>
            <a:ext cx="619036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b="true" sz="6800" spc="244">
                <a:solidFill>
                  <a:srgbClr val="0B0A0A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Thank you so much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16455665" y="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657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8882425">
            <a:off x="15831728" y="9143296"/>
            <a:ext cx="3721460" cy="1732170"/>
          </a:xfrm>
          <a:custGeom>
            <a:avLst/>
            <a:gdLst/>
            <a:ahLst/>
            <a:cxnLst/>
            <a:rect r="r" b="b" t="t" l="l"/>
            <a:pathLst>
              <a:path h="1732170" w="3721460">
                <a:moveTo>
                  <a:pt x="0" y="1732170"/>
                </a:moveTo>
                <a:lnTo>
                  <a:pt x="3721460" y="1732170"/>
                </a:lnTo>
                <a:lnTo>
                  <a:pt x="3721460" y="0"/>
                </a:lnTo>
                <a:lnTo>
                  <a:pt x="0" y="0"/>
                </a:lnTo>
                <a:lnTo>
                  <a:pt x="0" y="173217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DAHQekhFxeI</dc:identifier>
  <dcterms:modified xsi:type="dcterms:W3CDTF">2011-08-01T06:04:30Z</dcterms:modified>
  <cp:revision>1</cp:revision>
  <dc:title>Rishit Ranjan (Employee Wellness Management Analytics)</dc:title>
</cp:coreProperties>
</file>